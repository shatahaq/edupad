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6"/>
  </p:normalViewPr>
  <p:slideViewPr>
    <p:cSldViewPr snapToGrid="0" snapToObjects="1">
      <p:cViewPr varScale="1">
        <p:scale>
          <a:sx n="116" d="100"/>
          <a:sy n="116" d="100"/>
        </p:scale>
        <p:origin x="4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rcRect/>
          <a:stretch/>
        </p:blipFill>
        <p:spPr>
          <a:xfrm>
            <a:off x="1" y="0"/>
            <a:ext cx="12191998" cy="6857999"/>
          </a:xfrm>
          <a:prstGeom prst="rect">
            <a:avLst/>
          </a:prstGeom>
        </p:spPr>
      </p:pic>
      <p:sp>
        <p:nvSpPr>
          <p:cNvPr id="2" name="Title 1"/>
          <p:cNvSpPr>
            <a:spLocks noGrp="1"/>
          </p:cNvSpPr>
          <p:nvPr>
            <p:ph type="ctrTitle"/>
          </p:nvPr>
        </p:nvSpPr>
        <p:spPr>
          <a:xfrm>
            <a:off x="2407993" y="1819982"/>
            <a:ext cx="6735380" cy="1815465"/>
          </a:xfrm>
        </p:spPr>
        <p:txBody>
          <a:bodyPr anchor="b"/>
          <a:lstStyle>
            <a:lvl1pPr algn="l">
              <a:defRPr sz="6000" b="1">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2407993" y="3899531"/>
            <a:ext cx="6735380" cy="83322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192240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2010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50586" y="1178415"/>
            <a:ext cx="10296863" cy="1062645"/>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1050587" y="2519464"/>
            <a:ext cx="10296863" cy="32879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0" y="5926921"/>
            <a:ext cx="2387600" cy="317794"/>
          </a:xfrm>
          <a:prstGeom prst="rect">
            <a:avLst/>
          </a:prstGeom>
        </p:spPr>
        <p:txBody>
          <a:bodyPr/>
          <a:lstStyle/>
          <a:p>
            <a:fld id="{CB16C0DE-2CE3-D544-94DC-617B67A94695}" type="datetimeFigureOut">
              <a:rPr lang="en-US" smtClean="0"/>
              <a:t>9/16/26</a:t>
            </a:fld>
            <a:endParaRPr lang="en-US"/>
          </a:p>
        </p:txBody>
      </p:sp>
      <p:sp>
        <p:nvSpPr>
          <p:cNvPr id="5" name="Footer Placeholder 4"/>
          <p:cNvSpPr>
            <a:spLocks noGrp="1"/>
          </p:cNvSpPr>
          <p:nvPr>
            <p:ph type="ftr" sz="quarter" idx="11"/>
          </p:nvPr>
        </p:nvSpPr>
        <p:spPr>
          <a:xfrm>
            <a:off x="4572000" y="6356351"/>
            <a:ext cx="3581400" cy="317794"/>
          </a:xfrm>
          <a:prstGeom prst="rect">
            <a:avLst/>
          </a:prstGeom>
        </p:spPr>
        <p:txBody>
          <a:bodyPr/>
          <a:lstStyle/>
          <a:p>
            <a:endParaRPr lang="en-US"/>
          </a:p>
        </p:txBody>
      </p:sp>
      <p:sp>
        <p:nvSpPr>
          <p:cNvPr id="6" name="Slide Number Placeholder 5"/>
          <p:cNvSpPr>
            <a:spLocks noGrp="1"/>
          </p:cNvSpPr>
          <p:nvPr>
            <p:ph type="sldNum" sz="quarter" idx="12"/>
          </p:nvPr>
        </p:nvSpPr>
        <p:spPr>
          <a:xfrm>
            <a:off x="8460361" y="6356351"/>
            <a:ext cx="2387600" cy="317794"/>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583404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318" y="999858"/>
            <a:ext cx="10186482" cy="690830"/>
          </a:xfrm>
        </p:spPr>
        <p:txBody>
          <a:bodyPr/>
          <a:lstStyle/>
          <a:p>
            <a:r>
              <a:rPr lang="en-US" dirty="0"/>
              <a:t>Click to edit Master title style</a:t>
            </a:r>
          </a:p>
        </p:txBody>
      </p:sp>
      <p:sp>
        <p:nvSpPr>
          <p:cNvPr id="3" name="Content Placeholder 2"/>
          <p:cNvSpPr>
            <a:spLocks noGrp="1"/>
          </p:cNvSpPr>
          <p:nvPr>
            <p:ph sz="half" idx="1"/>
          </p:nvPr>
        </p:nvSpPr>
        <p:spPr>
          <a:xfrm>
            <a:off x="1167318" y="1825625"/>
            <a:ext cx="4852481" cy="3933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38226" y="6356350"/>
            <a:ext cx="2743200" cy="365125"/>
          </a:xfrm>
          <a:prstGeom prst="rect">
            <a:avLst/>
          </a:prstGeom>
        </p:spPr>
        <p:txBody>
          <a:bodyPr/>
          <a:lstStyle/>
          <a:p>
            <a:fld id="{CB16C0DE-2CE3-D544-94DC-617B67A94695}" type="datetimeFigureOut">
              <a:rPr lang="en-US" smtClean="0"/>
              <a:t>9/16/26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66745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7591" y="943584"/>
            <a:ext cx="6293795" cy="684990"/>
          </a:xfrm>
        </p:spPr>
        <p:txBody>
          <a:bodyPr>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57591" y="1790899"/>
            <a:ext cx="4839984"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7591" y="2505075"/>
            <a:ext cx="4839984"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91568" y="1790899"/>
            <a:ext cx="4863820" cy="60818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91568" y="2505075"/>
            <a:ext cx="4863820" cy="3312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7853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18770" y="6356350"/>
            <a:ext cx="2743200" cy="365125"/>
          </a:xfrm>
          <a:prstGeom prst="rect">
            <a:avLst/>
          </a:prstGeom>
        </p:spPr>
        <p:txBody>
          <a:bodyPr/>
          <a:lstStyle/>
          <a:p>
            <a:fld id="{CB16C0DE-2CE3-D544-94DC-617B67A94695}" type="datetimeFigureOut">
              <a:rPr lang="en-US" smtClean="0"/>
              <a:t>9/16/26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8927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248172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4537" y="1361872"/>
            <a:ext cx="3932237" cy="924128"/>
          </a:xfrm>
        </p:spPr>
        <p:txBody>
          <a:bodyPr anchor="b">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5680952" y="1361872"/>
            <a:ext cx="5674435" cy="449917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384537" y="2422186"/>
            <a:ext cx="3932237" cy="34468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098510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1177047"/>
            <a:ext cx="6172200" cy="45202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96502" y="1170418"/>
            <a:ext cx="3793787" cy="45202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a:xfrm>
            <a:off x="5183188" y="5991224"/>
            <a:ext cx="4114800" cy="365125"/>
          </a:xfrm>
          <a:prstGeom prst="rect">
            <a:avLst/>
          </a:prstGeom>
        </p:spPr>
        <p:txBody>
          <a:bodyPr/>
          <a:lstStyle/>
          <a:p>
            <a:endParaRPr lang="en-US" dirty="0"/>
          </a:p>
        </p:txBody>
      </p:sp>
    </p:spTree>
    <p:extLst>
      <p:ext uri="{BB962C8B-B14F-4D97-AF65-F5344CB8AC3E}">
        <p14:creationId xmlns:p14="http://schemas.microsoft.com/office/powerpoint/2010/main" val="32590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972766" y="1466784"/>
            <a:ext cx="10690698" cy="2560465"/>
          </a:xfrm>
        </p:spPr>
        <p:txBody>
          <a:bodyPr/>
          <a:lstStyle/>
          <a:p>
            <a:r>
              <a:rPr lang="en-US"/>
              <a:t>Click to edit Master title style</a:t>
            </a:r>
          </a:p>
        </p:txBody>
      </p:sp>
      <p:sp>
        <p:nvSpPr>
          <p:cNvPr id="5" name="Footer Placeholder 4"/>
          <p:cNvSpPr>
            <a:spLocks noGrp="1"/>
          </p:cNvSpPr>
          <p:nvPr>
            <p:ph type="ftr" sz="quarter" idx="11"/>
          </p:nvPr>
        </p:nvSpPr>
        <p:spPr>
          <a:xfrm>
            <a:off x="4348264" y="4276728"/>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920264" y="4276728"/>
            <a:ext cx="2743200" cy="365125"/>
          </a:xfrm>
          <a:prstGeom prst="rect">
            <a:avLst/>
          </a:prstGeom>
        </p:spPr>
        <p:txBody>
          <a:bodyPr/>
          <a:lstStyle/>
          <a:p>
            <a:fld id="{4259B9FA-38A6-B646-AFC0-A8E2C63FB941}" type="slidenum">
              <a:rPr lang="en-US" smtClean="0"/>
              <a:t>‹#›</a:t>
            </a:fld>
            <a:endParaRPr lang="en-US"/>
          </a:p>
        </p:txBody>
      </p:sp>
    </p:spTree>
    <p:extLst>
      <p:ext uri="{BB962C8B-B14F-4D97-AF65-F5344CB8AC3E}">
        <p14:creationId xmlns:p14="http://schemas.microsoft.com/office/powerpoint/2010/main" val="148321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2"/>
          <a:srcRect/>
          <a:stretch/>
        </p:blipFill>
        <p:spPr>
          <a:xfrm>
            <a:off x="3175" y="1786"/>
            <a:ext cx="12185649" cy="6854427"/>
          </a:xfrm>
          <a:prstGeom prst="rect">
            <a:avLst/>
          </a:prstGeom>
        </p:spPr>
      </p:pic>
      <p:sp>
        <p:nvSpPr>
          <p:cNvPr id="2" name="Title Placeholder 1"/>
          <p:cNvSpPr>
            <a:spLocks noGrp="1"/>
          </p:cNvSpPr>
          <p:nvPr>
            <p:ph type="title"/>
          </p:nvPr>
        </p:nvSpPr>
        <p:spPr>
          <a:xfrm>
            <a:off x="972766" y="1257615"/>
            <a:ext cx="10690698" cy="69083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72766" y="2086252"/>
            <a:ext cx="10690698" cy="3835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6204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874519" y="1417320"/>
            <a:ext cx="6446520" cy="219456"/>
          </a:xfrm>
          <a:prstGeom prst="rect">
            <a:avLst/>
          </a:prstGeom>
          <a:noFill/>
          <a:ln/>
        </p:spPr>
        <p:txBody>
          <a:bodyPr wrap="square" lIns="0" tIns="0" rIns="0" bIns="0" rtlCol="0" anchor="ctr"/>
          <a:lstStyle/>
          <a:p>
            <a:pPr marL="0" indent="0">
              <a:buNone/>
            </a:pPr>
            <a:r>
              <a:rPr lang="en-US" sz="1100" b="1" kern="0" spc="200" dirty="0">
                <a:latin typeface="Calibri" pitchFamily="34" charset="0"/>
                <a:ea typeface="Calibri" pitchFamily="34" charset="-122"/>
                <a:cs typeface="Calibri" pitchFamily="34" charset="-120"/>
              </a:rPr>
              <a:t>MANAJEMEN PROYEK TI</a:t>
            </a:r>
            <a:endParaRPr lang="en-US" sz="1400" dirty="0"/>
          </a:p>
        </p:txBody>
      </p:sp>
      <p:sp>
        <p:nvSpPr>
          <p:cNvPr id="5" name="Text 3"/>
          <p:cNvSpPr/>
          <p:nvPr/>
        </p:nvSpPr>
        <p:spPr>
          <a:xfrm>
            <a:off x="1874519" y="1691640"/>
            <a:ext cx="6446520" cy="822960"/>
          </a:xfrm>
          <a:prstGeom prst="rect">
            <a:avLst/>
          </a:prstGeom>
          <a:noFill/>
          <a:ln/>
        </p:spPr>
        <p:txBody>
          <a:bodyPr wrap="square" lIns="0" tIns="0" rIns="0" bIns="0" rtlCol="0" anchor="t"/>
          <a:lstStyle/>
          <a:p>
            <a:pPr marL="0" indent="0">
              <a:lnSpc>
                <a:spcPct val="105000"/>
              </a:lnSpc>
              <a:buNone/>
            </a:pPr>
            <a:r>
              <a:rPr lang="en-US" sz="2700" b="1" dirty="0">
                <a:latin typeface="Cambria" pitchFamily="34" charset="0"/>
                <a:ea typeface="Cambria" pitchFamily="34" charset="-122"/>
                <a:cs typeface="Cambria" pitchFamily="34" charset="-120"/>
              </a:rPr>
              <a:t>Konsep Dasar &amp; Siklus</a:t>
            </a:r>
            <a:endParaRPr lang="en-US" sz="4600" dirty="0"/>
          </a:p>
          <a:p>
            <a:pPr marL="0" indent="0">
              <a:lnSpc>
                <a:spcPct val="105000"/>
              </a:lnSpc>
              <a:buNone/>
            </a:pPr>
            <a:r>
              <a:rPr lang="en-US" sz="2700" b="1" dirty="0">
                <a:latin typeface="Cambria" pitchFamily="34" charset="0"/>
                <a:ea typeface="Cambria" pitchFamily="34" charset="-122"/>
                <a:cs typeface="Cambria" pitchFamily="34" charset="-120"/>
              </a:rPr>
              <a:t>Hidup Proyek TI</a:t>
            </a:r>
            <a:endParaRPr lang="en-US" sz="4600" dirty="0"/>
          </a:p>
        </p:txBody>
      </p:sp>
      <p:sp>
        <p:nvSpPr>
          <p:cNvPr id="6" name="Text 4"/>
          <p:cNvSpPr/>
          <p:nvPr/>
        </p:nvSpPr>
        <p:spPr>
          <a:xfrm>
            <a:off x="1874519" y="2560320"/>
            <a:ext cx="5730240" cy="358140"/>
          </a:xfrm>
          <a:prstGeom prst="rect">
            <a:avLst/>
          </a:prstGeom>
          <a:noFill/>
          <a:ln/>
        </p:spPr>
        <p:txBody>
          <a:bodyPr wrap="square" lIns="0" tIns="0" rIns="0" bIns="0" rtlCol="0" anchor="ctr"/>
          <a:lstStyle/>
          <a:p>
            <a:pPr marL="0" indent="0">
              <a:buNone/>
            </a:pPr>
            <a:r>
              <a:rPr lang="en-US" sz="1400" dirty="0">
                <a:solidFill>
                  <a:srgbClr val="D8E8C8"/>
                </a:solidFill>
                <a:latin typeface="Calibri" pitchFamily="34" charset="0"/>
                <a:ea typeface="Calibri" pitchFamily="34" charset="-122"/>
                <a:cs typeface="Calibri" pitchFamily="34" charset="-120"/>
              </a:rPr>
              <a:t>Pertemuan 1–2  •  Sub-CPMK 1</a:t>
            </a:r>
            <a:endParaRPr lang="en-US" sz="1400" dirty="0"/>
          </a:p>
        </p:txBody>
      </p:sp>
      <p:sp>
        <p:nvSpPr>
          <p:cNvPr id="7" name="Text 6"/>
          <p:cNvSpPr/>
          <p:nvPr/>
        </p:nvSpPr>
        <p:spPr>
          <a:xfrm>
            <a:off x="1874519" y="3849624"/>
            <a:ext cx="6446520" cy="250698"/>
          </a:xfrm>
          <a:prstGeom prst="rect">
            <a:avLst/>
          </a:prstGeom>
          <a:noFill/>
          <a:ln/>
        </p:spPr>
        <p:txBody>
          <a:bodyPr wrap="square" lIns="0" tIns="0" rIns="0" bIns="0" rtlCol="0" anchor="ctr"/>
          <a:lstStyle/>
          <a:p>
            <a:pPr marL="0" indent="0">
              <a:buNone/>
            </a:pPr>
            <a:r>
              <a:rPr lang="en-US" sz="1000" dirty="0">
                <a:solidFill>
                  <a:srgbClr val="DCE8D0"/>
                </a:solidFill>
                <a:latin typeface="Calibri" pitchFamily="34" charset="0"/>
                <a:ea typeface="Calibri" pitchFamily="34" charset="-122"/>
                <a:cs typeface="Calibri" pitchFamily="34" charset="-120"/>
              </a:rPr>
              <a:t>Program Studi D3 Teknik Informatika — Fakultas Vokasi USU</a:t>
            </a:r>
            <a:endParaRPr lang="en-US" sz="1000" dirty="0"/>
          </a:p>
        </p:txBody>
      </p:sp>
      <p:sp>
        <p:nvSpPr>
          <p:cNvPr id="8" name="Text 7"/>
          <p:cNvSpPr/>
          <p:nvPr/>
        </p:nvSpPr>
        <p:spPr>
          <a:xfrm>
            <a:off x="1874519" y="4100322"/>
            <a:ext cx="6446520" cy="25069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Zulhamsyah Fachrurrazi Nasution, S.Kom., M.MSI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PETA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Agenda Hari Ini</a:t>
            </a:r>
            <a:endParaRPr lang="en-US" sz="3200" dirty="0"/>
          </a:p>
        </p:txBody>
      </p:sp>
      <p:sp>
        <p:nvSpPr>
          <p:cNvPr id="4" name="Shape 2"/>
          <p:cNvSpPr/>
          <p:nvPr/>
        </p:nvSpPr>
        <p:spPr>
          <a:xfrm>
            <a:off x="2010654"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08575" y="2416784"/>
            <a:ext cx="461814" cy="461814"/>
          </a:xfrm>
          <a:prstGeom prst="ellipse">
            <a:avLst/>
          </a:prstGeom>
          <a:solidFill>
            <a:srgbClr val="006633"/>
          </a:solidFill>
          <a:ln/>
        </p:spPr>
        <p:txBody>
          <a:bodyPr/>
          <a:lstStyle/>
          <a:p>
            <a:endParaRPr/>
          </a:p>
        </p:txBody>
      </p:sp>
      <p:sp>
        <p:nvSpPr>
          <p:cNvPr id="6" name="Text 4"/>
          <p:cNvSpPr/>
          <p:nvPr/>
        </p:nvSpPr>
        <p:spPr>
          <a:xfrm>
            <a:off x="2208575"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2802336" y="2139696"/>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Apa itu proyek &amp; karakteristiknya</a:t>
            </a:r>
            <a:endParaRPr lang="en-US" sz="1100" dirty="0"/>
          </a:p>
        </p:txBody>
      </p:sp>
      <p:sp>
        <p:nvSpPr>
          <p:cNvPr id="8" name="Shape 6"/>
          <p:cNvSpPr/>
          <p:nvPr/>
        </p:nvSpPr>
        <p:spPr>
          <a:xfrm>
            <a:off x="6199973" y="2139696"/>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Shape 7"/>
          <p:cNvSpPr/>
          <p:nvPr/>
        </p:nvSpPr>
        <p:spPr>
          <a:xfrm>
            <a:off x="6397894" y="2416784"/>
            <a:ext cx="461814" cy="461814"/>
          </a:xfrm>
          <a:prstGeom prst="ellipse">
            <a:avLst/>
          </a:prstGeom>
          <a:solidFill>
            <a:srgbClr val="006633"/>
          </a:solidFill>
          <a:ln/>
        </p:spPr>
        <p:txBody>
          <a:bodyPr/>
          <a:lstStyle/>
          <a:p>
            <a:endParaRPr/>
          </a:p>
        </p:txBody>
      </p:sp>
      <p:sp>
        <p:nvSpPr>
          <p:cNvPr id="10" name="Text 8"/>
          <p:cNvSpPr/>
          <p:nvPr/>
        </p:nvSpPr>
        <p:spPr>
          <a:xfrm>
            <a:off x="6397894" y="2416784"/>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6991656" y="2139696"/>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Proyek vs. kegiatan operasional</a:t>
            </a:r>
            <a:endParaRPr lang="en-US" sz="1100" dirty="0"/>
          </a:p>
        </p:txBody>
      </p:sp>
      <p:sp>
        <p:nvSpPr>
          <p:cNvPr id="12" name="Shape 10"/>
          <p:cNvSpPr/>
          <p:nvPr/>
        </p:nvSpPr>
        <p:spPr>
          <a:xfrm>
            <a:off x="2010654"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Shape 11"/>
          <p:cNvSpPr/>
          <p:nvPr/>
        </p:nvSpPr>
        <p:spPr>
          <a:xfrm>
            <a:off x="2208575" y="3670281"/>
            <a:ext cx="461814" cy="461814"/>
          </a:xfrm>
          <a:prstGeom prst="ellipse">
            <a:avLst/>
          </a:prstGeom>
          <a:solidFill>
            <a:srgbClr val="006633"/>
          </a:solidFill>
          <a:ln/>
        </p:spPr>
        <p:txBody>
          <a:bodyPr/>
          <a:lstStyle/>
          <a:p>
            <a:endParaRPr/>
          </a:p>
        </p:txBody>
      </p:sp>
      <p:sp>
        <p:nvSpPr>
          <p:cNvPr id="14" name="Text 12"/>
          <p:cNvSpPr/>
          <p:nvPr/>
        </p:nvSpPr>
        <p:spPr>
          <a:xfrm>
            <a:off x="2208575"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2802336" y="3393193"/>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Triple constraint &amp; manajemen proyek</a:t>
            </a:r>
            <a:endParaRPr lang="en-US" sz="1100" dirty="0"/>
          </a:p>
        </p:txBody>
      </p:sp>
      <p:sp>
        <p:nvSpPr>
          <p:cNvPr id="16" name="Shape 14"/>
          <p:cNvSpPr/>
          <p:nvPr/>
        </p:nvSpPr>
        <p:spPr>
          <a:xfrm>
            <a:off x="6199973" y="3393193"/>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7" name="Shape 15"/>
          <p:cNvSpPr/>
          <p:nvPr/>
        </p:nvSpPr>
        <p:spPr>
          <a:xfrm>
            <a:off x="6397894" y="3670281"/>
            <a:ext cx="461814" cy="461814"/>
          </a:xfrm>
          <a:prstGeom prst="ellipse">
            <a:avLst/>
          </a:prstGeom>
          <a:solidFill>
            <a:srgbClr val="006633"/>
          </a:solidFill>
          <a:ln/>
        </p:spPr>
        <p:txBody>
          <a:bodyPr/>
          <a:lstStyle/>
          <a:p>
            <a:endParaRPr/>
          </a:p>
        </p:txBody>
      </p:sp>
      <p:sp>
        <p:nvSpPr>
          <p:cNvPr id="18" name="Text 16"/>
          <p:cNvSpPr/>
          <p:nvPr/>
        </p:nvSpPr>
        <p:spPr>
          <a:xfrm>
            <a:off x="6397894" y="3670281"/>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6991656" y="3393193"/>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Peran project manager &amp; stakeholder</a:t>
            </a:r>
            <a:endParaRPr lang="en-US" sz="1100" dirty="0"/>
          </a:p>
        </p:txBody>
      </p:sp>
      <p:sp>
        <p:nvSpPr>
          <p:cNvPr id="20" name="Shape 18"/>
          <p:cNvSpPr/>
          <p:nvPr/>
        </p:nvSpPr>
        <p:spPr>
          <a:xfrm>
            <a:off x="2010654"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Shape 19"/>
          <p:cNvSpPr/>
          <p:nvPr/>
        </p:nvSpPr>
        <p:spPr>
          <a:xfrm>
            <a:off x="2208575" y="4923779"/>
            <a:ext cx="461814" cy="461814"/>
          </a:xfrm>
          <a:prstGeom prst="ellipse">
            <a:avLst/>
          </a:prstGeom>
          <a:solidFill>
            <a:srgbClr val="006633"/>
          </a:solidFill>
          <a:ln/>
        </p:spPr>
        <p:txBody>
          <a:bodyPr/>
          <a:lstStyle/>
          <a:p>
            <a:endParaRPr/>
          </a:p>
        </p:txBody>
      </p:sp>
      <p:sp>
        <p:nvSpPr>
          <p:cNvPr id="22" name="Text 20"/>
          <p:cNvSpPr/>
          <p:nvPr/>
        </p:nvSpPr>
        <p:spPr>
          <a:xfrm>
            <a:off x="2208575"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2802336" y="4646690"/>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Siklus hidup proyek — 5 fase</a:t>
            </a:r>
            <a:endParaRPr lang="en-US" sz="1100" dirty="0"/>
          </a:p>
        </p:txBody>
      </p:sp>
      <p:sp>
        <p:nvSpPr>
          <p:cNvPr id="24" name="Shape 22"/>
          <p:cNvSpPr/>
          <p:nvPr/>
        </p:nvSpPr>
        <p:spPr>
          <a:xfrm>
            <a:off x="6199973" y="4646690"/>
            <a:ext cx="3859451" cy="1022589"/>
          </a:xfrm>
          <a:prstGeom prst="roundRect">
            <a:avLst>
              <a:gd name="adj" fmla="val 7742"/>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6397894" y="4923779"/>
            <a:ext cx="461814" cy="461814"/>
          </a:xfrm>
          <a:prstGeom prst="ellipse">
            <a:avLst/>
          </a:prstGeom>
          <a:solidFill>
            <a:srgbClr val="006633"/>
          </a:solidFill>
          <a:ln/>
        </p:spPr>
        <p:txBody>
          <a:bodyPr/>
          <a:lstStyle/>
          <a:p>
            <a:endParaRPr/>
          </a:p>
        </p:txBody>
      </p:sp>
      <p:sp>
        <p:nvSpPr>
          <p:cNvPr id="26" name="Text 24"/>
          <p:cNvSpPr/>
          <p:nvPr/>
        </p:nvSpPr>
        <p:spPr>
          <a:xfrm>
            <a:off x="6397894" y="4923779"/>
            <a:ext cx="461814" cy="46181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6991656" y="4646690"/>
            <a:ext cx="2869848" cy="1022589"/>
          </a:xfrm>
          <a:prstGeom prst="rect">
            <a:avLst/>
          </a:prstGeom>
          <a:noFill/>
          <a:ln/>
        </p:spPr>
        <p:txBody>
          <a:bodyPr wrap="square" lIns="0" tIns="0" rIns="0" bIns="0" rtlCol="0" anchor="ctr"/>
          <a:lstStyle/>
          <a:p>
            <a:pPr marL="0" indent="0">
              <a:lnSpc>
                <a:spcPct val="115000"/>
              </a:lnSpc>
              <a:buNone/>
            </a:pPr>
            <a:r>
              <a:rPr lang="en-US" sz="1100" b="1" dirty="0">
                <a:solidFill>
                  <a:srgbClr val="1F7A34"/>
                </a:solidFill>
                <a:latin typeface="Calibri" pitchFamily="34" charset="0"/>
                <a:ea typeface="Calibri" pitchFamily="34" charset="-122"/>
                <a:cs typeface="Calibri" pitchFamily="34" charset="-120"/>
              </a:rPr>
              <a:t>Studi kasus &amp; tugas individu</a:t>
            </a:r>
            <a:endParaRPr lang="en-US" sz="1100" dirty="0"/>
          </a:p>
        </p:txBody>
      </p:sp>
      <p:sp>
        <p:nvSpPr>
          <p:cNvPr id="28" name="TextBox 27"/>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2/27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CAPAIAN PEMBELAJARAN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Kemampuan Akhir yang Diharapkan</a:t>
            </a:r>
            <a:endParaRPr lang="en-US" sz="3200" dirty="0"/>
          </a:p>
        </p:txBody>
      </p:sp>
      <p:sp>
        <p:nvSpPr>
          <p:cNvPr id="4" name="Shape 2"/>
          <p:cNvSpPr/>
          <p:nvPr/>
        </p:nvSpPr>
        <p:spPr>
          <a:xfrm>
            <a:off x="1677084" y="2139696"/>
            <a:ext cx="8715911" cy="1080484"/>
          </a:xfrm>
          <a:prstGeom prst="roundRect">
            <a:avLst>
              <a:gd name="adj" fmla="val 8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929197" y="2283760"/>
            <a:ext cx="2160969" cy="252113"/>
          </a:xfrm>
          <a:prstGeom prst="rect">
            <a:avLst/>
          </a:prstGeom>
          <a:noFill/>
          <a:ln/>
        </p:spPr>
        <p:txBody>
          <a:bodyPr wrap="square" lIns="0" tIns="0" rIns="0" bIns="0" rtlCol="0" anchor="ctr"/>
          <a:lstStyle/>
          <a:p>
            <a:pPr marL="0" indent="0">
              <a:buNone/>
            </a:pPr>
            <a:r>
              <a:rPr lang="en-US" sz="900" b="1" kern="0" spc="100" dirty="0">
                <a:solidFill>
                  <a:srgbClr val="9FC41D"/>
                </a:solidFill>
                <a:latin typeface="Calibri" pitchFamily="34" charset="0"/>
                <a:ea typeface="Calibri" pitchFamily="34" charset="-122"/>
                <a:cs typeface="Calibri" pitchFamily="34" charset="-120"/>
              </a:rPr>
              <a:t>Sub-CPMK 1</a:t>
            </a:r>
            <a:endParaRPr lang="en-US" sz="900" dirty="0"/>
          </a:p>
        </p:txBody>
      </p:sp>
      <p:sp>
        <p:nvSpPr>
          <p:cNvPr id="6" name="Text 4"/>
          <p:cNvSpPr/>
          <p:nvPr/>
        </p:nvSpPr>
        <p:spPr>
          <a:xfrm>
            <a:off x="1929197" y="2535873"/>
            <a:ext cx="8211685" cy="612274"/>
          </a:xfrm>
          <a:prstGeom prst="rect">
            <a:avLst/>
          </a:prstGeom>
          <a:noFill/>
          <a:ln/>
        </p:spPr>
        <p:txBody>
          <a:bodyPr wrap="square" lIns="0" tIns="0" rIns="0" bIns="0" rtlCol="0" anchor="ctr"/>
          <a:lstStyle/>
          <a:p>
            <a:pPr marL="0" indent="0">
              <a:lnSpc>
                <a:spcPct val="120000"/>
              </a:lnSpc>
              <a:buNone/>
            </a:pPr>
            <a:r>
              <a:rPr lang="en-US" sz="1200" dirty="0">
                <a:solidFill>
                  <a:srgbClr val="FFFFFF"/>
                </a:solidFill>
                <a:latin typeface="Calibri" pitchFamily="34" charset="0"/>
                <a:ea typeface="Calibri" pitchFamily="34" charset="-122"/>
                <a:cs typeface="Calibri" pitchFamily="34" charset="-120"/>
              </a:rPr>
              <a:t>Mahasiswa mampu menjelaskan konsep dasar, karakteristik, siklus hidup, serta metodologi dan standar manajemen proyek TI (PMBOK, Agile/Scrum).</a:t>
            </a:r>
            <a:endParaRPr lang="en-US" sz="1200" dirty="0"/>
          </a:p>
        </p:txBody>
      </p:sp>
      <p:sp>
        <p:nvSpPr>
          <p:cNvPr id="7" name="Text 5"/>
          <p:cNvSpPr/>
          <p:nvPr/>
        </p:nvSpPr>
        <p:spPr>
          <a:xfrm>
            <a:off x="1677084" y="3436277"/>
            <a:ext cx="7203232"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Fokus Pertemuan Ini — Indikator Pencapaian</a:t>
            </a:r>
            <a:endParaRPr lang="en-US" sz="1300" dirty="0"/>
          </a:p>
        </p:txBody>
      </p:sp>
      <p:sp>
        <p:nvSpPr>
          <p:cNvPr id="8" name="Text 6"/>
          <p:cNvSpPr/>
          <p:nvPr/>
        </p:nvSpPr>
        <p:spPr>
          <a:xfrm>
            <a:off x="1677084" y="3796439"/>
            <a:ext cx="8355749" cy="18728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Mendefinisikan proyek dan membedakannya dari kegiatan operasional</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karakteristik proyek dan konsep triple constraint</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Menjelaskan lima fase siklus hidup proyek TI beserta hasil (deliverable) tiap fase</a:t>
            </a:r>
            <a:endParaRPr lang="en-US" sz="1200" dirty="0"/>
          </a:p>
          <a:p>
            <a:pPr marL="228600" indent="-228600">
              <a:lnSpc>
                <a:spcPct val="115000"/>
              </a:lnSpc>
              <a:spcAft>
                <a:spcPts val="1400"/>
              </a:spcAft>
              <a:buSzPct val="100000"/>
              <a:buChar char="▪"/>
            </a:pPr>
            <a:r>
              <a:rPr lang="en-US" sz="1200" dirty="0">
                <a:solidFill>
                  <a:srgbClr val="1F7A34"/>
                </a:solidFill>
                <a:latin typeface="Calibri" pitchFamily="34" charset="0"/>
                <a:ea typeface="Calibri" pitchFamily="34" charset="-122"/>
                <a:cs typeface="Calibri" pitchFamily="34" charset="-120"/>
              </a:rPr>
              <a:t>Memetakan sebuah studi kasus proyek TI ke dalam fase siklus hidup yang tepat</a:t>
            </a:r>
            <a:endParaRPr lang="en-US" sz="1200" dirty="0"/>
          </a:p>
        </p:txBody>
      </p:sp>
      <p:sp>
        <p:nvSpPr>
          <p:cNvPr id="9" name="TextBox 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3/27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874519" y="1417320"/>
            <a:ext cx="644652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PEMANTIK DISKUSI</a:t>
            </a:r>
            <a:endParaRPr lang="en-US" sz="1200" dirty="0"/>
          </a:p>
        </p:txBody>
      </p:sp>
      <p:sp>
        <p:nvSpPr>
          <p:cNvPr id="5" name="Text 4"/>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Sebelum Kita Mulai…</a:t>
            </a:r>
            <a:endParaRPr lang="en-US" sz="2600" dirty="0"/>
          </a:p>
        </p:txBody>
      </p:sp>
      <p:sp>
        <p:nvSpPr>
          <p:cNvPr id="6" name="Shape 2"/>
          <p:cNvSpPr/>
          <p:nvPr/>
        </p:nvSpPr>
        <p:spPr>
          <a:xfrm>
            <a:off x="1874519" y="2560320"/>
            <a:ext cx="500161" cy="500161"/>
          </a:xfrm>
          <a:prstGeom prst="ellipse">
            <a:avLst/>
          </a:prstGeom>
          <a:solidFill>
            <a:srgbClr val="9FC41D"/>
          </a:solidFill>
          <a:ln/>
        </p:spPr>
        <p:txBody>
          <a:bodyPr/>
          <a:lstStyle/>
          <a:p>
            <a:endParaRPr/>
          </a:p>
        </p:txBody>
      </p:sp>
      <p:sp>
        <p:nvSpPr>
          <p:cNvPr id="7" name="Text 3"/>
          <p:cNvSpPr/>
          <p:nvPr/>
        </p:nvSpPr>
        <p:spPr>
          <a:xfrm>
            <a:off x="1874519" y="2560320"/>
            <a:ext cx="500161" cy="500161"/>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8" name="Text 5"/>
          <p:cNvSpPr/>
          <p:nvPr/>
        </p:nvSpPr>
        <p:spPr>
          <a:xfrm>
            <a:off x="1874519" y="3532855"/>
            <a:ext cx="6446520" cy="1111468"/>
          </a:xfrm>
          <a:prstGeom prst="rect">
            <a:avLst/>
          </a:prstGeom>
          <a:noFill/>
          <a:ln/>
        </p:spPr>
        <p:txBody>
          <a:bodyPr wrap="square" lIns="0" tIns="0" rIns="0" bIns="0" rtlCol="0" anchor="ctr"/>
          <a:lstStyle/>
          <a:p>
            <a:pPr marL="0" indent="0">
              <a:lnSpc>
                <a:spcPct val="125000"/>
              </a:lnSpc>
              <a:buNone/>
            </a:pPr>
            <a:r>
              <a:rPr lang="en-US" sz="1600" i="1" dirty="0">
                <a:solidFill>
                  <a:srgbClr val="FFFFFF"/>
                </a:solidFill>
                <a:latin typeface="Cambria" pitchFamily="34" charset="0"/>
                <a:ea typeface="Cambria" pitchFamily="34" charset="-122"/>
                <a:cs typeface="Cambria" pitchFamily="34" charset="-120"/>
              </a:rPr>
              <a:t>“Pernahkah Anda terlibat dalam sebuah ‘proyek’? Apa yang membuatnya terasa berbeda dari kegiatan sehari-hari Anda?”</a:t>
            </a:r>
            <a:endParaRPr lang="en-US" sz="1600" dirty="0"/>
          </a:p>
        </p:txBody>
      </p:sp>
      <p:sp>
        <p:nvSpPr>
          <p:cNvPr id="9" name="TextBox 8"/>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1  •  4/27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KONSEP DASAR</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Proyek?</a:t>
            </a:r>
            <a:endParaRPr lang="en-US" sz="3200" dirty="0"/>
          </a:p>
        </p:txBody>
      </p:sp>
      <p:sp>
        <p:nvSpPr>
          <p:cNvPr id="4" name="Shape 2"/>
          <p:cNvSpPr/>
          <p:nvPr/>
        </p:nvSpPr>
        <p:spPr>
          <a:xfrm>
            <a:off x="822960" y="2139696"/>
            <a:ext cx="6055528" cy="3373794"/>
          </a:xfrm>
          <a:prstGeom prst="roundRect">
            <a:avLst>
              <a:gd name="adj" fmla="val 3077"/>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168990" y="2485726"/>
            <a:ext cx="475791" cy="0"/>
          </a:xfrm>
          <a:prstGeom prst="line">
            <a:avLst/>
          </a:prstGeom>
          <a:noFill/>
          <a:ln w="38100">
            <a:solidFill>
              <a:srgbClr val="9FC41D"/>
            </a:solidFill>
            <a:prstDash val="solid"/>
          </a:ln>
        </p:spPr>
        <p:txBody>
          <a:bodyPr/>
          <a:lstStyle/>
          <a:p>
            <a:endParaRPr/>
          </a:p>
        </p:txBody>
      </p:sp>
      <p:sp>
        <p:nvSpPr>
          <p:cNvPr id="6" name="Text 4"/>
          <p:cNvSpPr/>
          <p:nvPr/>
        </p:nvSpPr>
        <p:spPr>
          <a:xfrm>
            <a:off x="1168990" y="2658741"/>
            <a:ext cx="5363468" cy="2076181"/>
          </a:xfrm>
          <a:prstGeom prst="rect">
            <a:avLst/>
          </a:prstGeom>
          <a:noFill/>
          <a:ln/>
        </p:spPr>
        <p:txBody>
          <a:bodyPr wrap="square" lIns="0" tIns="0" rIns="0" bIns="0" rtlCol="0" anchor="ctr"/>
          <a:lstStyle/>
          <a:p>
            <a:pPr marL="0" indent="0">
              <a:lnSpc>
                <a:spcPct val="130000"/>
              </a:lnSpc>
              <a:buNone/>
            </a:pPr>
            <a:r>
              <a:rPr lang="en-US" sz="1800" i="1" dirty="0">
                <a:solidFill>
                  <a:srgbClr val="FFFFFF"/>
                </a:solidFill>
                <a:latin typeface="Cambria" pitchFamily="34" charset="0"/>
                <a:ea typeface="Cambria" pitchFamily="34" charset="-122"/>
                <a:cs typeface="Cambria" pitchFamily="34" charset="-120"/>
              </a:rPr>
              <a:t>“Proyek adalah usaha sementara (temporary endeavor) yang dilakukan untuk menciptakan produk, layanan, atau hasil yang unik.”</a:t>
            </a:r>
            <a:endParaRPr lang="en-US" sz="1800" dirty="0"/>
          </a:p>
        </p:txBody>
      </p:sp>
      <p:sp>
        <p:nvSpPr>
          <p:cNvPr id="7" name="Text 5"/>
          <p:cNvSpPr/>
          <p:nvPr/>
        </p:nvSpPr>
        <p:spPr>
          <a:xfrm>
            <a:off x="1168990" y="4951191"/>
            <a:ext cx="5363468" cy="432537"/>
          </a:xfrm>
          <a:prstGeom prst="rect">
            <a:avLst/>
          </a:prstGeom>
          <a:noFill/>
          <a:ln/>
        </p:spPr>
        <p:txBody>
          <a:bodyPr wrap="square" lIns="0" tIns="0" rIns="0" bIns="0" rtlCol="0" anchor="ctr"/>
          <a:lstStyle/>
          <a:p>
            <a:pPr marL="0" indent="0">
              <a:buNone/>
            </a:pPr>
            <a:r>
              <a:rPr lang="en-US" sz="1200" dirty="0">
                <a:solidFill>
                  <a:srgbClr val="D8E8C8"/>
                </a:solidFill>
                <a:latin typeface="Calibri" pitchFamily="34" charset="0"/>
                <a:ea typeface="Calibri" pitchFamily="34" charset="-122"/>
                <a:cs typeface="Calibri" pitchFamily="34" charset="-120"/>
              </a:rPr>
              <a:t>— Project Management Institute, A Guide to the PMBOK®</a:t>
            </a:r>
            <a:endParaRPr lang="en-US" sz="1200" dirty="0"/>
          </a:p>
        </p:txBody>
      </p:sp>
      <p:sp>
        <p:nvSpPr>
          <p:cNvPr id="8" name="Text 6"/>
          <p:cNvSpPr/>
          <p:nvPr/>
        </p:nvSpPr>
        <p:spPr>
          <a:xfrm>
            <a:off x="7181265" y="2139696"/>
            <a:ext cx="4065854" cy="346030"/>
          </a:xfrm>
          <a:prstGeom prst="rect">
            <a:avLst/>
          </a:prstGeom>
          <a:noFill/>
          <a:ln/>
        </p:spPr>
        <p:txBody>
          <a:bodyPr wrap="square" lIns="0" tIns="0" rIns="0" bIns="0" rtlCol="0" anchor="ctr"/>
          <a:lstStyle/>
          <a:p>
            <a:pPr marL="0" indent="0">
              <a:buNone/>
            </a:pPr>
            <a:r>
              <a:rPr lang="en-US" sz="1500" b="1" dirty="0">
                <a:solidFill>
                  <a:srgbClr val="006633"/>
                </a:solidFill>
                <a:latin typeface="Cambria" pitchFamily="34" charset="0"/>
                <a:ea typeface="Cambria" pitchFamily="34" charset="-122"/>
                <a:cs typeface="Cambria" pitchFamily="34" charset="-120"/>
              </a:rPr>
              <a:t>Contoh Cepat</a:t>
            </a:r>
            <a:endParaRPr lang="en-US" sz="1500" dirty="0"/>
          </a:p>
        </p:txBody>
      </p:sp>
      <p:sp>
        <p:nvSpPr>
          <p:cNvPr id="9" name="Text 7"/>
          <p:cNvSpPr/>
          <p:nvPr/>
        </p:nvSpPr>
        <p:spPr>
          <a:xfrm>
            <a:off x="7181265" y="2572233"/>
            <a:ext cx="4065854" cy="2854749"/>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Pengembangan aplikasi mobile baru</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Pembangunan sistem informasi akademik</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Migrasi sistem ke layanan cloud</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Implementasi sistem keamanan siber</a:t>
            </a:r>
            <a:endParaRPr lang="en-US" sz="14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5/27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KONSEP DASAR</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Tiga Karakteristik Utama Proyek</a:t>
            </a:r>
            <a:endParaRPr lang="en-US" sz="3200" dirty="0"/>
          </a:p>
        </p:txBody>
      </p:sp>
      <p:sp>
        <p:nvSpPr>
          <p:cNvPr id="4" name="Shape 2"/>
          <p:cNvSpPr/>
          <p:nvPr/>
        </p:nvSpPr>
        <p:spPr>
          <a:xfrm>
            <a:off x="1048476"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2218164" y="2468029"/>
            <a:ext cx="820833" cy="820833"/>
          </a:xfrm>
          <a:prstGeom prst="ellipse">
            <a:avLst/>
          </a:prstGeom>
          <a:solidFill>
            <a:srgbClr val="9FC41D"/>
          </a:solidFill>
          <a:ln/>
        </p:spPr>
        <p:txBody>
          <a:bodyPr/>
          <a:lstStyle/>
          <a:p>
            <a:endParaRPr/>
          </a:p>
        </p:txBody>
      </p:sp>
      <p:sp>
        <p:nvSpPr>
          <p:cNvPr id="6" name="Text 4"/>
          <p:cNvSpPr/>
          <p:nvPr/>
        </p:nvSpPr>
        <p:spPr>
          <a:xfrm>
            <a:off x="2218164"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T</a:t>
            </a:r>
            <a:endParaRPr lang="en-US" sz="2700" dirty="0"/>
          </a:p>
        </p:txBody>
      </p:sp>
      <p:sp>
        <p:nvSpPr>
          <p:cNvPr id="7" name="Text 5"/>
          <p:cNvSpPr/>
          <p:nvPr/>
        </p:nvSpPr>
        <p:spPr>
          <a:xfrm>
            <a:off x="1294726" y="3494071"/>
            <a:ext cx="2667708" cy="615625"/>
          </a:xfrm>
          <a:prstGeom prst="rect">
            <a:avLst/>
          </a:prstGeom>
          <a:noFill/>
          <a:ln/>
        </p:spPr>
        <p:txBody>
          <a:bodyPr wrap="square" lIns="0" tIns="0" rIns="0" bIns="0" rtlCol="0" anchor="ctr"/>
          <a:lstStyle/>
          <a:p>
            <a:pPr marL="0" indent="0" algn="ctr">
              <a:lnSpc>
                <a:spcPct val="110000"/>
              </a:lnSpc>
              <a:buNone/>
            </a:pPr>
            <a:r>
              <a:rPr lang="en-US" sz="1500" b="1" dirty="0">
                <a:solidFill>
                  <a:srgbClr val="006633"/>
                </a:solidFill>
                <a:latin typeface="Cambria" pitchFamily="34" charset="0"/>
                <a:ea typeface="Cambria" pitchFamily="34" charset="-122"/>
                <a:cs typeface="Cambria" pitchFamily="34" charset="-120"/>
              </a:rPr>
              <a:t>Temporary (Sementara)</a:t>
            </a:r>
            <a:endParaRPr lang="en-US" sz="1500" dirty="0"/>
          </a:p>
        </p:txBody>
      </p:sp>
      <p:sp>
        <p:nvSpPr>
          <p:cNvPr id="8" name="Text 6"/>
          <p:cNvSpPr/>
          <p:nvPr/>
        </p:nvSpPr>
        <p:spPr>
          <a:xfrm>
            <a:off x="1335768" y="4150738"/>
            <a:ext cx="2585625" cy="1395416"/>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Memiliki titik awal dan akhir yang jelas; proyek berhenti begitu tujuannya tercapai.</a:t>
            </a:r>
            <a:endParaRPr lang="en-US" sz="1200" dirty="0"/>
          </a:p>
        </p:txBody>
      </p:sp>
      <p:sp>
        <p:nvSpPr>
          <p:cNvPr id="9" name="Shape 7"/>
          <p:cNvSpPr/>
          <p:nvPr/>
        </p:nvSpPr>
        <p:spPr>
          <a:xfrm>
            <a:off x="4454935"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5624623" y="2468029"/>
            <a:ext cx="820833" cy="820833"/>
          </a:xfrm>
          <a:prstGeom prst="ellipse">
            <a:avLst/>
          </a:prstGeom>
          <a:solidFill>
            <a:srgbClr val="9FC41D"/>
          </a:solidFill>
          <a:ln/>
        </p:spPr>
        <p:txBody>
          <a:bodyPr/>
          <a:lstStyle/>
          <a:p>
            <a:endParaRPr/>
          </a:p>
        </p:txBody>
      </p:sp>
      <p:sp>
        <p:nvSpPr>
          <p:cNvPr id="11" name="Text 9"/>
          <p:cNvSpPr/>
          <p:nvPr/>
        </p:nvSpPr>
        <p:spPr>
          <a:xfrm>
            <a:off x="5624623"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U</a:t>
            </a:r>
            <a:endParaRPr lang="en-US" sz="2700" dirty="0"/>
          </a:p>
        </p:txBody>
      </p:sp>
      <p:sp>
        <p:nvSpPr>
          <p:cNvPr id="12" name="Text 10"/>
          <p:cNvSpPr/>
          <p:nvPr/>
        </p:nvSpPr>
        <p:spPr>
          <a:xfrm>
            <a:off x="4701185" y="3494071"/>
            <a:ext cx="2667708" cy="615625"/>
          </a:xfrm>
          <a:prstGeom prst="rect">
            <a:avLst/>
          </a:prstGeom>
          <a:noFill/>
          <a:ln/>
        </p:spPr>
        <p:txBody>
          <a:bodyPr wrap="square" lIns="0" tIns="0" rIns="0" bIns="0" rtlCol="0" anchor="ctr"/>
          <a:lstStyle/>
          <a:p>
            <a:pPr marL="0" indent="0" algn="ctr">
              <a:lnSpc>
                <a:spcPct val="110000"/>
              </a:lnSpc>
              <a:buNone/>
            </a:pPr>
            <a:r>
              <a:rPr lang="en-US" sz="1500" b="1" dirty="0">
                <a:solidFill>
                  <a:srgbClr val="006633"/>
                </a:solidFill>
                <a:latin typeface="Cambria" pitchFamily="34" charset="0"/>
                <a:ea typeface="Cambria" pitchFamily="34" charset="-122"/>
                <a:cs typeface="Cambria" pitchFamily="34" charset="-120"/>
              </a:rPr>
              <a:t>Unique (Unik)</a:t>
            </a:r>
            <a:endParaRPr lang="en-US" sz="1500" dirty="0"/>
          </a:p>
        </p:txBody>
      </p:sp>
      <p:sp>
        <p:nvSpPr>
          <p:cNvPr id="13" name="Text 11"/>
          <p:cNvSpPr/>
          <p:nvPr/>
        </p:nvSpPr>
        <p:spPr>
          <a:xfrm>
            <a:off x="4742227" y="4150738"/>
            <a:ext cx="2585625" cy="1395416"/>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Menghasilkan produk, layanan, atau hasil yang belum pernah dibuat persis sama sebelumnya.</a:t>
            </a:r>
            <a:endParaRPr lang="en-US" sz="1200" dirty="0"/>
          </a:p>
        </p:txBody>
      </p:sp>
      <p:sp>
        <p:nvSpPr>
          <p:cNvPr id="14" name="Shape 12"/>
          <p:cNvSpPr/>
          <p:nvPr/>
        </p:nvSpPr>
        <p:spPr>
          <a:xfrm>
            <a:off x="7861394" y="2139696"/>
            <a:ext cx="3160208" cy="3529584"/>
          </a:xfrm>
          <a:prstGeom prst="roundRect">
            <a:avLst>
              <a:gd name="adj" fmla="val 311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9031082" y="2468029"/>
            <a:ext cx="820833" cy="820833"/>
          </a:xfrm>
          <a:prstGeom prst="ellipse">
            <a:avLst/>
          </a:prstGeom>
          <a:solidFill>
            <a:srgbClr val="9FC41D"/>
          </a:solidFill>
          <a:ln/>
        </p:spPr>
        <p:txBody>
          <a:bodyPr/>
          <a:lstStyle/>
          <a:p>
            <a:endParaRPr/>
          </a:p>
        </p:txBody>
      </p:sp>
      <p:sp>
        <p:nvSpPr>
          <p:cNvPr id="16" name="Text 14"/>
          <p:cNvSpPr/>
          <p:nvPr/>
        </p:nvSpPr>
        <p:spPr>
          <a:xfrm>
            <a:off x="9031082" y="2468029"/>
            <a:ext cx="820833" cy="820833"/>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P</a:t>
            </a:r>
            <a:endParaRPr lang="en-US" sz="2700" dirty="0"/>
          </a:p>
        </p:txBody>
      </p:sp>
      <p:sp>
        <p:nvSpPr>
          <p:cNvPr id="17" name="Text 15"/>
          <p:cNvSpPr/>
          <p:nvPr/>
        </p:nvSpPr>
        <p:spPr>
          <a:xfrm>
            <a:off x="8107644" y="3494071"/>
            <a:ext cx="2667708" cy="615625"/>
          </a:xfrm>
          <a:prstGeom prst="rect">
            <a:avLst/>
          </a:prstGeom>
          <a:noFill/>
          <a:ln/>
        </p:spPr>
        <p:txBody>
          <a:bodyPr wrap="square" lIns="0" tIns="0" rIns="0" bIns="0" rtlCol="0" anchor="ctr"/>
          <a:lstStyle/>
          <a:p>
            <a:pPr marL="0" indent="0" algn="ctr">
              <a:lnSpc>
                <a:spcPct val="110000"/>
              </a:lnSpc>
              <a:buNone/>
            </a:pPr>
            <a:r>
              <a:rPr lang="en-US" sz="1500" b="1" dirty="0">
                <a:solidFill>
                  <a:srgbClr val="006633"/>
                </a:solidFill>
                <a:latin typeface="Cambria" pitchFamily="34" charset="0"/>
                <a:ea typeface="Cambria" pitchFamily="34" charset="-122"/>
                <a:cs typeface="Cambria" pitchFamily="34" charset="-120"/>
              </a:rPr>
              <a:t>Progressive Elaboration</a:t>
            </a:r>
            <a:endParaRPr lang="en-US" sz="1500" dirty="0"/>
          </a:p>
        </p:txBody>
      </p:sp>
      <p:sp>
        <p:nvSpPr>
          <p:cNvPr id="18" name="Text 16"/>
          <p:cNvSpPr/>
          <p:nvPr/>
        </p:nvSpPr>
        <p:spPr>
          <a:xfrm>
            <a:off x="8148686" y="4150738"/>
            <a:ext cx="2585625" cy="1395416"/>
          </a:xfrm>
          <a:prstGeom prst="rect">
            <a:avLst/>
          </a:prstGeom>
          <a:noFill/>
          <a:ln/>
        </p:spPr>
        <p:txBody>
          <a:bodyPr wrap="square" lIns="0" tIns="0" rIns="0" bIns="0" rtlCol="0" anchor="ctr"/>
          <a:lstStyle/>
          <a:p>
            <a:pPr marL="0" indent="0" algn="ctr">
              <a:lnSpc>
                <a:spcPct val="125000"/>
              </a:lnSpc>
              <a:buNone/>
            </a:pPr>
            <a:r>
              <a:rPr lang="en-US" sz="1200" dirty="0">
                <a:solidFill>
                  <a:srgbClr val="1F7A34"/>
                </a:solidFill>
                <a:latin typeface="Calibri" pitchFamily="34" charset="0"/>
                <a:ea typeface="Calibri" pitchFamily="34" charset="-122"/>
                <a:cs typeface="Calibri" pitchFamily="34" charset="-120"/>
              </a:rPr>
              <a:t>Detail dan rencana proyek diperjelas secara bertahap seiring berjalannya proyek.</a:t>
            </a:r>
            <a:endParaRPr lang="en-US" sz="12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6/27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KONSEP DASAR</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Proyek vs. Kegiatan Operasional</a:t>
            </a:r>
            <a:endParaRPr lang="en-US" sz="3200" dirty="0"/>
          </a:p>
        </p:txBody>
      </p:sp>
      <p:sp>
        <p:nvSpPr>
          <p:cNvPr id="4" name="Shape 2"/>
          <p:cNvSpPr/>
          <p:nvPr/>
        </p:nvSpPr>
        <p:spPr>
          <a:xfrm>
            <a:off x="1221970" y="2139696"/>
            <a:ext cx="4692742" cy="3529584"/>
          </a:xfrm>
          <a:prstGeom prst="roundRect">
            <a:avLst>
              <a:gd name="adj" fmla="val 2727"/>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462624" y="2340240"/>
            <a:ext cx="4211435" cy="320871"/>
          </a:xfrm>
          <a:prstGeom prst="rect">
            <a:avLst/>
          </a:prstGeom>
          <a:noFill/>
          <a:ln/>
        </p:spPr>
        <p:txBody>
          <a:bodyPr wrap="square" lIns="0" tIns="0" rIns="0" bIns="0" rtlCol="0" anchor="ctr"/>
          <a:lstStyle/>
          <a:p>
            <a:pPr marL="0" indent="0">
              <a:buNone/>
            </a:pPr>
            <a:r>
              <a:rPr lang="en-US" sz="1600" b="1" kern="0" spc="100" dirty="0">
                <a:solidFill>
                  <a:srgbClr val="9FC41D"/>
                </a:solidFill>
                <a:latin typeface="Cambria" pitchFamily="34" charset="0"/>
                <a:ea typeface="Cambria" pitchFamily="34" charset="-122"/>
                <a:cs typeface="Cambria" pitchFamily="34" charset="-120"/>
              </a:rPr>
              <a:t>PROYEK</a:t>
            </a:r>
            <a:endParaRPr lang="en-US" sz="1600" dirty="0"/>
          </a:p>
        </p:txBody>
      </p:sp>
      <p:sp>
        <p:nvSpPr>
          <p:cNvPr id="6" name="Text 4"/>
          <p:cNvSpPr/>
          <p:nvPr/>
        </p:nvSpPr>
        <p:spPr>
          <a:xfrm>
            <a:off x="1462624" y="2781438"/>
            <a:ext cx="4211435" cy="2727405"/>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Bersifat sementara, dengan awal dan akhir yang jelas</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Menghasilkan sesuatu yang unik / baru</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Tim sering dibentuk khusus untuk proyek tsb.</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Tujuan: mencapai target tertentu, lalu selesai</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Contoh: membangun aplikasi e-KRS baru</a:t>
            </a:r>
            <a:endParaRPr lang="en-US" sz="1200" dirty="0"/>
          </a:p>
        </p:txBody>
      </p:sp>
      <p:sp>
        <p:nvSpPr>
          <p:cNvPr id="7" name="Shape 5"/>
          <p:cNvSpPr/>
          <p:nvPr/>
        </p:nvSpPr>
        <p:spPr>
          <a:xfrm>
            <a:off x="6155366" y="2139696"/>
            <a:ext cx="4692742" cy="3529584"/>
          </a:xfrm>
          <a:prstGeom prst="roundRect">
            <a:avLst>
              <a:gd name="adj" fmla="val 272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6396020" y="2340240"/>
            <a:ext cx="4211435" cy="320871"/>
          </a:xfrm>
          <a:prstGeom prst="rect">
            <a:avLst/>
          </a:prstGeom>
          <a:noFill/>
          <a:ln/>
        </p:spPr>
        <p:txBody>
          <a:bodyPr wrap="square" lIns="0" tIns="0" rIns="0" bIns="0" rtlCol="0" anchor="ctr"/>
          <a:lstStyle/>
          <a:p>
            <a:pPr marL="0" indent="0">
              <a:buNone/>
            </a:pPr>
            <a:r>
              <a:rPr lang="en-US" sz="1600" b="1" kern="0" spc="100" dirty="0">
                <a:solidFill>
                  <a:srgbClr val="006633"/>
                </a:solidFill>
                <a:latin typeface="Cambria" pitchFamily="34" charset="0"/>
                <a:ea typeface="Cambria" pitchFamily="34" charset="-122"/>
                <a:cs typeface="Cambria" pitchFamily="34" charset="-120"/>
              </a:rPr>
              <a:t>OPERASIONAL</a:t>
            </a:r>
            <a:endParaRPr lang="en-US" sz="1600" dirty="0"/>
          </a:p>
        </p:txBody>
      </p:sp>
      <p:sp>
        <p:nvSpPr>
          <p:cNvPr id="9" name="Text 7"/>
          <p:cNvSpPr/>
          <p:nvPr/>
        </p:nvSpPr>
        <p:spPr>
          <a:xfrm>
            <a:off x="6396020" y="2781438"/>
            <a:ext cx="4211435" cy="2727405"/>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Bersifat berkelanjutan dan berulang (repetitif)</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Menjaga bisnis / layanan tetap berjalan</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Dijalankan oleh tim / unit kerja tetap</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Tujuan: menopang fungsi organisasi sehari-hari</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Contoh: mengelola server &amp; jaringan kampus</a:t>
            </a:r>
            <a:endParaRPr lang="en-US" sz="12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7/27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KONSEP DASAR</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Contoh Proyek TI di Berbagai Bidang</a:t>
            </a:r>
            <a:endParaRPr lang="en-US" sz="3200" dirty="0"/>
          </a:p>
        </p:txBody>
      </p:sp>
      <p:sp>
        <p:nvSpPr>
          <p:cNvPr id="4" name="Shape 2"/>
          <p:cNvSpPr/>
          <p:nvPr/>
        </p:nvSpPr>
        <p:spPr>
          <a:xfrm>
            <a:off x="822960" y="2139696"/>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033975" y="2350711"/>
            <a:ext cx="464233" cy="464233"/>
          </a:xfrm>
          <a:prstGeom prst="ellipse">
            <a:avLst/>
          </a:prstGeom>
          <a:solidFill>
            <a:srgbClr val="9FC41D"/>
          </a:solidFill>
          <a:ln/>
        </p:spPr>
        <p:txBody>
          <a:bodyPr/>
          <a:lstStyle/>
          <a:p>
            <a:endParaRPr/>
          </a:p>
        </p:txBody>
      </p:sp>
      <p:sp>
        <p:nvSpPr>
          <p:cNvPr id="6" name="Text 4"/>
          <p:cNvSpPr/>
          <p:nvPr/>
        </p:nvSpPr>
        <p:spPr>
          <a:xfrm>
            <a:off x="1033975" y="2350711"/>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033975" y="2899351"/>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Pengembangan aplikasi / sistem baru</a:t>
            </a:r>
            <a:endParaRPr lang="en-US" sz="1200" dirty="0"/>
          </a:p>
        </p:txBody>
      </p:sp>
      <p:sp>
        <p:nvSpPr>
          <p:cNvPr id="8" name="Shape 6"/>
          <p:cNvSpPr/>
          <p:nvPr/>
        </p:nvSpPr>
        <p:spPr>
          <a:xfrm>
            <a:off x="4368018" y="2139696"/>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9" name="Shape 7"/>
          <p:cNvSpPr/>
          <p:nvPr/>
        </p:nvSpPr>
        <p:spPr>
          <a:xfrm>
            <a:off x="4579033" y="2350711"/>
            <a:ext cx="464233" cy="464233"/>
          </a:xfrm>
          <a:prstGeom prst="ellipse">
            <a:avLst/>
          </a:prstGeom>
          <a:solidFill>
            <a:srgbClr val="9FC41D"/>
          </a:solidFill>
          <a:ln/>
        </p:spPr>
        <p:txBody>
          <a:bodyPr/>
          <a:lstStyle/>
          <a:p>
            <a:endParaRPr/>
          </a:p>
        </p:txBody>
      </p:sp>
      <p:sp>
        <p:nvSpPr>
          <p:cNvPr id="10" name="Text 8"/>
          <p:cNvSpPr/>
          <p:nvPr/>
        </p:nvSpPr>
        <p:spPr>
          <a:xfrm>
            <a:off x="4579033" y="2350711"/>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4579033" y="2899351"/>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Migrasi sistem ke layanan cloud</a:t>
            </a:r>
            <a:endParaRPr lang="en-US" sz="1200" dirty="0"/>
          </a:p>
        </p:txBody>
      </p:sp>
      <p:sp>
        <p:nvSpPr>
          <p:cNvPr id="12" name="Shape 10"/>
          <p:cNvSpPr/>
          <p:nvPr/>
        </p:nvSpPr>
        <p:spPr>
          <a:xfrm>
            <a:off x="7913076" y="2139696"/>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Shape 11"/>
          <p:cNvSpPr/>
          <p:nvPr/>
        </p:nvSpPr>
        <p:spPr>
          <a:xfrm>
            <a:off x="8124092" y="2350711"/>
            <a:ext cx="464233" cy="464233"/>
          </a:xfrm>
          <a:prstGeom prst="ellipse">
            <a:avLst/>
          </a:prstGeom>
          <a:solidFill>
            <a:srgbClr val="9FC41D"/>
          </a:solidFill>
          <a:ln/>
        </p:spPr>
        <p:txBody>
          <a:bodyPr/>
          <a:lstStyle/>
          <a:p>
            <a:endParaRPr/>
          </a:p>
        </p:txBody>
      </p:sp>
      <p:sp>
        <p:nvSpPr>
          <p:cNvPr id="14" name="Text 12"/>
          <p:cNvSpPr/>
          <p:nvPr/>
        </p:nvSpPr>
        <p:spPr>
          <a:xfrm>
            <a:off x="8124092" y="2350711"/>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8124092" y="2899351"/>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Implementasi ERP atau CRM</a:t>
            </a:r>
            <a:endParaRPr lang="en-US" sz="1200" dirty="0"/>
          </a:p>
        </p:txBody>
      </p:sp>
      <p:sp>
        <p:nvSpPr>
          <p:cNvPr id="16" name="Shape 14"/>
          <p:cNvSpPr/>
          <p:nvPr/>
        </p:nvSpPr>
        <p:spPr>
          <a:xfrm>
            <a:off x="822960" y="3870022"/>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7" name="Shape 15"/>
          <p:cNvSpPr/>
          <p:nvPr/>
        </p:nvSpPr>
        <p:spPr>
          <a:xfrm>
            <a:off x="1033975" y="4081037"/>
            <a:ext cx="464233" cy="464233"/>
          </a:xfrm>
          <a:prstGeom prst="ellipse">
            <a:avLst/>
          </a:prstGeom>
          <a:solidFill>
            <a:srgbClr val="9FC41D"/>
          </a:solidFill>
          <a:ln/>
        </p:spPr>
        <p:txBody>
          <a:bodyPr/>
          <a:lstStyle/>
          <a:p>
            <a:endParaRPr/>
          </a:p>
        </p:txBody>
      </p:sp>
      <p:sp>
        <p:nvSpPr>
          <p:cNvPr id="18" name="Text 16"/>
          <p:cNvSpPr/>
          <p:nvPr/>
        </p:nvSpPr>
        <p:spPr>
          <a:xfrm>
            <a:off x="1033975" y="4081037"/>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033975" y="4629677"/>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Peningkatan keamanan siber (cybersecurity)</a:t>
            </a:r>
            <a:endParaRPr lang="en-US" sz="1200" dirty="0"/>
          </a:p>
        </p:txBody>
      </p:sp>
      <p:sp>
        <p:nvSpPr>
          <p:cNvPr id="20" name="Shape 18"/>
          <p:cNvSpPr/>
          <p:nvPr/>
        </p:nvSpPr>
        <p:spPr>
          <a:xfrm>
            <a:off x="4368018" y="3870022"/>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Shape 19"/>
          <p:cNvSpPr/>
          <p:nvPr/>
        </p:nvSpPr>
        <p:spPr>
          <a:xfrm>
            <a:off x="4579033" y="4081037"/>
            <a:ext cx="464233" cy="464233"/>
          </a:xfrm>
          <a:prstGeom prst="ellipse">
            <a:avLst/>
          </a:prstGeom>
          <a:solidFill>
            <a:srgbClr val="9FC41D"/>
          </a:solidFill>
          <a:ln/>
        </p:spPr>
        <p:txBody>
          <a:bodyPr/>
          <a:lstStyle/>
          <a:p>
            <a:endParaRPr/>
          </a:p>
        </p:txBody>
      </p:sp>
      <p:sp>
        <p:nvSpPr>
          <p:cNvPr id="22" name="Text 20"/>
          <p:cNvSpPr/>
          <p:nvPr/>
        </p:nvSpPr>
        <p:spPr>
          <a:xfrm>
            <a:off x="4579033" y="4081037"/>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4579033" y="4629677"/>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Modernisasi infrastruktur jaringan</a:t>
            </a:r>
            <a:endParaRPr lang="en-US" sz="1200" dirty="0"/>
          </a:p>
        </p:txBody>
      </p:sp>
      <p:sp>
        <p:nvSpPr>
          <p:cNvPr id="24" name="Shape 22"/>
          <p:cNvSpPr/>
          <p:nvPr/>
        </p:nvSpPr>
        <p:spPr>
          <a:xfrm>
            <a:off x="7913076" y="3870022"/>
            <a:ext cx="3334043" cy="1477107"/>
          </a:xfrm>
          <a:prstGeom prst="roundRect">
            <a:avLst>
              <a:gd name="adj" fmla="val 685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5" name="Shape 23"/>
          <p:cNvSpPr/>
          <p:nvPr/>
        </p:nvSpPr>
        <p:spPr>
          <a:xfrm>
            <a:off x="8124092" y="4081037"/>
            <a:ext cx="464233" cy="464233"/>
          </a:xfrm>
          <a:prstGeom prst="ellipse">
            <a:avLst/>
          </a:prstGeom>
          <a:solidFill>
            <a:srgbClr val="9FC41D"/>
          </a:solidFill>
          <a:ln/>
        </p:spPr>
        <p:txBody>
          <a:bodyPr/>
          <a:lstStyle/>
          <a:p>
            <a:endParaRPr/>
          </a:p>
        </p:txBody>
      </p:sp>
      <p:sp>
        <p:nvSpPr>
          <p:cNvPr id="26" name="Text 24"/>
          <p:cNvSpPr/>
          <p:nvPr/>
        </p:nvSpPr>
        <p:spPr>
          <a:xfrm>
            <a:off x="8124092" y="4081037"/>
            <a:ext cx="464233" cy="464233"/>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8124092" y="4629677"/>
            <a:ext cx="2912012" cy="633046"/>
          </a:xfrm>
          <a:prstGeom prst="rect">
            <a:avLst/>
          </a:prstGeom>
          <a:noFill/>
          <a:ln/>
        </p:spPr>
        <p:txBody>
          <a:bodyPr wrap="square" lIns="0" tIns="0" rIns="0" bIns="0" rtlCol="0" anchor="ctr"/>
          <a:lstStyle/>
          <a:p>
            <a:pPr marL="0" indent="0">
              <a:lnSpc>
                <a:spcPct val="115000"/>
              </a:lnSpc>
              <a:buNone/>
            </a:pPr>
            <a:r>
              <a:rPr lang="en-US" sz="1200" b="1" dirty="0">
                <a:solidFill>
                  <a:srgbClr val="006633"/>
                </a:solidFill>
                <a:latin typeface="Calibri" pitchFamily="34" charset="0"/>
                <a:ea typeface="Calibri" pitchFamily="34" charset="-122"/>
                <a:cs typeface="Calibri" pitchFamily="34" charset="-120"/>
              </a:rPr>
              <a:t>Implementasi sistem informasi akademik</a:t>
            </a:r>
            <a:endParaRPr lang="en-US" sz="1200" dirty="0"/>
          </a:p>
        </p:txBody>
      </p:sp>
      <p:sp>
        <p:nvSpPr>
          <p:cNvPr id="28" name="TextBox 27"/>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8/27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KONSEP DASAR</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Triple Constraint: Batasan Utama Proyek</a:t>
            </a:r>
            <a:endParaRPr lang="en-US" sz="3200" dirty="0"/>
          </a:p>
        </p:txBody>
      </p:sp>
      <p:sp>
        <p:nvSpPr>
          <p:cNvPr id="4" name="Shape 2"/>
          <p:cNvSpPr/>
          <p:nvPr/>
        </p:nvSpPr>
        <p:spPr>
          <a:xfrm>
            <a:off x="2926415" y="2463511"/>
            <a:ext cx="2979098" cy="2590520"/>
          </a:xfrm>
          <a:prstGeom prst="triangle">
            <a:avLst/>
          </a:prstGeom>
          <a:solidFill>
            <a:srgbClr val="F1F7EC"/>
          </a:solidFill>
          <a:ln w="31750">
            <a:solidFill>
              <a:srgbClr val="006633"/>
            </a:solidFill>
            <a:prstDash val="solid"/>
          </a:ln>
        </p:spPr>
        <p:txBody>
          <a:bodyPr/>
          <a:lstStyle/>
          <a:p>
            <a:endParaRPr lang="en-US" dirty="0"/>
          </a:p>
        </p:txBody>
      </p:sp>
      <p:sp>
        <p:nvSpPr>
          <p:cNvPr id="5" name="Shape 3"/>
          <p:cNvSpPr/>
          <p:nvPr/>
        </p:nvSpPr>
        <p:spPr>
          <a:xfrm>
            <a:off x="3800716" y="2139696"/>
            <a:ext cx="841919" cy="841919"/>
          </a:xfrm>
          <a:prstGeom prst="ellipse">
            <a:avLst/>
          </a:prstGeom>
          <a:solidFill>
            <a:srgbClr val="006633"/>
          </a:solidFill>
          <a:ln/>
        </p:spPr>
        <p:txBody>
          <a:bodyPr/>
          <a:lstStyle/>
          <a:p>
            <a:endParaRPr/>
          </a:p>
        </p:txBody>
      </p:sp>
      <p:sp>
        <p:nvSpPr>
          <p:cNvPr id="6" name="Text 4"/>
          <p:cNvSpPr/>
          <p:nvPr/>
        </p:nvSpPr>
        <p:spPr>
          <a:xfrm>
            <a:off x="3800716" y="2139696"/>
            <a:ext cx="841919" cy="841919"/>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Mutu</a:t>
            </a:r>
            <a:endParaRPr lang="en-US" sz="1100" dirty="0"/>
          </a:p>
        </p:txBody>
      </p:sp>
      <p:sp>
        <p:nvSpPr>
          <p:cNvPr id="7" name="Text 5"/>
          <p:cNvSpPr/>
          <p:nvPr/>
        </p:nvSpPr>
        <p:spPr>
          <a:xfrm>
            <a:off x="2084496" y="4859742"/>
            <a:ext cx="1230497" cy="582867"/>
          </a:xfrm>
          <a:prstGeom prst="rect">
            <a:avLst/>
          </a:prstGeom>
          <a:noFill/>
          <a:ln/>
        </p:spPr>
        <p:txBody>
          <a:bodyPr wrap="square" lIns="0" tIns="0" rIns="0" bIns="0" rtlCol="0" anchor="ctr"/>
          <a:lstStyle/>
          <a:p>
            <a:pPr marL="0" indent="0" algn="ctr">
              <a:buNone/>
            </a:pPr>
            <a:r>
              <a:rPr lang="en-US" sz="900" b="1" dirty="0">
                <a:solidFill>
                  <a:srgbClr val="006633"/>
                </a:solidFill>
                <a:latin typeface="Calibri" pitchFamily="34" charset="0"/>
                <a:ea typeface="Calibri" pitchFamily="34" charset="-122"/>
                <a:cs typeface="Calibri" pitchFamily="34" charset="-120"/>
              </a:rPr>
              <a:t>Ruang Lingkup</a:t>
            </a:r>
            <a:endParaRPr lang="en-US" sz="900" dirty="0"/>
          </a:p>
          <a:p>
            <a:pPr marL="0" indent="0" algn="ctr">
              <a:buNone/>
            </a:pPr>
            <a:r>
              <a:rPr lang="en-US" sz="900" b="1" dirty="0">
                <a:solidFill>
                  <a:srgbClr val="006633"/>
                </a:solidFill>
                <a:latin typeface="Calibri" pitchFamily="34" charset="0"/>
                <a:ea typeface="Calibri" pitchFamily="34" charset="-122"/>
                <a:cs typeface="Calibri" pitchFamily="34" charset="-120"/>
              </a:rPr>
              <a:t>(Scope)</a:t>
            </a:r>
            <a:endParaRPr lang="en-US" sz="900" dirty="0"/>
          </a:p>
        </p:txBody>
      </p:sp>
      <p:sp>
        <p:nvSpPr>
          <p:cNvPr id="8" name="Text 6"/>
          <p:cNvSpPr/>
          <p:nvPr/>
        </p:nvSpPr>
        <p:spPr>
          <a:xfrm>
            <a:off x="5516935" y="4859742"/>
            <a:ext cx="1230497" cy="582867"/>
          </a:xfrm>
          <a:prstGeom prst="rect">
            <a:avLst/>
          </a:prstGeom>
          <a:noFill/>
          <a:ln/>
        </p:spPr>
        <p:txBody>
          <a:bodyPr wrap="square" lIns="0" tIns="0" rIns="0" bIns="0" rtlCol="0" anchor="ctr"/>
          <a:lstStyle/>
          <a:p>
            <a:pPr marL="0" indent="0" algn="ctr">
              <a:buNone/>
            </a:pPr>
            <a:r>
              <a:rPr lang="en-US" sz="900" b="1" dirty="0">
                <a:solidFill>
                  <a:srgbClr val="006633"/>
                </a:solidFill>
                <a:latin typeface="Calibri" pitchFamily="34" charset="0"/>
                <a:ea typeface="Calibri" pitchFamily="34" charset="-122"/>
                <a:cs typeface="Calibri" pitchFamily="34" charset="-120"/>
              </a:rPr>
              <a:t>Biaya</a:t>
            </a:r>
            <a:endParaRPr lang="en-US" sz="900" dirty="0"/>
          </a:p>
          <a:p>
            <a:pPr marL="0" indent="0" algn="ctr">
              <a:buNone/>
            </a:pPr>
            <a:r>
              <a:rPr lang="en-US" sz="900" b="1" dirty="0">
                <a:solidFill>
                  <a:srgbClr val="006633"/>
                </a:solidFill>
                <a:latin typeface="Calibri" pitchFamily="34" charset="0"/>
                <a:ea typeface="Calibri" pitchFamily="34" charset="-122"/>
                <a:cs typeface="Calibri" pitchFamily="34" charset="-120"/>
              </a:rPr>
              <a:t>(Cost)</a:t>
            </a:r>
            <a:endParaRPr lang="en-US" sz="900" dirty="0"/>
          </a:p>
        </p:txBody>
      </p:sp>
      <p:sp>
        <p:nvSpPr>
          <p:cNvPr id="9" name="Text 7"/>
          <p:cNvSpPr/>
          <p:nvPr/>
        </p:nvSpPr>
        <p:spPr>
          <a:xfrm>
            <a:off x="3800716" y="5151175"/>
            <a:ext cx="1230497" cy="518104"/>
          </a:xfrm>
          <a:prstGeom prst="rect">
            <a:avLst/>
          </a:prstGeom>
          <a:noFill/>
          <a:ln/>
        </p:spPr>
        <p:txBody>
          <a:bodyPr wrap="square" lIns="0" tIns="0" rIns="0" bIns="0" rtlCol="0" anchor="ctr"/>
          <a:lstStyle/>
          <a:p>
            <a:pPr marL="0" indent="0" algn="ctr">
              <a:buNone/>
            </a:pPr>
            <a:r>
              <a:rPr lang="en-US" sz="900" b="1" dirty="0">
                <a:solidFill>
                  <a:srgbClr val="006633"/>
                </a:solidFill>
                <a:latin typeface="Calibri" pitchFamily="34" charset="0"/>
                <a:ea typeface="Calibri" pitchFamily="34" charset="-122"/>
                <a:cs typeface="Calibri" pitchFamily="34" charset="-120"/>
              </a:rPr>
              <a:t>Waktu</a:t>
            </a:r>
            <a:endParaRPr lang="en-US" sz="900" dirty="0"/>
          </a:p>
          <a:p>
            <a:pPr marL="0" indent="0" algn="ctr">
              <a:buNone/>
            </a:pPr>
            <a:r>
              <a:rPr lang="en-US" sz="900" b="1" dirty="0">
                <a:solidFill>
                  <a:srgbClr val="006633"/>
                </a:solidFill>
                <a:latin typeface="Calibri" pitchFamily="34" charset="0"/>
                <a:ea typeface="Calibri" pitchFamily="34" charset="-122"/>
                <a:cs typeface="Calibri" pitchFamily="34" charset="-120"/>
              </a:rPr>
              <a:t>(Time)</a:t>
            </a:r>
            <a:endParaRPr lang="en-US" sz="900" dirty="0"/>
          </a:p>
        </p:txBody>
      </p:sp>
      <p:sp>
        <p:nvSpPr>
          <p:cNvPr id="10" name="Text 8"/>
          <p:cNvSpPr/>
          <p:nvPr/>
        </p:nvSpPr>
        <p:spPr>
          <a:xfrm>
            <a:off x="7006485" y="2528274"/>
            <a:ext cx="2979098" cy="323815"/>
          </a:xfrm>
          <a:prstGeom prst="rect">
            <a:avLst/>
          </a:prstGeom>
          <a:noFill/>
          <a:ln/>
        </p:spPr>
        <p:txBody>
          <a:bodyPr wrap="square" lIns="0" tIns="0" rIns="0" bIns="0" rtlCol="0" anchor="ctr"/>
          <a:lstStyle/>
          <a:p>
            <a:pPr marL="0" indent="0">
              <a:buNone/>
            </a:pPr>
            <a:r>
              <a:rPr lang="en-US" sz="1200" b="1" dirty="0">
                <a:solidFill>
                  <a:srgbClr val="006633"/>
                </a:solidFill>
                <a:latin typeface="Cambria" pitchFamily="34" charset="0"/>
                <a:ea typeface="Cambria" pitchFamily="34" charset="-122"/>
                <a:cs typeface="Cambria" pitchFamily="34" charset="-120"/>
              </a:rPr>
              <a:t>Mengelola Keseimbangan</a:t>
            </a:r>
            <a:endParaRPr lang="en-US" sz="1200" dirty="0"/>
          </a:p>
        </p:txBody>
      </p:sp>
      <p:sp>
        <p:nvSpPr>
          <p:cNvPr id="11" name="Text 9"/>
          <p:cNvSpPr/>
          <p:nvPr/>
        </p:nvSpPr>
        <p:spPr>
          <a:xfrm>
            <a:off x="7006485" y="2884470"/>
            <a:ext cx="2979098" cy="2137179"/>
          </a:xfrm>
          <a:prstGeom prst="rect">
            <a:avLst/>
          </a:prstGeom>
          <a:noFill/>
          <a:ln/>
        </p:spPr>
        <p:txBody>
          <a:bodyPr wrap="square" lIns="0" tIns="0" rIns="0" bIns="0" rtlCol="0" anchor="t"/>
          <a:lstStyle/>
          <a:p>
            <a:pPr marL="228600" indent="-228600">
              <a:lnSpc>
                <a:spcPct val="115000"/>
              </a:lnSpc>
              <a:spcAft>
                <a:spcPts val="1300"/>
              </a:spcAft>
              <a:buSzPct val="100000"/>
              <a:buChar char="▪"/>
            </a:pPr>
            <a:r>
              <a:rPr lang="en-US" sz="1000" dirty="0">
                <a:solidFill>
                  <a:srgbClr val="1F7A34"/>
                </a:solidFill>
                <a:latin typeface="Calibri" pitchFamily="34" charset="0"/>
                <a:ea typeface="Calibri" pitchFamily="34" charset="-122"/>
                <a:cs typeface="Calibri" pitchFamily="34" charset="-120"/>
              </a:rPr>
              <a:t>Ketiga sisi saling terkait — mengubah satu sisi akan memengaruhi sisi lainnya</a:t>
            </a:r>
            <a:endParaRPr lang="en-US" sz="1000" dirty="0"/>
          </a:p>
          <a:p>
            <a:pPr marL="228600" indent="-228600">
              <a:lnSpc>
                <a:spcPct val="115000"/>
              </a:lnSpc>
              <a:spcAft>
                <a:spcPts val="1300"/>
              </a:spcAft>
              <a:buSzPct val="100000"/>
              <a:buChar char="▪"/>
            </a:pPr>
            <a:r>
              <a:rPr lang="en-US" sz="1000" dirty="0">
                <a:solidFill>
                  <a:srgbClr val="1F7A34"/>
                </a:solidFill>
                <a:latin typeface="Calibri" pitchFamily="34" charset="0"/>
                <a:ea typeface="Calibri" pitchFamily="34" charset="-122"/>
                <a:cs typeface="Calibri" pitchFamily="34" charset="-120"/>
              </a:rPr>
              <a:t>Menambah ruang lingkup biasanya butuh waktu dan/atau biaya tambahan</a:t>
            </a:r>
            <a:endParaRPr lang="en-US" sz="1000" dirty="0"/>
          </a:p>
          <a:p>
            <a:pPr marL="228600" indent="-228600">
              <a:lnSpc>
                <a:spcPct val="115000"/>
              </a:lnSpc>
              <a:spcAft>
                <a:spcPts val="1300"/>
              </a:spcAft>
              <a:buSzPct val="100000"/>
              <a:buChar char="▪"/>
            </a:pPr>
            <a:r>
              <a:rPr lang="en-US" sz="1000" dirty="0">
                <a:solidFill>
                  <a:srgbClr val="1F7A34"/>
                </a:solidFill>
                <a:latin typeface="Calibri" pitchFamily="34" charset="0"/>
                <a:ea typeface="Calibri" pitchFamily="34" charset="-122"/>
                <a:cs typeface="Calibri" pitchFamily="34" charset="-120"/>
              </a:rPr>
              <a:t>Mempercepat waktu (deadline lebih ketat) sering menambah biaya</a:t>
            </a:r>
            <a:endParaRPr lang="en-US" sz="1000" dirty="0"/>
          </a:p>
          <a:p>
            <a:pPr marL="228600" indent="-228600">
              <a:lnSpc>
                <a:spcPct val="115000"/>
              </a:lnSpc>
              <a:spcAft>
                <a:spcPts val="1300"/>
              </a:spcAft>
              <a:buSzPct val="100000"/>
              <a:buChar char="▪"/>
            </a:pPr>
            <a:r>
              <a:rPr lang="en-US" sz="1000" dirty="0">
                <a:solidFill>
                  <a:srgbClr val="1F7A34"/>
                </a:solidFill>
                <a:latin typeface="Calibri" pitchFamily="34" charset="0"/>
                <a:ea typeface="Calibri" pitchFamily="34" charset="-122"/>
                <a:cs typeface="Calibri" pitchFamily="34" charset="-120"/>
              </a:rPr>
              <a:t>Tugas project manager: menjaga keseimbangan agar mutu proyek tetap terjaga</a:t>
            </a:r>
            <a:endParaRPr lang="en-US" sz="1000" dirty="0"/>
          </a:p>
        </p:txBody>
      </p:sp>
      <p:sp>
        <p:nvSpPr>
          <p:cNvPr id="12" name="TextBox 11"/>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9/27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MANAJEMEN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Manajemen Proyek?</a:t>
            </a:r>
            <a:endParaRPr lang="en-US" sz="3200" dirty="0"/>
          </a:p>
        </p:txBody>
      </p:sp>
      <p:sp>
        <p:nvSpPr>
          <p:cNvPr id="4" name="Shape 2"/>
          <p:cNvSpPr/>
          <p:nvPr/>
        </p:nvSpPr>
        <p:spPr>
          <a:xfrm>
            <a:off x="822960" y="2139696"/>
            <a:ext cx="10424160" cy="1809151"/>
          </a:xfrm>
          <a:prstGeom prst="roundRect">
            <a:avLst>
              <a:gd name="adj" fmla="val 5714"/>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167560" y="2355071"/>
            <a:ext cx="9734959" cy="1033800"/>
          </a:xfrm>
          <a:prstGeom prst="rect">
            <a:avLst/>
          </a:prstGeom>
          <a:noFill/>
          <a:ln/>
        </p:spPr>
        <p:txBody>
          <a:bodyPr wrap="square" lIns="0" tIns="0" rIns="0" bIns="0" rtlCol="0" anchor="ctr"/>
          <a:lstStyle/>
          <a:p>
            <a:pPr marL="0" indent="0">
              <a:lnSpc>
                <a:spcPct val="125000"/>
              </a:lnSpc>
              <a:buNone/>
            </a:pPr>
            <a:r>
              <a:rPr lang="en-US" sz="2000" i="1" dirty="0">
                <a:solidFill>
                  <a:srgbClr val="FFFFFF"/>
                </a:solidFill>
                <a:latin typeface="Cambria" pitchFamily="34" charset="0"/>
                <a:ea typeface="Cambria" pitchFamily="34" charset="-122"/>
                <a:cs typeface="Cambria" pitchFamily="34" charset="-120"/>
              </a:rPr>
              <a:t>“Penerapan pengetahuan, keterampilan, alat, dan teknik pada aktivitas proyek untuk memenuhi persyaratan proyek.”</a:t>
            </a:r>
            <a:endParaRPr lang="en-US" sz="2000" dirty="0"/>
          </a:p>
        </p:txBody>
      </p:sp>
      <p:sp>
        <p:nvSpPr>
          <p:cNvPr id="6" name="Text 4"/>
          <p:cNvSpPr/>
          <p:nvPr/>
        </p:nvSpPr>
        <p:spPr>
          <a:xfrm>
            <a:off x="1167560" y="3475022"/>
            <a:ext cx="6892006" cy="344600"/>
          </a:xfrm>
          <a:prstGeom prst="rect">
            <a:avLst/>
          </a:prstGeom>
          <a:noFill/>
          <a:ln/>
        </p:spPr>
        <p:txBody>
          <a:bodyPr wrap="square" lIns="0" tIns="0" rIns="0" bIns="0" rtlCol="0" anchor="ctr"/>
          <a:lstStyle/>
          <a:p>
            <a:pPr marL="0" indent="0">
              <a:buNone/>
            </a:pPr>
            <a:r>
              <a:rPr lang="en-US" sz="1200" dirty="0">
                <a:solidFill>
                  <a:srgbClr val="D8E8C8"/>
                </a:solidFill>
                <a:latin typeface="Calibri" pitchFamily="34" charset="0"/>
                <a:ea typeface="Calibri" pitchFamily="34" charset="-122"/>
                <a:cs typeface="Calibri" pitchFamily="34" charset="-120"/>
              </a:rPr>
              <a:t>— Project Management Institute (PMI)</a:t>
            </a:r>
            <a:endParaRPr lang="en-US" sz="1200" dirty="0"/>
          </a:p>
        </p:txBody>
      </p:sp>
      <p:sp>
        <p:nvSpPr>
          <p:cNvPr id="7" name="Text 5"/>
          <p:cNvSpPr/>
          <p:nvPr/>
        </p:nvSpPr>
        <p:spPr>
          <a:xfrm>
            <a:off x="822960" y="4250373"/>
            <a:ext cx="9907259" cy="861500"/>
          </a:xfrm>
          <a:prstGeom prst="rect">
            <a:avLst/>
          </a:prstGeom>
          <a:noFill/>
          <a:ln/>
        </p:spPr>
        <p:txBody>
          <a:bodyPr wrap="square" lIns="0" tIns="0" rIns="0" bIns="0" rtlCol="0" anchor="ctr"/>
          <a:lstStyle/>
          <a:p>
            <a:pPr marL="0" indent="0">
              <a:lnSpc>
                <a:spcPct val="130000"/>
              </a:lnSpc>
              <a:buNone/>
            </a:pPr>
            <a:r>
              <a:rPr lang="en-US" sz="1500" dirty="0">
                <a:solidFill>
                  <a:srgbClr val="1F7A34"/>
                </a:solidFill>
                <a:latin typeface="Calibri" pitchFamily="34" charset="0"/>
                <a:ea typeface="Calibri" pitchFamily="34" charset="-122"/>
                <a:cs typeface="Calibri" pitchFamily="34" charset="-120"/>
              </a:rPr>
              <a:t>Pada intinya, manajemen proyek berarti menyeimbangkan ruang lingkup, waktu, biaya, dan mutu — agar proyek mencapai tujuannya secara efektif dan efisien.</a:t>
            </a:r>
            <a:endParaRPr lang="en-US" sz="1500" dirty="0"/>
          </a:p>
        </p:txBody>
      </p:sp>
      <p:sp>
        <p:nvSpPr>
          <p:cNvPr id="8" name="TextBox 7"/>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10/27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MANAJEMEN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Mengapa Manajemen Proyek TI Penting?</a:t>
            </a:r>
            <a:endParaRPr lang="en-US" sz="3200" dirty="0"/>
          </a:p>
        </p:txBody>
      </p:sp>
      <p:sp>
        <p:nvSpPr>
          <p:cNvPr id="4" name="Shape 2"/>
          <p:cNvSpPr/>
          <p:nvPr/>
        </p:nvSpPr>
        <p:spPr>
          <a:xfrm>
            <a:off x="1328928"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564233" y="2414219"/>
            <a:ext cx="470611" cy="470611"/>
          </a:xfrm>
          <a:prstGeom prst="ellipse">
            <a:avLst/>
          </a:prstGeom>
          <a:solidFill>
            <a:srgbClr val="9FC41D"/>
          </a:solidFill>
          <a:ln/>
        </p:spPr>
        <p:txBody>
          <a:bodyPr/>
          <a:lstStyle/>
          <a:p>
            <a:endParaRPr/>
          </a:p>
        </p:txBody>
      </p:sp>
      <p:sp>
        <p:nvSpPr>
          <p:cNvPr id="6" name="Text 4"/>
          <p:cNvSpPr/>
          <p:nvPr/>
        </p:nvSpPr>
        <p:spPr>
          <a:xfrm>
            <a:off x="1564233" y="2414219"/>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2230932" y="2312253"/>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Kompleksitas Tinggi</a:t>
            </a:r>
            <a:endParaRPr lang="en-US" sz="1300" dirty="0"/>
          </a:p>
        </p:txBody>
      </p:sp>
      <p:sp>
        <p:nvSpPr>
          <p:cNvPr id="8" name="Text 6"/>
          <p:cNvSpPr/>
          <p:nvPr/>
        </p:nvSpPr>
        <p:spPr>
          <a:xfrm>
            <a:off x="2230932" y="2673055"/>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Proyek TI melibatkan banyak pihak: developer, klien, pengguna, dan vendor sekaligus.</a:t>
            </a:r>
            <a:endParaRPr lang="en-US" sz="1100" dirty="0"/>
          </a:p>
        </p:txBody>
      </p:sp>
      <p:sp>
        <p:nvSpPr>
          <p:cNvPr id="9" name="Shape 7"/>
          <p:cNvSpPr/>
          <p:nvPr/>
        </p:nvSpPr>
        <p:spPr>
          <a:xfrm>
            <a:off x="6152692" y="2139696"/>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6387998" y="2414219"/>
            <a:ext cx="470611" cy="470611"/>
          </a:xfrm>
          <a:prstGeom prst="ellipse">
            <a:avLst/>
          </a:prstGeom>
          <a:solidFill>
            <a:srgbClr val="9FC41D"/>
          </a:solidFill>
          <a:ln/>
        </p:spPr>
        <p:txBody>
          <a:bodyPr/>
          <a:lstStyle/>
          <a:p>
            <a:endParaRPr/>
          </a:p>
        </p:txBody>
      </p:sp>
      <p:sp>
        <p:nvSpPr>
          <p:cNvPr id="11" name="Text 9"/>
          <p:cNvSpPr/>
          <p:nvPr/>
        </p:nvSpPr>
        <p:spPr>
          <a:xfrm>
            <a:off x="6387998" y="2414219"/>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054697" y="2312253"/>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Perubahan Teknologi Cepat</a:t>
            </a:r>
            <a:endParaRPr lang="en-US" sz="1300" dirty="0"/>
          </a:p>
        </p:txBody>
      </p:sp>
      <p:sp>
        <p:nvSpPr>
          <p:cNvPr id="13" name="Text 11"/>
          <p:cNvSpPr/>
          <p:nvPr/>
        </p:nvSpPr>
        <p:spPr>
          <a:xfrm>
            <a:off x="7054697" y="2673055"/>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Teknologi dan kebutuhan pengguna dapat berubah selama proyek berjalan, meningkatkan ketidakpastian.</a:t>
            </a:r>
            <a:endParaRPr lang="en-US" sz="1100" dirty="0"/>
          </a:p>
        </p:txBody>
      </p:sp>
      <p:sp>
        <p:nvSpPr>
          <p:cNvPr id="14" name="Shape 12"/>
          <p:cNvSpPr/>
          <p:nvPr/>
        </p:nvSpPr>
        <p:spPr>
          <a:xfrm>
            <a:off x="1328928"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1564233" y="4296664"/>
            <a:ext cx="470611" cy="470611"/>
          </a:xfrm>
          <a:prstGeom prst="ellipse">
            <a:avLst/>
          </a:prstGeom>
          <a:solidFill>
            <a:srgbClr val="9FC41D"/>
          </a:solidFill>
          <a:ln/>
        </p:spPr>
        <p:txBody>
          <a:bodyPr/>
          <a:lstStyle/>
          <a:p>
            <a:endParaRPr/>
          </a:p>
        </p:txBody>
      </p:sp>
      <p:sp>
        <p:nvSpPr>
          <p:cNvPr id="16" name="Text 14"/>
          <p:cNvSpPr/>
          <p:nvPr/>
        </p:nvSpPr>
        <p:spPr>
          <a:xfrm>
            <a:off x="1564233" y="4296664"/>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2230932" y="4194698"/>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Risiko Kegagalan Nyata</a:t>
            </a:r>
            <a:endParaRPr lang="en-US" sz="1300" dirty="0"/>
          </a:p>
        </p:txBody>
      </p:sp>
      <p:sp>
        <p:nvSpPr>
          <p:cNvPr id="18" name="Text 16"/>
          <p:cNvSpPr/>
          <p:nvPr/>
        </p:nvSpPr>
        <p:spPr>
          <a:xfrm>
            <a:off x="2230932" y="4555500"/>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Tanpa pengelolaan yang baik, proyek rentan terlambat, membengkak biaya, atau tidak sesuai kebutuhan.</a:t>
            </a:r>
            <a:endParaRPr lang="en-US" sz="1100" dirty="0"/>
          </a:p>
        </p:txBody>
      </p:sp>
      <p:sp>
        <p:nvSpPr>
          <p:cNvPr id="19" name="Shape 17"/>
          <p:cNvSpPr/>
          <p:nvPr/>
        </p:nvSpPr>
        <p:spPr>
          <a:xfrm>
            <a:off x="6152692" y="4022140"/>
            <a:ext cx="4588459" cy="1647139"/>
          </a:xfrm>
          <a:prstGeom prst="roundRect">
            <a:avLst>
              <a:gd name="adj" fmla="val 5714"/>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0" name="Shape 18"/>
          <p:cNvSpPr/>
          <p:nvPr/>
        </p:nvSpPr>
        <p:spPr>
          <a:xfrm>
            <a:off x="6387998" y="4296664"/>
            <a:ext cx="470611" cy="470611"/>
          </a:xfrm>
          <a:prstGeom prst="ellipse">
            <a:avLst/>
          </a:prstGeom>
          <a:solidFill>
            <a:srgbClr val="9FC41D"/>
          </a:solidFill>
          <a:ln/>
        </p:spPr>
        <p:txBody>
          <a:bodyPr/>
          <a:lstStyle/>
          <a:p>
            <a:endParaRPr/>
          </a:p>
        </p:txBody>
      </p:sp>
      <p:sp>
        <p:nvSpPr>
          <p:cNvPr id="21" name="Text 19"/>
          <p:cNvSpPr/>
          <p:nvPr/>
        </p:nvSpPr>
        <p:spPr>
          <a:xfrm>
            <a:off x="6387998" y="4296664"/>
            <a:ext cx="470611" cy="470611"/>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054697" y="4194698"/>
            <a:ext cx="3490366" cy="31374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Meningkatkan Peluang Sukses</a:t>
            </a:r>
            <a:endParaRPr lang="en-US" sz="1300" dirty="0"/>
          </a:p>
        </p:txBody>
      </p:sp>
      <p:sp>
        <p:nvSpPr>
          <p:cNvPr id="23" name="Text 21"/>
          <p:cNvSpPr/>
          <p:nvPr/>
        </p:nvSpPr>
        <p:spPr>
          <a:xfrm>
            <a:off x="7054697" y="4555500"/>
            <a:ext cx="3490366" cy="980440"/>
          </a:xfrm>
          <a:prstGeom prst="rect">
            <a:avLst/>
          </a:prstGeom>
          <a:noFill/>
          <a:ln/>
        </p:spPr>
        <p:txBody>
          <a:bodyPr wrap="square" lIns="0" tIns="0" rIns="0" bIns="0" rtlCol="0" anchor="ctr"/>
          <a:lstStyle/>
          <a:p>
            <a:pPr marL="0" indent="0">
              <a:lnSpc>
                <a:spcPct val="120000"/>
              </a:lnSpc>
              <a:buNone/>
            </a:pPr>
            <a:r>
              <a:rPr lang="en-US" sz="1100" dirty="0">
                <a:solidFill>
                  <a:srgbClr val="1F7A34"/>
                </a:solidFill>
                <a:latin typeface="Calibri" pitchFamily="34" charset="0"/>
                <a:ea typeface="Calibri" pitchFamily="34" charset="-122"/>
                <a:cs typeface="Calibri" pitchFamily="34" charset="-120"/>
              </a:rPr>
              <a:t>Manajemen proyek yang baik membantu proyek selesai tepat waktu, sesuai anggaran dan mutu.</a:t>
            </a:r>
            <a:endParaRPr lang="en-US" sz="11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11/27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MANAJEMEN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Peran &amp; Tanggung Jawab Project Manager</a:t>
            </a:r>
            <a:endParaRPr lang="en-US" sz="3200" dirty="0"/>
          </a:p>
        </p:txBody>
      </p:sp>
      <p:sp>
        <p:nvSpPr>
          <p:cNvPr id="4" name="Shape 2"/>
          <p:cNvSpPr/>
          <p:nvPr/>
        </p:nvSpPr>
        <p:spPr>
          <a:xfrm>
            <a:off x="1372598" y="2162815"/>
            <a:ext cx="423858" cy="423858"/>
          </a:xfrm>
          <a:prstGeom prst="ellipse">
            <a:avLst/>
          </a:prstGeom>
          <a:solidFill>
            <a:srgbClr val="006633"/>
          </a:solidFill>
          <a:ln/>
        </p:spPr>
        <p:txBody>
          <a:bodyPr/>
          <a:lstStyle/>
          <a:p>
            <a:endParaRPr/>
          </a:p>
        </p:txBody>
      </p:sp>
      <p:sp>
        <p:nvSpPr>
          <p:cNvPr id="5" name="Text 3"/>
          <p:cNvSpPr/>
          <p:nvPr/>
        </p:nvSpPr>
        <p:spPr>
          <a:xfrm>
            <a:off x="1372598" y="2162815"/>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p:nvPr/>
        </p:nvSpPr>
        <p:spPr>
          <a:xfrm>
            <a:off x="1950586" y="2139696"/>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Merencanakan dan mengorganisasi seluruh aktivitas proyek</a:t>
            </a:r>
            <a:endParaRPr lang="en-US" sz="1300" dirty="0"/>
          </a:p>
        </p:txBody>
      </p:sp>
      <p:sp>
        <p:nvSpPr>
          <p:cNvPr id="7" name="Shape 5"/>
          <p:cNvSpPr/>
          <p:nvPr/>
        </p:nvSpPr>
        <p:spPr>
          <a:xfrm>
            <a:off x="1372598" y="2740804"/>
            <a:ext cx="9324883" cy="0"/>
          </a:xfrm>
          <a:prstGeom prst="line">
            <a:avLst/>
          </a:prstGeom>
          <a:noFill/>
          <a:ln w="12700">
            <a:solidFill>
              <a:srgbClr val="E4EFD9"/>
            </a:solidFill>
            <a:prstDash val="solid"/>
          </a:ln>
        </p:spPr>
        <p:txBody>
          <a:bodyPr/>
          <a:lstStyle/>
          <a:p>
            <a:endParaRPr/>
          </a:p>
        </p:txBody>
      </p:sp>
      <p:sp>
        <p:nvSpPr>
          <p:cNvPr id="8" name="Shape 6"/>
          <p:cNvSpPr/>
          <p:nvPr/>
        </p:nvSpPr>
        <p:spPr>
          <a:xfrm>
            <a:off x="1372598" y="2894934"/>
            <a:ext cx="423858" cy="423858"/>
          </a:xfrm>
          <a:prstGeom prst="ellipse">
            <a:avLst/>
          </a:prstGeom>
          <a:solidFill>
            <a:srgbClr val="9FC41D"/>
          </a:solidFill>
          <a:ln/>
        </p:spPr>
        <p:txBody>
          <a:bodyPr/>
          <a:lstStyle/>
          <a:p>
            <a:endParaRPr/>
          </a:p>
        </p:txBody>
      </p:sp>
      <p:sp>
        <p:nvSpPr>
          <p:cNvPr id="9" name="Text 7"/>
          <p:cNvSpPr/>
          <p:nvPr/>
        </p:nvSpPr>
        <p:spPr>
          <a:xfrm>
            <a:off x="1372598" y="2894934"/>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950586" y="2871814"/>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Memimpin dan mengoordinasikan tim proyek</a:t>
            </a:r>
            <a:endParaRPr lang="en-US" sz="1300" dirty="0"/>
          </a:p>
        </p:txBody>
      </p:sp>
      <p:sp>
        <p:nvSpPr>
          <p:cNvPr id="11" name="Shape 9"/>
          <p:cNvSpPr/>
          <p:nvPr/>
        </p:nvSpPr>
        <p:spPr>
          <a:xfrm>
            <a:off x="1372598" y="3472923"/>
            <a:ext cx="9324883" cy="0"/>
          </a:xfrm>
          <a:prstGeom prst="line">
            <a:avLst/>
          </a:prstGeom>
          <a:noFill/>
          <a:ln w="12700">
            <a:solidFill>
              <a:srgbClr val="E4EFD9"/>
            </a:solidFill>
            <a:prstDash val="solid"/>
          </a:ln>
        </p:spPr>
        <p:txBody>
          <a:bodyPr/>
          <a:lstStyle/>
          <a:p>
            <a:endParaRPr/>
          </a:p>
        </p:txBody>
      </p:sp>
      <p:sp>
        <p:nvSpPr>
          <p:cNvPr id="12" name="Shape 10"/>
          <p:cNvSpPr/>
          <p:nvPr/>
        </p:nvSpPr>
        <p:spPr>
          <a:xfrm>
            <a:off x="1372598" y="3627053"/>
            <a:ext cx="423858" cy="423858"/>
          </a:xfrm>
          <a:prstGeom prst="ellipse">
            <a:avLst/>
          </a:prstGeom>
          <a:solidFill>
            <a:srgbClr val="006633"/>
          </a:solidFill>
          <a:ln/>
        </p:spPr>
        <p:txBody>
          <a:bodyPr/>
          <a:lstStyle/>
          <a:p>
            <a:endParaRPr/>
          </a:p>
        </p:txBody>
      </p:sp>
      <p:sp>
        <p:nvSpPr>
          <p:cNvPr id="13" name="Text 11"/>
          <p:cNvSpPr/>
          <p:nvPr/>
        </p:nvSpPr>
        <p:spPr>
          <a:xfrm>
            <a:off x="1372598" y="3627053"/>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2"/>
          <p:cNvSpPr/>
          <p:nvPr/>
        </p:nvSpPr>
        <p:spPr>
          <a:xfrm>
            <a:off x="1950586" y="3603933"/>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Mengelola komunikasi dengan seluruh stakeholder</a:t>
            </a:r>
            <a:endParaRPr lang="en-US" sz="1300" dirty="0"/>
          </a:p>
        </p:txBody>
      </p:sp>
      <p:sp>
        <p:nvSpPr>
          <p:cNvPr id="15" name="Shape 13"/>
          <p:cNvSpPr/>
          <p:nvPr/>
        </p:nvSpPr>
        <p:spPr>
          <a:xfrm>
            <a:off x="1372598" y="4205042"/>
            <a:ext cx="9324883" cy="0"/>
          </a:xfrm>
          <a:prstGeom prst="line">
            <a:avLst/>
          </a:prstGeom>
          <a:noFill/>
          <a:ln w="12700">
            <a:solidFill>
              <a:srgbClr val="E4EFD9"/>
            </a:solidFill>
            <a:prstDash val="solid"/>
          </a:ln>
        </p:spPr>
        <p:txBody>
          <a:bodyPr/>
          <a:lstStyle/>
          <a:p>
            <a:endParaRPr/>
          </a:p>
        </p:txBody>
      </p:sp>
      <p:sp>
        <p:nvSpPr>
          <p:cNvPr id="16" name="Shape 14"/>
          <p:cNvSpPr/>
          <p:nvPr/>
        </p:nvSpPr>
        <p:spPr>
          <a:xfrm>
            <a:off x="1372598" y="4359172"/>
            <a:ext cx="423858" cy="423858"/>
          </a:xfrm>
          <a:prstGeom prst="ellipse">
            <a:avLst/>
          </a:prstGeom>
          <a:solidFill>
            <a:srgbClr val="9FC41D"/>
          </a:solidFill>
          <a:ln/>
        </p:spPr>
        <p:txBody>
          <a:bodyPr/>
          <a:lstStyle/>
          <a:p>
            <a:endParaRPr/>
          </a:p>
        </p:txBody>
      </p:sp>
      <p:sp>
        <p:nvSpPr>
          <p:cNvPr id="17" name="Text 15"/>
          <p:cNvSpPr/>
          <p:nvPr/>
        </p:nvSpPr>
        <p:spPr>
          <a:xfrm>
            <a:off x="1372598" y="4359172"/>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8" name="Text 16"/>
          <p:cNvSpPr/>
          <p:nvPr/>
        </p:nvSpPr>
        <p:spPr>
          <a:xfrm>
            <a:off x="1950586" y="4336052"/>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Mengidentifikasi, menganalisis, dan mengendalikan risiko</a:t>
            </a:r>
            <a:endParaRPr lang="en-US" sz="1300" dirty="0"/>
          </a:p>
        </p:txBody>
      </p:sp>
      <p:sp>
        <p:nvSpPr>
          <p:cNvPr id="19" name="Shape 17"/>
          <p:cNvSpPr/>
          <p:nvPr/>
        </p:nvSpPr>
        <p:spPr>
          <a:xfrm>
            <a:off x="1372598" y="4937161"/>
            <a:ext cx="9324883" cy="0"/>
          </a:xfrm>
          <a:prstGeom prst="line">
            <a:avLst/>
          </a:prstGeom>
          <a:noFill/>
          <a:ln w="12700">
            <a:solidFill>
              <a:srgbClr val="E4EFD9"/>
            </a:solidFill>
            <a:prstDash val="solid"/>
          </a:ln>
        </p:spPr>
        <p:txBody>
          <a:bodyPr/>
          <a:lstStyle/>
          <a:p>
            <a:endParaRPr/>
          </a:p>
        </p:txBody>
      </p:sp>
      <p:sp>
        <p:nvSpPr>
          <p:cNvPr id="20" name="Shape 18"/>
          <p:cNvSpPr/>
          <p:nvPr/>
        </p:nvSpPr>
        <p:spPr>
          <a:xfrm>
            <a:off x="1372598" y="5091291"/>
            <a:ext cx="423858" cy="423858"/>
          </a:xfrm>
          <a:prstGeom prst="ellipse">
            <a:avLst/>
          </a:prstGeom>
          <a:solidFill>
            <a:srgbClr val="006633"/>
          </a:solidFill>
          <a:ln/>
        </p:spPr>
        <p:txBody>
          <a:bodyPr/>
          <a:lstStyle/>
          <a:p>
            <a:endParaRPr/>
          </a:p>
        </p:txBody>
      </p:sp>
      <p:sp>
        <p:nvSpPr>
          <p:cNvPr id="21" name="Text 19"/>
          <p:cNvSpPr/>
          <p:nvPr/>
        </p:nvSpPr>
        <p:spPr>
          <a:xfrm>
            <a:off x="1372598" y="5091291"/>
            <a:ext cx="423858" cy="42385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2" name="Text 20"/>
          <p:cNvSpPr/>
          <p:nvPr/>
        </p:nvSpPr>
        <p:spPr>
          <a:xfrm>
            <a:off x="1950586" y="5068171"/>
            <a:ext cx="8708362" cy="462390"/>
          </a:xfrm>
          <a:prstGeom prst="rect">
            <a:avLst/>
          </a:prstGeom>
          <a:noFill/>
          <a:ln/>
        </p:spPr>
        <p:txBody>
          <a:bodyPr wrap="square" lIns="0" tIns="0" rIns="0" bIns="0" rtlCol="0" anchor="ctr"/>
          <a:lstStyle/>
          <a:p>
            <a:pPr marL="0" indent="0">
              <a:buNone/>
            </a:pPr>
            <a:r>
              <a:rPr lang="en-US" sz="1300" dirty="0">
                <a:solidFill>
                  <a:srgbClr val="1F7A34"/>
                </a:solidFill>
                <a:latin typeface="Calibri" pitchFamily="34" charset="0"/>
                <a:ea typeface="Calibri" pitchFamily="34" charset="-122"/>
                <a:cs typeface="Calibri" pitchFamily="34" charset="-120"/>
              </a:rPr>
              <a:t>Memastikan proyek selesai sesuai ruang lingkup, waktu, biaya, dan mutu</a:t>
            </a:r>
            <a:endParaRPr lang="en-US" sz="1300" dirty="0"/>
          </a:p>
        </p:txBody>
      </p:sp>
      <p:sp>
        <p:nvSpPr>
          <p:cNvPr id="23" name="Shape 21"/>
          <p:cNvSpPr/>
          <p:nvPr/>
        </p:nvSpPr>
        <p:spPr>
          <a:xfrm>
            <a:off x="1372598" y="5669280"/>
            <a:ext cx="9324883" cy="0"/>
          </a:xfrm>
          <a:prstGeom prst="line">
            <a:avLst/>
          </a:prstGeom>
          <a:noFill/>
          <a:ln w="12700">
            <a:solidFill>
              <a:srgbClr val="E4EFD9"/>
            </a:solidFill>
            <a:prstDash val="solid"/>
          </a:ln>
        </p:spPr>
        <p:txBody>
          <a:bodyPr/>
          <a:lstStyle/>
          <a:p>
            <a:endParaRPr/>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12/27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MANAJEMEN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Siapa Saja Stakeholder Proyek TI?</a:t>
            </a:r>
            <a:endParaRPr lang="en-US" sz="3200" dirty="0"/>
          </a:p>
        </p:txBody>
      </p:sp>
      <p:sp>
        <p:nvSpPr>
          <p:cNvPr id="4" name="Shape 2"/>
          <p:cNvSpPr/>
          <p:nvPr/>
        </p:nvSpPr>
        <p:spPr>
          <a:xfrm>
            <a:off x="5295447" y="3562048"/>
            <a:ext cx="1479184" cy="1479184"/>
          </a:xfrm>
          <a:prstGeom prst="ellipse">
            <a:avLst/>
          </a:prstGeom>
          <a:solidFill>
            <a:srgbClr val="006633"/>
          </a:solidFill>
          <a:ln/>
        </p:spPr>
        <p:txBody>
          <a:bodyPr/>
          <a:lstStyle/>
          <a:p>
            <a:endParaRPr/>
          </a:p>
        </p:txBody>
      </p:sp>
      <p:sp>
        <p:nvSpPr>
          <p:cNvPr id="5" name="Text 3"/>
          <p:cNvSpPr/>
          <p:nvPr/>
        </p:nvSpPr>
        <p:spPr>
          <a:xfrm>
            <a:off x="5295447" y="3562048"/>
            <a:ext cx="1479184" cy="147918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PROYEK</a:t>
            </a:r>
            <a:endParaRPr lang="en-US" sz="1400" dirty="0"/>
          </a:p>
        </p:txBody>
      </p:sp>
      <p:sp>
        <p:nvSpPr>
          <p:cNvPr id="6" name="Shape 4"/>
          <p:cNvSpPr/>
          <p:nvPr/>
        </p:nvSpPr>
        <p:spPr>
          <a:xfrm>
            <a:off x="6035040" y="2723584"/>
            <a:ext cx="7785" cy="1305574"/>
          </a:xfrm>
          <a:prstGeom prst="line">
            <a:avLst/>
          </a:prstGeom>
          <a:noFill/>
          <a:ln w="19050">
            <a:solidFill>
              <a:srgbClr val="DCE8D0"/>
            </a:solidFill>
            <a:prstDash val="solid"/>
          </a:ln>
        </p:spPr>
        <p:txBody>
          <a:bodyPr/>
          <a:lstStyle/>
          <a:p>
            <a:endParaRPr/>
          </a:p>
        </p:txBody>
      </p:sp>
      <p:sp>
        <p:nvSpPr>
          <p:cNvPr id="7" name="Shape 5"/>
          <p:cNvSpPr/>
          <p:nvPr/>
        </p:nvSpPr>
        <p:spPr>
          <a:xfrm>
            <a:off x="5451151" y="2139696"/>
            <a:ext cx="1167777" cy="1167777"/>
          </a:xfrm>
          <a:prstGeom prst="ellipse">
            <a:avLst/>
          </a:prstGeom>
          <a:solidFill>
            <a:srgbClr val="9FC41D"/>
          </a:solidFill>
          <a:ln/>
        </p:spPr>
        <p:txBody>
          <a:bodyPr/>
          <a:lstStyle/>
          <a:p>
            <a:endParaRPr/>
          </a:p>
        </p:txBody>
      </p:sp>
      <p:sp>
        <p:nvSpPr>
          <p:cNvPr id="8" name="Text 6"/>
          <p:cNvSpPr/>
          <p:nvPr/>
        </p:nvSpPr>
        <p:spPr>
          <a:xfrm>
            <a:off x="5451151" y="2139696"/>
            <a:ext cx="1167777" cy="1167777"/>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Sponsor /</a:t>
            </a:r>
            <a:endParaRPr lang="en-US" sz="1000" dirty="0"/>
          </a:p>
          <a:p>
            <a:pPr marL="0" indent="0" algn="ctr">
              <a:buNone/>
            </a:pPr>
            <a:r>
              <a:rPr lang="en-US" sz="1000" b="1" dirty="0">
                <a:solidFill>
                  <a:srgbClr val="FFFFFF"/>
                </a:solidFill>
                <a:latin typeface="Cambria" pitchFamily="34" charset="0"/>
                <a:ea typeface="Cambria" pitchFamily="34" charset="-122"/>
                <a:cs typeface="Cambria" pitchFamily="34" charset="-120"/>
              </a:rPr>
              <a:t>Manajemen</a:t>
            </a:r>
            <a:endParaRPr lang="en-US" sz="1000" dirty="0"/>
          </a:p>
        </p:txBody>
      </p:sp>
      <p:sp>
        <p:nvSpPr>
          <p:cNvPr id="9" name="Shape 7"/>
          <p:cNvSpPr/>
          <p:nvPr/>
        </p:nvSpPr>
        <p:spPr>
          <a:xfrm>
            <a:off x="6035040" y="3625714"/>
            <a:ext cx="1591891" cy="403445"/>
          </a:xfrm>
          <a:prstGeom prst="line">
            <a:avLst/>
          </a:prstGeom>
          <a:noFill/>
          <a:ln w="19050">
            <a:solidFill>
              <a:srgbClr val="DCE8D0"/>
            </a:solidFill>
            <a:prstDash val="solid"/>
          </a:ln>
        </p:spPr>
        <p:txBody>
          <a:bodyPr/>
          <a:lstStyle/>
          <a:p>
            <a:endParaRPr/>
          </a:p>
        </p:txBody>
      </p:sp>
      <p:sp>
        <p:nvSpPr>
          <p:cNvPr id="10" name="Shape 8"/>
          <p:cNvSpPr/>
          <p:nvPr/>
        </p:nvSpPr>
        <p:spPr>
          <a:xfrm>
            <a:off x="7043042" y="3041825"/>
            <a:ext cx="1167777" cy="1167777"/>
          </a:xfrm>
          <a:prstGeom prst="ellipse">
            <a:avLst/>
          </a:prstGeom>
          <a:solidFill>
            <a:srgbClr val="1F7A34"/>
          </a:solidFill>
          <a:ln/>
        </p:spPr>
        <p:txBody>
          <a:bodyPr/>
          <a:lstStyle/>
          <a:p>
            <a:endParaRPr/>
          </a:p>
        </p:txBody>
      </p:sp>
      <p:sp>
        <p:nvSpPr>
          <p:cNvPr id="11" name="Text 9"/>
          <p:cNvSpPr/>
          <p:nvPr/>
        </p:nvSpPr>
        <p:spPr>
          <a:xfrm>
            <a:off x="7043042" y="3041825"/>
            <a:ext cx="1167777" cy="1167777"/>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Project Manager</a:t>
            </a:r>
            <a:endParaRPr lang="en-US" sz="1000" dirty="0"/>
          </a:p>
          <a:p>
            <a:pPr marL="0" indent="0" algn="ctr">
              <a:buNone/>
            </a:pPr>
            <a:r>
              <a:rPr lang="en-US" sz="1000" b="1" dirty="0">
                <a:solidFill>
                  <a:srgbClr val="FFFFFF"/>
                </a:solidFill>
                <a:latin typeface="Cambria" pitchFamily="34" charset="0"/>
                <a:ea typeface="Cambria" pitchFamily="34" charset="-122"/>
                <a:cs typeface="Cambria" pitchFamily="34" charset="-120"/>
              </a:rPr>
              <a:t>&amp; Tim Proyek</a:t>
            </a:r>
            <a:endParaRPr lang="en-US" sz="1000" dirty="0"/>
          </a:p>
        </p:txBody>
      </p:sp>
      <p:sp>
        <p:nvSpPr>
          <p:cNvPr id="12" name="Shape 10"/>
          <p:cNvSpPr/>
          <p:nvPr/>
        </p:nvSpPr>
        <p:spPr>
          <a:xfrm>
            <a:off x="6035040" y="4029159"/>
            <a:ext cx="983842" cy="1056232"/>
          </a:xfrm>
          <a:prstGeom prst="line">
            <a:avLst/>
          </a:prstGeom>
          <a:noFill/>
          <a:ln w="19050">
            <a:solidFill>
              <a:srgbClr val="DCE8D0"/>
            </a:solidFill>
            <a:prstDash val="solid"/>
          </a:ln>
        </p:spPr>
        <p:txBody>
          <a:bodyPr/>
          <a:lstStyle/>
          <a:p>
            <a:endParaRPr/>
          </a:p>
        </p:txBody>
      </p:sp>
      <p:sp>
        <p:nvSpPr>
          <p:cNvPr id="13" name="Shape 11"/>
          <p:cNvSpPr/>
          <p:nvPr/>
        </p:nvSpPr>
        <p:spPr>
          <a:xfrm>
            <a:off x="6434994" y="4501502"/>
            <a:ext cx="1167777" cy="1167777"/>
          </a:xfrm>
          <a:prstGeom prst="ellipse">
            <a:avLst/>
          </a:prstGeom>
          <a:solidFill>
            <a:srgbClr val="9FC41D"/>
          </a:solidFill>
          <a:ln/>
        </p:spPr>
        <p:txBody>
          <a:bodyPr/>
          <a:lstStyle/>
          <a:p>
            <a:endParaRPr/>
          </a:p>
        </p:txBody>
      </p:sp>
      <p:sp>
        <p:nvSpPr>
          <p:cNvPr id="14" name="Text 12"/>
          <p:cNvSpPr/>
          <p:nvPr/>
        </p:nvSpPr>
        <p:spPr>
          <a:xfrm>
            <a:off x="6434994" y="4501502"/>
            <a:ext cx="1167777" cy="1167777"/>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Klien /</a:t>
            </a:r>
            <a:endParaRPr lang="en-US" sz="1000" dirty="0"/>
          </a:p>
          <a:p>
            <a:pPr marL="0" indent="0" algn="ctr">
              <a:buNone/>
            </a:pPr>
            <a:r>
              <a:rPr lang="en-US" sz="1000" b="1" dirty="0">
                <a:solidFill>
                  <a:srgbClr val="FFFFFF"/>
                </a:solidFill>
                <a:latin typeface="Cambria" pitchFamily="34" charset="0"/>
                <a:ea typeface="Cambria" pitchFamily="34" charset="-122"/>
                <a:cs typeface="Cambria" pitchFamily="34" charset="-120"/>
              </a:rPr>
              <a:t>Pengguna</a:t>
            </a:r>
            <a:endParaRPr lang="en-US" sz="1000" dirty="0"/>
          </a:p>
        </p:txBody>
      </p:sp>
      <p:sp>
        <p:nvSpPr>
          <p:cNvPr id="15" name="Shape 13"/>
          <p:cNvSpPr/>
          <p:nvPr/>
        </p:nvSpPr>
        <p:spPr>
          <a:xfrm>
            <a:off x="5051197" y="4029159"/>
            <a:ext cx="983842" cy="1056232"/>
          </a:xfrm>
          <a:prstGeom prst="line">
            <a:avLst/>
          </a:prstGeom>
          <a:noFill/>
          <a:ln w="19050">
            <a:solidFill>
              <a:srgbClr val="DCE8D0"/>
            </a:solidFill>
            <a:prstDash val="solid"/>
          </a:ln>
        </p:spPr>
        <p:txBody>
          <a:bodyPr/>
          <a:lstStyle/>
          <a:p>
            <a:endParaRPr/>
          </a:p>
        </p:txBody>
      </p:sp>
      <p:sp>
        <p:nvSpPr>
          <p:cNvPr id="16" name="Shape 14"/>
          <p:cNvSpPr/>
          <p:nvPr/>
        </p:nvSpPr>
        <p:spPr>
          <a:xfrm>
            <a:off x="4467308" y="4501502"/>
            <a:ext cx="1167777" cy="1167777"/>
          </a:xfrm>
          <a:prstGeom prst="ellipse">
            <a:avLst/>
          </a:prstGeom>
          <a:solidFill>
            <a:srgbClr val="1F7A34"/>
          </a:solidFill>
          <a:ln/>
        </p:spPr>
        <p:txBody>
          <a:bodyPr/>
          <a:lstStyle/>
          <a:p>
            <a:endParaRPr/>
          </a:p>
        </p:txBody>
      </p:sp>
      <p:sp>
        <p:nvSpPr>
          <p:cNvPr id="17" name="Text 15"/>
          <p:cNvSpPr/>
          <p:nvPr/>
        </p:nvSpPr>
        <p:spPr>
          <a:xfrm>
            <a:off x="4467308" y="4501502"/>
            <a:ext cx="1167777" cy="1167777"/>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Vendor /</a:t>
            </a:r>
            <a:endParaRPr lang="en-US" sz="1000" dirty="0"/>
          </a:p>
          <a:p>
            <a:pPr marL="0" indent="0" algn="ctr">
              <a:buNone/>
            </a:pPr>
            <a:r>
              <a:rPr lang="en-US" sz="1000" b="1" dirty="0">
                <a:solidFill>
                  <a:srgbClr val="FFFFFF"/>
                </a:solidFill>
                <a:latin typeface="Cambria" pitchFamily="34" charset="0"/>
                <a:ea typeface="Cambria" pitchFamily="34" charset="-122"/>
                <a:cs typeface="Cambria" pitchFamily="34" charset="-120"/>
              </a:rPr>
              <a:t>Supplier</a:t>
            </a:r>
            <a:endParaRPr lang="en-US" sz="1000" dirty="0"/>
          </a:p>
        </p:txBody>
      </p:sp>
      <p:sp>
        <p:nvSpPr>
          <p:cNvPr id="18" name="Shape 16"/>
          <p:cNvSpPr/>
          <p:nvPr/>
        </p:nvSpPr>
        <p:spPr>
          <a:xfrm>
            <a:off x="4443148" y="3625714"/>
            <a:ext cx="1591891" cy="403445"/>
          </a:xfrm>
          <a:prstGeom prst="line">
            <a:avLst/>
          </a:prstGeom>
          <a:noFill/>
          <a:ln w="19050">
            <a:solidFill>
              <a:srgbClr val="DCE8D0"/>
            </a:solidFill>
            <a:prstDash val="solid"/>
          </a:ln>
        </p:spPr>
        <p:txBody>
          <a:bodyPr/>
          <a:lstStyle/>
          <a:p>
            <a:endParaRPr/>
          </a:p>
        </p:txBody>
      </p:sp>
      <p:sp>
        <p:nvSpPr>
          <p:cNvPr id="19" name="Shape 17"/>
          <p:cNvSpPr/>
          <p:nvPr/>
        </p:nvSpPr>
        <p:spPr>
          <a:xfrm>
            <a:off x="3859260" y="3041825"/>
            <a:ext cx="1167777" cy="1167777"/>
          </a:xfrm>
          <a:prstGeom prst="ellipse">
            <a:avLst/>
          </a:prstGeom>
          <a:solidFill>
            <a:srgbClr val="9FC41D"/>
          </a:solidFill>
          <a:ln/>
        </p:spPr>
        <p:txBody>
          <a:bodyPr/>
          <a:lstStyle/>
          <a:p>
            <a:endParaRPr/>
          </a:p>
        </p:txBody>
      </p:sp>
      <p:sp>
        <p:nvSpPr>
          <p:cNvPr id="20" name="Text 18"/>
          <p:cNvSpPr/>
          <p:nvPr/>
        </p:nvSpPr>
        <p:spPr>
          <a:xfrm>
            <a:off x="3859260" y="3041825"/>
            <a:ext cx="1167777" cy="1167777"/>
          </a:xfrm>
          <a:prstGeom prst="rect">
            <a:avLst/>
          </a:prstGeom>
          <a:noFill/>
          <a:ln/>
        </p:spPr>
        <p:txBody>
          <a:bodyPr wrap="square" lIns="0" tIns="0" rIns="0" bIns="0" rtlCol="0" anchor="ctr"/>
          <a:lstStyle/>
          <a:p>
            <a:pPr marL="0" indent="0" algn="ctr">
              <a:buNone/>
            </a:pPr>
            <a:r>
              <a:rPr lang="en-US" sz="1000" b="1" dirty="0">
                <a:solidFill>
                  <a:srgbClr val="FFFFFF"/>
                </a:solidFill>
                <a:latin typeface="Cambria" pitchFamily="34" charset="0"/>
                <a:ea typeface="Cambria" pitchFamily="34" charset="-122"/>
                <a:cs typeface="Cambria" pitchFamily="34" charset="-120"/>
              </a:rPr>
              <a:t>Regulator / Pihak</a:t>
            </a:r>
            <a:endParaRPr lang="en-US" sz="1000" dirty="0"/>
          </a:p>
          <a:p>
            <a:pPr marL="0" indent="0" algn="ctr">
              <a:buNone/>
            </a:pPr>
            <a:r>
              <a:rPr lang="en-US" sz="1000" b="1" dirty="0">
                <a:solidFill>
                  <a:srgbClr val="FFFFFF"/>
                </a:solidFill>
                <a:latin typeface="Cambria" pitchFamily="34" charset="0"/>
                <a:ea typeface="Cambria" pitchFamily="34" charset="-122"/>
                <a:cs typeface="Cambria" pitchFamily="34" charset="-120"/>
              </a:rPr>
              <a:t>Eksternal</a:t>
            </a:r>
            <a:endParaRPr lang="en-US" sz="1000" dirty="0"/>
          </a:p>
        </p:txBody>
      </p:sp>
      <p:sp>
        <p:nvSpPr>
          <p:cNvPr id="21" name="TextBox 20"/>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13/27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Apa Itu Siklus Hidup Proyek?</a:t>
            </a:r>
            <a:endParaRPr lang="en-US" sz="3200" dirty="0"/>
          </a:p>
        </p:txBody>
      </p:sp>
      <p:sp>
        <p:nvSpPr>
          <p:cNvPr id="4" name="Shape 2"/>
          <p:cNvSpPr/>
          <p:nvPr/>
        </p:nvSpPr>
        <p:spPr>
          <a:xfrm>
            <a:off x="1126078" y="2139696"/>
            <a:ext cx="9817923" cy="1622797"/>
          </a:xfrm>
          <a:prstGeom prst="roundRect">
            <a:avLst>
              <a:gd name="adj" fmla="val 6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450637" y="2342545"/>
            <a:ext cx="9168804" cy="1217097"/>
          </a:xfrm>
          <a:prstGeom prst="rect">
            <a:avLst/>
          </a:prstGeom>
          <a:noFill/>
          <a:ln/>
        </p:spPr>
        <p:txBody>
          <a:bodyPr wrap="square" lIns="0" tIns="0" rIns="0" bIns="0" rtlCol="0" anchor="ctr"/>
          <a:lstStyle/>
          <a:p>
            <a:pPr marL="0" indent="0">
              <a:lnSpc>
                <a:spcPct val="125000"/>
              </a:lnSpc>
              <a:buNone/>
            </a:pPr>
            <a:r>
              <a:rPr lang="en-US" sz="1800" i="1" dirty="0">
                <a:solidFill>
                  <a:srgbClr val="FFFFFF"/>
                </a:solidFill>
                <a:latin typeface="Cambria" pitchFamily="34" charset="0"/>
                <a:ea typeface="Cambria" pitchFamily="34" charset="-122"/>
                <a:cs typeface="Cambria" pitchFamily="34" charset="-120"/>
              </a:rPr>
              <a:t>“Rangkaian fase yang dilalui sebuah proyek, mulai dari awal hingga akhir, yang memberikan struktur dasar untuk mengelola proyek.”</a:t>
            </a:r>
            <a:endParaRPr lang="en-US" sz="1800" dirty="0"/>
          </a:p>
        </p:txBody>
      </p:sp>
      <p:sp>
        <p:nvSpPr>
          <p:cNvPr id="6" name="Text 4"/>
          <p:cNvSpPr/>
          <p:nvPr/>
        </p:nvSpPr>
        <p:spPr>
          <a:xfrm>
            <a:off x="1126078" y="4046482"/>
            <a:ext cx="9331084" cy="1622797"/>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Setiap fase memiliki tujuan, aktivitas utama, dan hasil (deliverable) tersendiri</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Fase-fase umumnya berurutan, meski beberapa dapat tumpang tindih</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Struktur ini membantu tim proyek fokus dan terorganisasi di setiap tahap</a:t>
            </a:r>
            <a:endParaRPr lang="en-US" sz="14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14/27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Pola Umum Biaya &amp; Intensitas Sumber Daya</a:t>
            </a:r>
            <a:endParaRPr lang="en-US" sz="3200" dirty="0"/>
          </a:p>
        </p:txBody>
      </p:sp>
      <p:pic>
        <p:nvPicPr>
          <p:cNvPr id="4" name="Picture 3" descr="chart_15.png"/>
          <p:cNvPicPr>
            <a:picLocks noChangeAspect="1"/>
          </p:cNvPicPr>
          <p:nvPr/>
        </p:nvPicPr>
        <p:blipFill>
          <a:blip r:embed="rId2"/>
          <a:stretch>
            <a:fillRect/>
          </a:stretch>
        </p:blipFill>
        <p:spPr>
          <a:xfrm>
            <a:off x="1392869" y="2139696"/>
            <a:ext cx="5831486" cy="3529584"/>
          </a:xfrm>
          <a:prstGeom prst="rect">
            <a:avLst/>
          </a:prstGeom>
        </p:spPr>
      </p:pic>
      <p:sp>
        <p:nvSpPr>
          <p:cNvPr id="7" name="Text 2"/>
          <p:cNvSpPr/>
          <p:nvPr/>
        </p:nvSpPr>
        <p:spPr>
          <a:xfrm>
            <a:off x="7454546" y="2293156"/>
            <a:ext cx="3222663" cy="306920"/>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Biaya &amp; Alokasi Sumber Daya</a:t>
            </a:r>
            <a:endParaRPr lang="en-US" sz="1300" dirty="0"/>
          </a:p>
        </p:txBody>
      </p:sp>
      <p:sp>
        <p:nvSpPr>
          <p:cNvPr id="5" name="Text 3"/>
          <p:cNvSpPr/>
          <p:nvPr/>
        </p:nvSpPr>
        <p:spPr>
          <a:xfrm>
            <a:off x="7454546" y="2715171"/>
            <a:ext cx="3222663" cy="2685553"/>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100" dirty="0">
                <a:solidFill>
                  <a:srgbClr val="1F7A34"/>
                </a:solidFill>
                <a:latin typeface="Calibri" pitchFamily="34" charset="0"/>
                <a:ea typeface="Calibri" pitchFamily="34" charset="-122"/>
                <a:cs typeface="Calibri" pitchFamily="34" charset="-120"/>
              </a:rPr>
              <a:t>Rendah pada fase Inisiasi — tim masih kecil, aktivitas bersifat perencanaan awal</a:t>
            </a:r>
            <a:endParaRPr lang="en-US" sz="1100" dirty="0"/>
          </a:p>
          <a:p>
            <a:pPr marL="228600" indent="-228600">
              <a:lnSpc>
                <a:spcPct val="115000"/>
              </a:lnSpc>
              <a:spcAft>
                <a:spcPts val="1400"/>
              </a:spcAft>
              <a:buSzPct val="100000"/>
              <a:buChar char="▪"/>
            </a:pPr>
            <a:r>
              <a:rPr lang="en-US" sz="1100" dirty="0">
                <a:solidFill>
                  <a:srgbClr val="1F7A34"/>
                </a:solidFill>
                <a:latin typeface="Calibri" pitchFamily="34" charset="0"/>
                <a:ea typeface="Calibri" pitchFamily="34" charset="-122"/>
                <a:cs typeface="Calibri" pitchFamily="34" charset="-120"/>
              </a:rPr>
              <a:t>Meningkat tajam saat Eksekusi — puncak kebutuhan tim dan anggaran</a:t>
            </a:r>
            <a:endParaRPr lang="en-US" sz="1100" dirty="0"/>
          </a:p>
          <a:p>
            <a:pPr marL="228600" indent="-228600">
              <a:lnSpc>
                <a:spcPct val="115000"/>
              </a:lnSpc>
              <a:spcAft>
                <a:spcPts val="1400"/>
              </a:spcAft>
              <a:buSzPct val="100000"/>
              <a:buChar char="▪"/>
            </a:pPr>
            <a:r>
              <a:rPr lang="en-US" sz="1100" dirty="0">
                <a:solidFill>
                  <a:srgbClr val="1F7A34"/>
                </a:solidFill>
                <a:latin typeface="Calibri" pitchFamily="34" charset="0"/>
                <a:ea typeface="Calibri" pitchFamily="34" charset="-122"/>
                <a:cs typeface="Calibri" pitchFamily="34" charset="-120"/>
              </a:rPr>
              <a:t>Menurun bertahap menjelang Penutupan proyek</a:t>
            </a:r>
            <a:endParaRPr lang="en-US" sz="1100" dirty="0"/>
          </a:p>
        </p:txBody>
      </p:sp>
      <p:sp>
        <p:nvSpPr>
          <p:cNvPr id="6" name="TextBox 5"/>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15/27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Lima Fase Siklus Hidup Proyek (PMBOK)</a:t>
            </a:r>
            <a:endParaRPr lang="en-US" sz="3200" dirty="0"/>
          </a:p>
        </p:txBody>
      </p:sp>
      <p:sp>
        <p:nvSpPr>
          <p:cNvPr id="4" name="Shape 2"/>
          <p:cNvSpPr/>
          <p:nvPr/>
        </p:nvSpPr>
        <p:spPr>
          <a:xfrm>
            <a:off x="2413795" y="4191036"/>
            <a:ext cx="879146" cy="0"/>
          </a:xfrm>
          <a:prstGeom prst="line">
            <a:avLst/>
          </a:prstGeom>
          <a:noFill/>
          <a:ln w="31750">
            <a:solidFill>
              <a:srgbClr val="9FC41D"/>
            </a:solidFill>
            <a:prstDash val="solid"/>
            <a:tailEnd type="triangle"/>
          </a:ln>
        </p:spPr>
        <p:txBody>
          <a:bodyPr/>
          <a:lstStyle/>
          <a:p>
            <a:endParaRPr/>
          </a:p>
        </p:txBody>
      </p:sp>
      <p:sp>
        <p:nvSpPr>
          <p:cNvPr id="5" name="Shape 3"/>
          <p:cNvSpPr/>
          <p:nvPr/>
        </p:nvSpPr>
        <p:spPr>
          <a:xfrm>
            <a:off x="4548864" y="4191036"/>
            <a:ext cx="879146" cy="0"/>
          </a:xfrm>
          <a:prstGeom prst="line">
            <a:avLst/>
          </a:prstGeom>
          <a:noFill/>
          <a:ln w="31750">
            <a:solidFill>
              <a:srgbClr val="9FC41D"/>
            </a:solidFill>
            <a:prstDash val="solid"/>
            <a:tailEnd type="triangle"/>
          </a:ln>
        </p:spPr>
        <p:txBody>
          <a:bodyPr/>
          <a:lstStyle/>
          <a:p>
            <a:endParaRPr/>
          </a:p>
        </p:txBody>
      </p:sp>
      <p:sp>
        <p:nvSpPr>
          <p:cNvPr id="6" name="Shape 4"/>
          <p:cNvSpPr/>
          <p:nvPr/>
        </p:nvSpPr>
        <p:spPr>
          <a:xfrm>
            <a:off x="6683933" y="4191036"/>
            <a:ext cx="879146" cy="0"/>
          </a:xfrm>
          <a:prstGeom prst="line">
            <a:avLst/>
          </a:prstGeom>
          <a:noFill/>
          <a:ln w="31750">
            <a:solidFill>
              <a:srgbClr val="9FC41D"/>
            </a:solidFill>
            <a:prstDash val="solid"/>
            <a:tailEnd type="triangle"/>
          </a:ln>
        </p:spPr>
        <p:txBody>
          <a:bodyPr/>
          <a:lstStyle/>
          <a:p>
            <a:endParaRPr/>
          </a:p>
        </p:txBody>
      </p:sp>
      <p:sp>
        <p:nvSpPr>
          <p:cNvPr id="7" name="Shape 5"/>
          <p:cNvSpPr/>
          <p:nvPr/>
        </p:nvSpPr>
        <p:spPr>
          <a:xfrm>
            <a:off x="8819002" y="4191036"/>
            <a:ext cx="879146" cy="0"/>
          </a:xfrm>
          <a:prstGeom prst="line">
            <a:avLst/>
          </a:prstGeom>
          <a:noFill/>
          <a:ln w="31750">
            <a:solidFill>
              <a:srgbClr val="9FC41D"/>
            </a:solidFill>
            <a:prstDash val="solid"/>
            <a:tailEnd type="triangle"/>
          </a:ln>
        </p:spPr>
        <p:txBody>
          <a:bodyPr/>
          <a:lstStyle/>
          <a:p>
            <a:endParaRPr/>
          </a:p>
        </p:txBody>
      </p:sp>
      <p:sp>
        <p:nvSpPr>
          <p:cNvPr id="8" name="Shape 6"/>
          <p:cNvSpPr/>
          <p:nvPr/>
        </p:nvSpPr>
        <p:spPr>
          <a:xfrm>
            <a:off x="1157872" y="3563075"/>
            <a:ext cx="1255922" cy="1255922"/>
          </a:xfrm>
          <a:prstGeom prst="ellipse">
            <a:avLst/>
          </a:prstGeom>
          <a:solidFill>
            <a:srgbClr val="006633"/>
          </a:solidFill>
          <a:ln/>
        </p:spPr>
        <p:txBody>
          <a:bodyPr/>
          <a:lstStyle/>
          <a:p>
            <a:endParaRPr/>
          </a:p>
        </p:txBody>
      </p:sp>
      <p:sp>
        <p:nvSpPr>
          <p:cNvPr id="9" name="Text 7"/>
          <p:cNvSpPr/>
          <p:nvPr/>
        </p:nvSpPr>
        <p:spPr>
          <a:xfrm>
            <a:off x="1157872" y="3563075"/>
            <a:ext cx="1255922" cy="1255922"/>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1</a:t>
            </a:r>
            <a:endParaRPr lang="en-US" sz="2700" dirty="0"/>
          </a:p>
        </p:txBody>
      </p:sp>
      <p:sp>
        <p:nvSpPr>
          <p:cNvPr id="10" name="Text 8"/>
          <p:cNvSpPr/>
          <p:nvPr/>
        </p:nvSpPr>
        <p:spPr>
          <a:xfrm>
            <a:off x="864824" y="4944590"/>
            <a:ext cx="1842020" cy="669825"/>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Inisiasi</a:t>
            </a:r>
            <a:endParaRPr lang="en-US" sz="1200" dirty="0"/>
          </a:p>
        </p:txBody>
      </p:sp>
      <p:sp>
        <p:nvSpPr>
          <p:cNvPr id="11" name="Shape 9"/>
          <p:cNvSpPr/>
          <p:nvPr/>
        </p:nvSpPr>
        <p:spPr>
          <a:xfrm>
            <a:off x="3292941" y="3563075"/>
            <a:ext cx="1255922" cy="1255922"/>
          </a:xfrm>
          <a:prstGeom prst="ellipse">
            <a:avLst/>
          </a:prstGeom>
          <a:solidFill>
            <a:srgbClr val="006633"/>
          </a:solidFill>
          <a:ln/>
        </p:spPr>
        <p:txBody>
          <a:bodyPr/>
          <a:lstStyle/>
          <a:p>
            <a:endParaRPr/>
          </a:p>
        </p:txBody>
      </p:sp>
      <p:sp>
        <p:nvSpPr>
          <p:cNvPr id="12" name="Text 10"/>
          <p:cNvSpPr/>
          <p:nvPr/>
        </p:nvSpPr>
        <p:spPr>
          <a:xfrm>
            <a:off x="3292941" y="3563075"/>
            <a:ext cx="1255922" cy="1255922"/>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2</a:t>
            </a:r>
            <a:endParaRPr lang="en-US" sz="2700" dirty="0"/>
          </a:p>
        </p:txBody>
      </p:sp>
      <p:sp>
        <p:nvSpPr>
          <p:cNvPr id="13" name="Text 11"/>
          <p:cNvSpPr/>
          <p:nvPr/>
        </p:nvSpPr>
        <p:spPr>
          <a:xfrm>
            <a:off x="2999893" y="4944590"/>
            <a:ext cx="1842020" cy="669825"/>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Perencanaan</a:t>
            </a:r>
            <a:endParaRPr lang="en-US" sz="1200" dirty="0"/>
          </a:p>
        </p:txBody>
      </p:sp>
      <p:sp>
        <p:nvSpPr>
          <p:cNvPr id="14" name="Shape 12"/>
          <p:cNvSpPr/>
          <p:nvPr/>
        </p:nvSpPr>
        <p:spPr>
          <a:xfrm>
            <a:off x="5428010" y="3563075"/>
            <a:ext cx="1255922" cy="1255922"/>
          </a:xfrm>
          <a:prstGeom prst="ellipse">
            <a:avLst/>
          </a:prstGeom>
          <a:solidFill>
            <a:srgbClr val="9FC41D"/>
          </a:solidFill>
          <a:ln/>
        </p:spPr>
        <p:txBody>
          <a:bodyPr/>
          <a:lstStyle/>
          <a:p>
            <a:endParaRPr/>
          </a:p>
        </p:txBody>
      </p:sp>
      <p:sp>
        <p:nvSpPr>
          <p:cNvPr id="15" name="Text 13"/>
          <p:cNvSpPr/>
          <p:nvPr/>
        </p:nvSpPr>
        <p:spPr>
          <a:xfrm>
            <a:off x="5428010" y="3563075"/>
            <a:ext cx="1255922" cy="1255922"/>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3</a:t>
            </a:r>
            <a:endParaRPr lang="en-US" sz="2700" dirty="0"/>
          </a:p>
        </p:txBody>
      </p:sp>
      <p:sp>
        <p:nvSpPr>
          <p:cNvPr id="16" name="Text 14"/>
          <p:cNvSpPr/>
          <p:nvPr/>
        </p:nvSpPr>
        <p:spPr>
          <a:xfrm>
            <a:off x="5134961" y="4944590"/>
            <a:ext cx="1842020" cy="669825"/>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Eksekusi</a:t>
            </a:r>
            <a:endParaRPr lang="en-US" sz="1200" dirty="0"/>
          </a:p>
        </p:txBody>
      </p:sp>
      <p:sp>
        <p:nvSpPr>
          <p:cNvPr id="17" name="Shape 15"/>
          <p:cNvSpPr/>
          <p:nvPr/>
        </p:nvSpPr>
        <p:spPr>
          <a:xfrm>
            <a:off x="7563079" y="3563075"/>
            <a:ext cx="1255922" cy="1255922"/>
          </a:xfrm>
          <a:prstGeom prst="ellipse">
            <a:avLst/>
          </a:prstGeom>
          <a:solidFill>
            <a:srgbClr val="006633"/>
          </a:solidFill>
          <a:ln/>
        </p:spPr>
        <p:txBody>
          <a:bodyPr/>
          <a:lstStyle/>
          <a:p>
            <a:endParaRPr/>
          </a:p>
        </p:txBody>
      </p:sp>
      <p:sp>
        <p:nvSpPr>
          <p:cNvPr id="18" name="Text 16"/>
          <p:cNvSpPr/>
          <p:nvPr/>
        </p:nvSpPr>
        <p:spPr>
          <a:xfrm>
            <a:off x="7563079" y="3563075"/>
            <a:ext cx="1255922" cy="1255922"/>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4</a:t>
            </a:r>
            <a:endParaRPr lang="en-US" sz="2700" dirty="0"/>
          </a:p>
        </p:txBody>
      </p:sp>
      <p:sp>
        <p:nvSpPr>
          <p:cNvPr id="19" name="Text 17"/>
          <p:cNvSpPr/>
          <p:nvPr/>
        </p:nvSpPr>
        <p:spPr>
          <a:xfrm>
            <a:off x="7270030" y="4944590"/>
            <a:ext cx="1842020" cy="669825"/>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Monitoring &amp;</a:t>
            </a:r>
            <a:endParaRPr lang="en-US" sz="1200" dirty="0"/>
          </a:p>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Pengendalian</a:t>
            </a:r>
            <a:endParaRPr lang="en-US" sz="1200" dirty="0"/>
          </a:p>
        </p:txBody>
      </p:sp>
      <p:sp>
        <p:nvSpPr>
          <p:cNvPr id="20" name="Shape 18"/>
          <p:cNvSpPr/>
          <p:nvPr/>
        </p:nvSpPr>
        <p:spPr>
          <a:xfrm>
            <a:off x="9698148" y="3563075"/>
            <a:ext cx="1255922" cy="1255922"/>
          </a:xfrm>
          <a:prstGeom prst="ellipse">
            <a:avLst/>
          </a:prstGeom>
          <a:solidFill>
            <a:srgbClr val="006633"/>
          </a:solidFill>
          <a:ln/>
        </p:spPr>
        <p:txBody>
          <a:bodyPr/>
          <a:lstStyle/>
          <a:p>
            <a:endParaRPr/>
          </a:p>
        </p:txBody>
      </p:sp>
      <p:sp>
        <p:nvSpPr>
          <p:cNvPr id="21" name="Text 19"/>
          <p:cNvSpPr/>
          <p:nvPr/>
        </p:nvSpPr>
        <p:spPr>
          <a:xfrm>
            <a:off x="9698148" y="3563075"/>
            <a:ext cx="1255922" cy="1255922"/>
          </a:xfrm>
          <a:prstGeom prst="rect">
            <a:avLst/>
          </a:prstGeom>
          <a:noFill/>
          <a:ln/>
        </p:spPr>
        <p:txBody>
          <a:bodyPr wrap="square" lIns="0" tIns="0" rIns="0" bIns="0" rtlCol="0" anchor="ctr"/>
          <a:lstStyle/>
          <a:p>
            <a:pPr marL="0" indent="0" algn="ctr">
              <a:buNone/>
            </a:pPr>
            <a:r>
              <a:rPr lang="en-US" sz="2700" b="1" dirty="0">
                <a:solidFill>
                  <a:srgbClr val="FFFFFF"/>
                </a:solidFill>
                <a:latin typeface="Cambria" pitchFamily="34" charset="0"/>
                <a:ea typeface="Cambria" pitchFamily="34" charset="-122"/>
                <a:cs typeface="Cambria" pitchFamily="34" charset="-120"/>
              </a:rPr>
              <a:t>5</a:t>
            </a:r>
            <a:endParaRPr lang="en-US" sz="2700" dirty="0"/>
          </a:p>
        </p:txBody>
      </p:sp>
      <p:sp>
        <p:nvSpPr>
          <p:cNvPr id="22" name="Text 20"/>
          <p:cNvSpPr/>
          <p:nvPr/>
        </p:nvSpPr>
        <p:spPr>
          <a:xfrm>
            <a:off x="9405099" y="4944590"/>
            <a:ext cx="1842020" cy="669825"/>
          </a:xfrm>
          <a:prstGeom prst="rect">
            <a:avLst/>
          </a:prstGeom>
          <a:noFill/>
          <a:ln/>
        </p:spPr>
        <p:txBody>
          <a:bodyPr wrap="square" lIns="0" tIns="0" rIns="0" bIns="0" rtlCol="0" anchor="ctr"/>
          <a:lstStyle/>
          <a:p>
            <a:pPr marL="0" indent="0" algn="ctr">
              <a:lnSpc>
                <a:spcPct val="110000"/>
              </a:lnSpc>
              <a:buNone/>
            </a:pPr>
            <a:r>
              <a:rPr lang="en-US" sz="1200" b="1" dirty="0">
                <a:solidFill>
                  <a:srgbClr val="006633"/>
                </a:solidFill>
                <a:latin typeface="Calibri" pitchFamily="34" charset="0"/>
                <a:ea typeface="Calibri" pitchFamily="34" charset="-122"/>
                <a:cs typeface="Calibri" pitchFamily="34" charset="-120"/>
              </a:rPr>
              <a:t>Penutupan</a:t>
            </a:r>
            <a:endParaRPr lang="en-US" sz="1200" dirty="0"/>
          </a:p>
        </p:txBody>
      </p:sp>
      <p:sp>
        <p:nvSpPr>
          <p:cNvPr id="23" name="Text 21"/>
          <p:cNvSpPr/>
          <p:nvPr/>
        </p:nvSpPr>
        <p:spPr>
          <a:xfrm>
            <a:off x="822960" y="2139696"/>
            <a:ext cx="10047383" cy="502369"/>
          </a:xfrm>
          <a:prstGeom prst="rect">
            <a:avLst/>
          </a:prstGeom>
          <a:noFill/>
          <a:ln/>
        </p:spPr>
        <p:txBody>
          <a:bodyPr wrap="square" lIns="0" tIns="0" rIns="0" bIns="0" rtlCol="0" anchor="ctr"/>
          <a:lstStyle/>
          <a:p>
            <a:pPr marL="0" indent="0">
              <a:buNone/>
            </a:pPr>
            <a:r>
              <a:rPr lang="en-US" sz="1400" i="1" dirty="0">
                <a:solidFill>
                  <a:srgbClr val="1F7A34"/>
                </a:solidFill>
                <a:latin typeface="Calibri" pitchFamily="34" charset="0"/>
                <a:ea typeface="Calibri" pitchFamily="34" charset="-122"/>
                <a:cs typeface="Calibri" pitchFamily="34" charset="-120"/>
              </a:rPr>
              <a:t>Kelima fase ini berlaku umum untuk hampir semua jenis proyek TI — dari skala kecil hingga besar.</a:t>
            </a:r>
            <a:endParaRPr lang="en-US" sz="1400" dirty="0"/>
          </a:p>
        </p:txBody>
      </p:sp>
      <p:sp>
        <p:nvSpPr>
          <p:cNvPr id="24" name="TextBox 23"/>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16/27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Fase 1 — Inisiasi (Initiating)</a:t>
            </a:r>
            <a:endParaRPr lang="en-US" sz="2800" dirty="0"/>
          </a:p>
        </p:txBody>
      </p:sp>
      <p:sp>
        <p:nvSpPr>
          <p:cNvPr id="4" name="Shape 2"/>
          <p:cNvSpPr/>
          <p:nvPr/>
        </p:nvSpPr>
        <p:spPr>
          <a:xfrm>
            <a:off x="1207218" y="2139696"/>
            <a:ext cx="1298237" cy="1298237"/>
          </a:xfrm>
          <a:prstGeom prst="ellipse">
            <a:avLst/>
          </a:prstGeom>
          <a:solidFill>
            <a:srgbClr val="9FC41D"/>
          </a:solidFill>
          <a:ln/>
        </p:spPr>
        <p:txBody>
          <a:bodyPr/>
          <a:lstStyle/>
          <a:p>
            <a:endParaRPr/>
          </a:p>
        </p:txBody>
      </p:sp>
      <p:sp>
        <p:nvSpPr>
          <p:cNvPr id="5" name="Text 3"/>
          <p:cNvSpPr/>
          <p:nvPr/>
        </p:nvSpPr>
        <p:spPr>
          <a:xfrm>
            <a:off x="1207218" y="2139696"/>
            <a:ext cx="1298237" cy="1298237"/>
          </a:xfrm>
          <a:prstGeom prst="rect">
            <a:avLst/>
          </a:prstGeom>
          <a:noFill/>
          <a:ln/>
        </p:spPr>
        <p:txBody>
          <a:bodyPr wrap="square" lIns="0" tIns="0" rIns="0" bIns="0" rtlCol="0" anchor="ctr"/>
          <a:lstStyle/>
          <a:p>
            <a:pPr marL="0" indent="0" algn="ctr">
              <a:buNone/>
            </a:pPr>
            <a:r>
              <a:rPr lang="en-US" sz="3900" b="1" dirty="0">
                <a:solidFill>
                  <a:srgbClr val="FFFFFF"/>
                </a:solidFill>
                <a:latin typeface="Cambria" pitchFamily="34" charset="0"/>
                <a:ea typeface="Cambria" pitchFamily="34" charset="-122"/>
                <a:cs typeface="Cambria" pitchFamily="34" charset="-120"/>
              </a:rPr>
              <a:t>1</a:t>
            </a:r>
            <a:endParaRPr lang="en-US" sz="3900" dirty="0"/>
          </a:p>
        </p:txBody>
      </p:sp>
      <p:sp>
        <p:nvSpPr>
          <p:cNvPr id="6" name="Text 4"/>
          <p:cNvSpPr/>
          <p:nvPr/>
        </p:nvSpPr>
        <p:spPr>
          <a:xfrm>
            <a:off x="2830015" y="2220835"/>
            <a:ext cx="8032846" cy="235305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Mendefinisikan tujuan dan kelayakan proyek secara garis besar</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Mengidentifikasi stakeholder awal dan kebutuhan utama</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Memberikan otorisasi resmi agar proyek dapat dimulai</a:t>
            </a:r>
            <a:endParaRPr lang="en-US" sz="1400" dirty="0"/>
          </a:p>
        </p:txBody>
      </p:sp>
      <p:sp>
        <p:nvSpPr>
          <p:cNvPr id="7" name="Shape 5"/>
          <p:cNvSpPr/>
          <p:nvPr/>
        </p:nvSpPr>
        <p:spPr>
          <a:xfrm>
            <a:off x="2830015" y="4736171"/>
            <a:ext cx="8032846" cy="933108"/>
          </a:xfrm>
          <a:prstGeom prst="roundRect">
            <a:avLst>
              <a:gd name="adj" fmla="val 10435"/>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3114004" y="4874109"/>
            <a:ext cx="3245594" cy="243419"/>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HASIL (DELIVERABLE)</a:t>
            </a:r>
            <a:endParaRPr lang="en-US" sz="1000" dirty="0"/>
          </a:p>
        </p:txBody>
      </p:sp>
      <p:sp>
        <p:nvSpPr>
          <p:cNvPr id="9" name="Text 7"/>
          <p:cNvSpPr/>
          <p:nvPr/>
        </p:nvSpPr>
        <p:spPr>
          <a:xfrm>
            <a:off x="3114004" y="5101300"/>
            <a:ext cx="7464867" cy="486839"/>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Project Charter</a:t>
            </a:r>
            <a:endParaRPr lang="en-US" sz="15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17/27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Fase 2 — Perencanaan (Planning)</a:t>
            </a:r>
            <a:endParaRPr lang="en-US" sz="2800" dirty="0"/>
          </a:p>
        </p:txBody>
      </p:sp>
      <p:sp>
        <p:nvSpPr>
          <p:cNvPr id="4" name="Shape 2"/>
          <p:cNvSpPr/>
          <p:nvPr/>
        </p:nvSpPr>
        <p:spPr>
          <a:xfrm>
            <a:off x="1207218" y="2139696"/>
            <a:ext cx="1298237" cy="1298237"/>
          </a:xfrm>
          <a:prstGeom prst="ellipse">
            <a:avLst/>
          </a:prstGeom>
          <a:solidFill>
            <a:srgbClr val="9FC41D"/>
          </a:solidFill>
          <a:ln/>
        </p:spPr>
        <p:txBody>
          <a:bodyPr/>
          <a:lstStyle/>
          <a:p>
            <a:endParaRPr/>
          </a:p>
        </p:txBody>
      </p:sp>
      <p:sp>
        <p:nvSpPr>
          <p:cNvPr id="5" name="Text 3"/>
          <p:cNvSpPr/>
          <p:nvPr/>
        </p:nvSpPr>
        <p:spPr>
          <a:xfrm>
            <a:off x="1207218" y="2139696"/>
            <a:ext cx="1298237" cy="1298237"/>
          </a:xfrm>
          <a:prstGeom prst="rect">
            <a:avLst/>
          </a:prstGeom>
          <a:noFill/>
          <a:ln/>
        </p:spPr>
        <p:txBody>
          <a:bodyPr wrap="square" lIns="0" tIns="0" rIns="0" bIns="0" rtlCol="0" anchor="ctr"/>
          <a:lstStyle/>
          <a:p>
            <a:pPr marL="0" indent="0" algn="ctr">
              <a:buNone/>
            </a:pPr>
            <a:r>
              <a:rPr lang="en-US" sz="3900" b="1" dirty="0">
                <a:solidFill>
                  <a:srgbClr val="FFFFFF"/>
                </a:solidFill>
                <a:latin typeface="Cambria" pitchFamily="34" charset="0"/>
                <a:ea typeface="Cambria" pitchFamily="34" charset="-122"/>
                <a:cs typeface="Cambria" pitchFamily="34" charset="-120"/>
              </a:rPr>
              <a:t>2</a:t>
            </a:r>
            <a:endParaRPr lang="en-US" sz="3900" dirty="0"/>
          </a:p>
        </p:txBody>
      </p:sp>
      <p:sp>
        <p:nvSpPr>
          <p:cNvPr id="6" name="Text 4"/>
          <p:cNvSpPr/>
          <p:nvPr/>
        </p:nvSpPr>
        <p:spPr>
          <a:xfrm>
            <a:off x="2830015" y="2220835"/>
            <a:ext cx="8032846" cy="235305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Menyusun ruang lingkup (scope) dan Work Breakdown Structure (WBS)</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Menyusun jadwal, estimasi biaya, dan rencana mutu proyek</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Menyusun rencana manajemen risiko, komunikasi, dan pengadaan</a:t>
            </a:r>
            <a:endParaRPr lang="en-US" sz="1400" dirty="0"/>
          </a:p>
        </p:txBody>
      </p:sp>
      <p:sp>
        <p:nvSpPr>
          <p:cNvPr id="7" name="Shape 5"/>
          <p:cNvSpPr/>
          <p:nvPr/>
        </p:nvSpPr>
        <p:spPr>
          <a:xfrm>
            <a:off x="2830015" y="4736171"/>
            <a:ext cx="8032846" cy="933108"/>
          </a:xfrm>
          <a:prstGeom prst="roundRect">
            <a:avLst>
              <a:gd name="adj" fmla="val 10435"/>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3114004" y="4874109"/>
            <a:ext cx="3245594" cy="243419"/>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HASIL (DELIVERABLE)</a:t>
            </a:r>
            <a:endParaRPr lang="en-US" sz="1000" dirty="0"/>
          </a:p>
        </p:txBody>
      </p:sp>
      <p:sp>
        <p:nvSpPr>
          <p:cNvPr id="9" name="Text 7"/>
          <p:cNvSpPr/>
          <p:nvPr/>
        </p:nvSpPr>
        <p:spPr>
          <a:xfrm>
            <a:off x="3114004" y="5101300"/>
            <a:ext cx="7464867" cy="486839"/>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Project Management Plan</a:t>
            </a:r>
            <a:endParaRPr lang="en-US" sz="15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18/27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Fase 3 — Eksekusi (Executing)</a:t>
            </a:r>
            <a:endParaRPr lang="en-US" sz="2800" dirty="0"/>
          </a:p>
        </p:txBody>
      </p:sp>
      <p:sp>
        <p:nvSpPr>
          <p:cNvPr id="4" name="Shape 2"/>
          <p:cNvSpPr/>
          <p:nvPr/>
        </p:nvSpPr>
        <p:spPr>
          <a:xfrm>
            <a:off x="1207218" y="2139696"/>
            <a:ext cx="1298237" cy="1298237"/>
          </a:xfrm>
          <a:prstGeom prst="ellipse">
            <a:avLst/>
          </a:prstGeom>
          <a:solidFill>
            <a:srgbClr val="9FC41D"/>
          </a:solidFill>
          <a:ln/>
        </p:spPr>
        <p:txBody>
          <a:bodyPr/>
          <a:lstStyle/>
          <a:p>
            <a:endParaRPr/>
          </a:p>
        </p:txBody>
      </p:sp>
      <p:sp>
        <p:nvSpPr>
          <p:cNvPr id="5" name="Text 3"/>
          <p:cNvSpPr/>
          <p:nvPr/>
        </p:nvSpPr>
        <p:spPr>
          <a:xfrm>
            <a:off x="1207218" y="2139696"/>
            <a:ext cx="1298237" cy="1298237"/>
          </a:xfrm>
          <a:prstGeom prst="rect">
            <a:avLst/>
          </a:prstGeom>
          <a:noFill/>
          <a:ln/>
        </p:spPr>
        <p:txBody>
          <a:bodyPr wrap="square" lIns="0" tIns="0" rIns="0" bIns="0" rtlCol="0" anchor="ctr"/>
          <a:lstStyle/>
          <a:p>
            <a:pPr marL="0" indent="0" algn="ctr">
              <a:buNone/>
            </a:pPr>
            <a:r>
              <a:rPr lang="en-US" sz="3900" b="1" dirty="0">
                <a:solidFill>
                  <a:srgbClr val="FFFFFF"/>
                </a:solidFill>
                <a:latin typeface="Cambria" pitchFamily="34" charset="0"/>
                <a:ea typeface="Cambria" pitchFamily="34" charset="-122"/>
                <a:cs typeface="Cambria" pitchFamily="34" charset="-120"/>
              </a:rPr>
              <a:t>3</a:t>
            </a:r>
            <a:endParaRPr lang="en-US" sz="3900" dirty="0"/>
          </a:p>
        </p:txBody>
      </p:sp>
      <p:sp>
        <p:nvSpPr>
          <p:cNvPr id="6" name="Text 4"/>
          <p:cNvSpPr/>
          <p:nvPr/>
        </p:nvSpPr>
        <p:spPr>
          <a:xfrm>
            <a:off x="2830015" y="2220835"/>
            <a:ext cx="8032846" cy="235305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Melaksanakan pekerjaan sesuai dengan rencana yang disusun</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Mengoordinasikan tim, sumber daya, dan vendor proyek</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Mengelola komunikasi dan ekspektasi stakeholder</a:t>
            </a:r>
            <a:endParaRPr lang="en-US" sz="1400" dirty="0"/>
          </a:p>
        </p:txBody>
      </p:sp>
      <p:sp>
        <p:nvSpPr>
          <p:cNvPr id="7" name="Shape 5"/>
          <p:cNvSpPr/>
          <p:nvPr/>
        </p:nvSpPr>
        <p:spPr>
          <a:xfrm>
            <a:off x="2830015" y="4736171"/>
            <a:ext cx="8032846" cy="933108"/>
          </a:xfrm>
          <a:prstGeom prst="roundRect">
            <a:avLst>
              <a:gd name="adj" fmla="val 10435"/>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3114004" y="4874109"/>
            <a:ext cx="3245594" cy="243419"/>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HASIL (DELIVERABLE)</a:t>
            </a:r>
            <a:endParaRPr lang="en-US" sz="1000" dirty="0"/>
          </a:p>
        </p:txBody>
      </p:sp>
      <p:sp>
        <p:nvSpPr>
          <p:cNvPr id="9" name="Text 7"/>
          <p:cNvSpPr/>
          <p:nvPr/>
        </p:nvSpPr>
        <p:spPr>
          <a:xfrm>
            <a:off x="3114004" y="5101300"/>
            <a:ext cx="7464867" cy="486839"/>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Deliverable / Hasil Kerja Proyek</a:t>
            </a:r>
            <a:endParaRPr lang="en-US" sz="15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19/27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Fase 4 — Monitoring &amp; Pengendalian (Monitoring &amp; Controlling)</a:t>
            </a:r>
            <a:endParaRPr lang="en-US" sz="2800" dirty="0"/>
          </a:p>
        </p:txBody>
      </p:sp>
      <p:sp>
        <p:nvSpPr>
          <p:cNvPr id="4" name="Shape 2"/>
          <p:cNvSpPr/>
          <p:nvPr/>
        </p:nvSpPr>
        <p:spPr>
          <a:xfrm>
            <a:off x="1207218" y="2139696"/>
            <a:ext cx="1298237" cy="1298237"/>
          </a:xfrm>
          <a:prstGeom prst="ellipse">
            <a:avLst/>
          </a:prstGeom>
          <a:solidFill>
            <a:srgbClr val="9FC41D"/>
          </a:solidFill>
          <a:ln/>
        </p:spPr>
        <p:txBody>
          <a:bodyPr/>
          <a:lstStyle/>
          <a:p>
            <a:endParaRPr/>
          </a:p>
        </p:txBody>
      </p:sp>
      <p:sp>
        <p:nvSpPr>
          <p:cNvPr id="5" name="Text 3"/>
          <p:cNvSpPr/>
          <p:nvPr/>
        </p:nvSpPr>
        <p:spPr>
          <a:xfrm>
            <a:off x="1207218" y="2139696"/>
            <a:ext cx="1298237" cy="1298237"/>
          </a:xfrm>
          <a:prstGeom prst="rect">
            <a:avLst/>
          </a:prstGeom>
          <a:noFill/>
          <a:ln/>
        </p:spPr>
        <p:txBody>
          <a:bodyPr wrap="square" lIns="0" tIns="0" rIns="0" bIns="0" rtlCol="0" anchor="ctr"/>
          <a:lstStyle/>
          <a:p>
            <a:pPr marL="0" indent="0" algn="ctr">
              <a:buNone/>
            </a:pPr>
            <a:r>
              <a:rPr lang="en-US" sz="3900" b="1" dirty="0">
                <a:solidFill>
                  <a:srgbClr val="FFFFFF"/>
                </a:solidFill>
                <a:latin typeface="Cambria" pitchFamily="34" charset="0"/>
                <a:ea typeface="Cambria" pitchFamily="34" charset="-122"/>
                <a:cs typeface="Cambria" pitchFamily="34" charset="-120"/>
              </a:rPr>
              <a:t>4</a:t>
            </a:r>
            <a:endParaRPr lang="en-US" sz="3900" dirty="0"/>
          </a:p>
        </p:txBody>
      </p:sp>
      <p:sp>
        <p:nvSpPr>
          <p:cNvPr id="6" name="Text 4"/>
          <p:cNvSpPr/>
          <p:nvPr/>
        </p:nvSpPr>
        <p:spPr>
          <a:xfrm>
            <a:off x="2830015" y="2220835"/>
            <a:ext cx="8032846" cy="235305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Memantau kemajuan proyek dibandingkan rencana (jadwal &amp; biaya)</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Mengendalikan perubahan (change control) secara terstruktur</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Mengambil tindakan korektif ketika terjadi penyimpangan</a:t>
            </a:r>
            <a:endParaRPr lang="en-US" sz="1400" dirty="0"/>
          </a:p>
        </p:txBody>
      </p:sp>
      <p:sp>
        <p:nvSpPr>
          <p:cNvPr id="7" name="Shape 5"/>
          <p:cNvSpPr/>
          <p:nvPr/>
        </p:nvSpPr>
        <p:spPr>
          <a:xfrm>
            <a:off x="2830015" y="4736171"/>
            <a:ext cx="8032846" cy="933108"/>
          </a:xfrm>
          <a:prstGeom prst="roundRect">
            <a:avLst>
              <a:gd name="adj" fmla="val 10435"/>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3114004" y="4874109"/>
            <a:ext cx="3245594" cy="243419"/>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HASIL (DELIVERABLE)</a:t>
            </a:r>
            <a:endParaRPr lang="en-US" sz="1000" dirty="0"/>
          </a:p>
        </p:txBody>
      </p:sp>
      <p:sp>
        <p:nvSpPr>
          <p:cNvPr id="9" name="Text 7"/>
          <p:cNvSpPr/>
          <p:nvPr/>
        </p:nvSpPr>
        <p:spPr>
          <a:xfrm>
            <a:off x="3114004" y="5101300"/>
            <a:ext cx="7464867" cy="486839"/>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Laporan Kinerja Proyek</a:t>
            </a:r>
            <a:endParaRPr lang="en-US" sz="15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20/27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Fase 5 — Penutupan (Closing)</a:t>
            </a:r>
            <a:endParaRPr lang="en-US" sz="2800" dirty="0"/>
          </a:p>
        </p:txBody>
      </p:sp>
      <p:sp>
        <p:nvSpPr>
          <p:cNvPr id="4" name="Shape 2"/>
          <p:cNvSpPr/>
          <p:nvPr/>
        </p:nvSpPr>
        <p:spPr>
          <a:xfrm>
            <a:off x="1207218" y="2139696"/>
            <a:ext cx="1298237" cy="1298237"/>
          </a:xfrm>
          <a:prstGeom prst="ellipse">
            <a:avLst/>
          </a:prstGeom>
          <a:solidFill>
            <a:srgbClr val="9FC41D"/>
          </a:solidFill>
          <a:ln/>
        </p:spPr>
        <p:txBody>
          <a:bodyPr/>
          <a:lstStyle/>
          <a:p>
            <a:endParaRPr/>
          </a:p>
        </p:txBody>
      </p:sp>
      <p:sp>
        <p:nvSpPr>
          <p:cNvPr id="5" name="Text 3"/>
          <p:cNvSpPr/>
          <p:nvPr/>
        </p:nvSpPr>
        <p:spPr>
          <a:xfrm>
            <a:off x="1207218" y="2139696"/>
            <a:ext cx="1298237" cy="1298237"/>
          </a:xfrm>
          <a:prstGeom prst="rect">
            <a:avLst/>
          </a:prstGeom>
          <a:noFill/>
          <a:ln/>
        </p:spPr>
        <p:txBody>
          <a:bodyPr wrap="square" lIns="0" tIns="0" rIns="0" bIns="0" rtlCol="0" anchor="ctr"/>
          <a:lstStyle/>
          <a:p>
            <a:pPr marL="0" indent="0" algn="ctr">
              <a:buNone/>
            </a:pPr>
            <a:r>
              <a:rPr lang="en-US" sz="3900" b="1" dirty="0">
                <a:solidFill>
                  <a:srgbClr val="FFFFFF"/>
                </a:solidFill>
                <a:latin typeface="Cambria" pitchFamily="34" charset="0"/>
                <a:ea typeface="Cambria" pitchFamily="34" charset="-122"/>
                <a:cs typeface="Cambria" pitchFamily="34" charset="-120"/>
              </a:rPr>
              <a:t>5</a:t>
            </a:r>
            <a:endParaRPr lang="en-US" sz="3900" dirty="0"/>
          </a:p>
        </p:txBody>
      </p:sp>
      <p:sp>
        <p:nvSpPr>
          <p:cNvPr id="6" name="Text 4"/>
          <p:cNvSpPr/>
          <p:nvPr/>
        </p:nvSpPr>
        <p:spPr>
          <a:xfrm>
            <a:off x="2830015" y="2220835"/>
            <a:ext cx="8032846" cy="235305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Menyerahkan hasil akhir proyek kepada klien / pengguna</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Menutup kontrak dan administrasi proyek secara resmi</a:t>
            </a:r>
            <a:endParaRPr lang="en-US" sz="1400" dirty="0"/>
          </a:p>
          <a:p>
            <a:pPr marL="228600" indent="-228600">
              <a:lnSpc>
                <a:spcPct val="115000"/>
              </a:lnSpc>
              <a:spcAft>
                <a:spcPts val="1400"/>
              </a:spcAft>
              <a:buSzPct val="100000"/>
              <a:buChar char="▪"/>
            </a:pPr>
            <a:r>
              <a:rPr lang="en-US" sz="1400" dirty="0">
                <a:solidFill>
                  <a:srgbClr val="1F7A34"/>
                </a:solidFill>
                <a:latin typeface="Calibri" pitchFamily="34" charset="0"/>
                <a:ea typeface="Calibri" pitchFamily="34" charset="-122"/>
                <a:cs typeface="Calibri" pitchFamily="34" charset="-120"/>
              </a:rPr>
              <a:t>Mendokumentasikan pembelajaran (lessons learned)</a:t>
            </a:r>
            <a:endParaRPr lang="en-US" sz="1400" dirty="0"/>
          </a:p>
        </p:txBody>
      </p:sp>
      <p:sp>
        <p:nvSpPr>
          <p:cNvPr id="7" name="Shape 5"/>
          <p:cNvSpPr/>
          <p:nvPr/>
        </p:nvSpPr>
        <p:spPr>
          <a:xfrm>
            <a:off x="2830015" y="4736171"/>
            <a:ext cx="8032846" cy="933108"/>
          </a:xfrm>
          <a:prstGeom prst="roundRect">
            <a:avLst>
              <a:gd name="adj" fmla="val 10435"/>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3114004" y="4874109"/>
            <a:ext cx="3245594" cy="243419"/>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HASIL (DELIVERABLE)</a:t>
            </a:r>
            <a:endParaRPr lang="en-US" sz="1000" dirty="0"/>
          </a:p>
        </p:txBody>
      </p:sp>
      <p:sp>
        <p:nvSpPr>
          <p:cNvPr id="9" name="Text 7"/>
          <p:cNvSpPr/>
          <p:nvPr/>
        </p:nvSpPr>
        <p:spPr>
          <a:xfrm>
            <a:off x="3114004" y="5101300"/>
            <a:ext cx="7464867" cy="486839"/>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Laporan Penutupan Proyek</a:t>
            </a:r>
            <a:endParaRPr lang="en-US" sz="1500" dirty="0"/>
          </a:p>
        </p:txBody>
      </p:sp>
      <p:sp>
        <p:nvSpPr>
          <p:cNvPr id="10" name="TextBox 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21/27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SIKLUS HIDUP PROYEK</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Sekilas: Predictive vs. Adaptive</a:t>
            </a:r>
            <a:endParaRPr lang="en-US" sz="3200" dirty="0"/>
          </a:p>
        </p:txBody>
      </p:sp>
      <p:sp>
        <p:nvSpPr>
          <p:cNvPr id="4" name="Shape 2"/>
          <p:cNvSpPr/>
          <p:nvPr/>
        </p:nvSpPr>
        <p:spPr>
          <a:xfrm>
            <a:off x="1392869" y="2139696"/>
            <a:ext cx="4488710" cy="3069203"/>
          </a:xfrm>
          <a:prstGeom prst="roundRect">
            <a:avLst>
              <a:gd name="adj" fmla="val 3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623059" y="2331521"/>
            <a:ext cx="4028329" cy="306920"/>
          </a:xfrm>
          <a:prstGeom prst="rect">
            <a:avLst/>
          </a:prstGeom>
          <a:noFill/>
          <a:ln/>
        </p:spPr>
        <p:txBody>
          <a:bodyPr wrap="square" lIns="0" tIns="0" rIns="0" bIns="0" rtlCol="0" anchor="ctr"/>
          <a:lstStyle/>
          <a:p>
            <a:pPr marL="0" indent="0">
              <a:buNone/>
            </a:pPr>
            <a:r>
              <a:rPr lang="en-US" sz="1300" b="1" kern="0" spc="100" dirty="0">
                <a:solidFill>
                  <a:srgbClr val="006633"/>
                </a:solidFill>
                <a:latin typeface="Cambria" pitchFamily="34" charset="0"/>
                <a:ea typeface="Cambria" pitchFamily="34" charset="-122"/>
                <a:cs typeface="Cambria" pitchFamily="34" charset="-120"/>
              </a:rPr>
              <a:t>PREDICTIVE (WATERFALL)</a:t>
            </a:r>
            <a:endParaRPr lang="en-US" sz="1300" dirty="0"/>
          </a:p>
        </p:txBody>
      </p:sp>
      <p:sp>
        <p:nvSpPr>
          <p:cNvPr id="6" name="Text 4"/>
          <p:cNvSpPr/>
          <p:nvPr/>
        </p:nvSpPr>
        <p:spPr>
          <a:xfrm>
            <a:off x="1623059" y="2753536"/>
            <a:ext cx="4028329" cy="2301902"/>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Fase dikerjakan secara berurutan</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Ruang lingkup ditetapkan di awal proyek</a:t>
            </a:r>
            <a:endParaRPr lang="en-US" sz="1200" dirty="0"/>
          </a:p>
          <a:p>
            <a:pPr marL="228600" indent="-228600">
              <a:lnSpc>
                <a:spcPct val="115000"/>
              </a:lnSpc>
              <a:spcAft>
                <a:spcPts val="1200"/>
              </a:spcAft>
              <a:buSzPct val="100000"/>
              <a:buChar char="▪"/>
            </a:pPr>
            <a:r>
              <a:rPr lang="en-US" sz="1200" dirty="0">
                <a:solidFill>
                  <a:srgbClr val="1F7A34"/>
                </a:solidFill>
                <a:latin typeface="Calibri" pitchFamily="34" charset="0"/>
                <a:ea typeface="Calibri" pitchFamily="34" charset="-122"/>
                <a:cs typeface="Calibri" pitchFamily="34" charset="-120"/>
              </a:rPr>
              <a:t>Cocok untuk kebutuhan yang jelas &amp; stabil</a:t>
            </a:r>
            <a:endParaRPr lang="en-US" sz="1200" dirty="0"/>
          </a:p>
        </p:txBody>
      </p:sp>
      <p:sp>
        <p:nvSpPr>
          <p:cNvPr id="7" name="Shape 5"/>
          <p:cNvSpPr/>
          <p:nvPr/>
        </p:nvSpPr>
        <p:spPr>
          <a:xfrm>
            <a:off x="6111770" y="2139696"/>
            <a:ext cx="4488710" cy="3069203"/>
          </a:xfrm>
          <a:prstGeom prst="roundRect">
            <a:avLst>
              <a:gd name="adj" fmla="val 3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8" name="Text 6"/>
          <p:cNvSpPr/>
          <p:nvPr/>
        </p:nvSpPr>
        <p:spPr>
          <a:xfrm>
            <a:off x="6341960" y="2331521"/>
            <a:ext cx="4028329" cy="306920"/>
          </a:xfrm>
          <a:prstGeom prst="rect">
            <a:avLst/>
          </a:prstGeom>
          <a:noFill/>
          <a:ln/>
        </p:spPr>
        <p:txBody>
          <a:bodyPr wrap="square" lIns="0" tIns="0" rIns="0" bIns="0" rtlCol="0" anchor="ctr"/>
          <a:lstStyle/>
          <a:p>
            <a:pPr marL="0" indent="0">
              <a:buNone/>
            </a:pPr>
            <a:r>
              <a:rPr lang="en-US" sz="1300" b="1" kern="0" spc="100" dirty="0">
                <a:solidFill>
                  <a:srgbClr val="9FC41D"/>
                </a:solidFill>
                <a:latin typeface="Cambria" pitchFamily="34" charset="0"/>
                <a:ea typeface="Cambria" pitchFamily="34" charset="-122"/>
                <a:cs typeface="Cambria" pitchFamily="34" charset="-120"/>
              </a:rPr>
              <a:t>ADAPTIVE (AGILE / SCRUM)</a:t>
            </a:r>
            <a:endParaRPr lang="en-US" sz="1300" dirty="0"/>
          </a:p>
        </p:txBody>
      </p:sp>
      <p:sp>
        <p:nvSpPr>
          <p:cNvPr id="9" name="Text 7"/>
          <p:cNvSpPr/>
          <p:nvPr/>
        </p:nvSpPr>
        <p:spPr>
          <a:xfrm>
            <a:off x="6341960" y="2753536"/>
            <a:ext cx="4028329" cy="2301902"/>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Dikerjakan secara iteratif &amp; bertahap (sprint)</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Ruang lingkup dapat berubah / disesuaikan</a:t>
            </a:r>
            <a:endParaRPr lang="en-US" sz="1200" dirty="0"/>
          </a:p>
          <a:p>
            <a:pPr marL="228600" indent="-228600">
              <a:lnSpc>
                <a:spcPct val="115000"/>
              </a:lnSpc>
              <a:spcAft>
                <a:spcPts val="1200"/>
              </a:spcAft>
              <a:buSzPct val="100000"/>
              <a:buChar char="▪"/>
            </a:pPr>
            <a:r>
              <a:rPr lang="en-US" sz="1200" dirty="0">
                <a:solidFill>
                  <a:srgbClr val="FFFFFF"/>
                </a:solidFill>
                <a:latin typeface="Calibri" pitchFamily="34" charset="0"/>
                <a:ea typeface="Calibri" pitchFamily="34" charset="-122"/>
                <a:cs typeface="Calibri" pitchFamily="34" charset="-120"/>
              </a:rPr>
              <a:t>Cocok untuk kebutuhan yang dinamis</a:t>
            </a:r>
            <a:endParaRPr lang="en-US" sz="1200" dirty="0"/>
          </a:p>
        </p:txBody>
      </p:sp>
      <p:sp>
        <p:nvSpPr>
          <p:cNvPr id="10" name="Text 8"/>
          <p:cNvSpPr/>
          <p:nvPr/>
        </p:nvSpPr>
        <p:spPr>
          <a:xfrm>
            <a:off x="1392869" y="5362359"/>
            <a:ext cx="9284340" cy="306920"/>
          </a:xfrm>
          <a:prstGeom prst="rect">
            <a:avLst/>
          </a:prstGeom>
          <a:noFill/>
          <a:ln/>
        </p:spPr>
        <p:txBody>
          <a:bodyPr wrap="square" lIns="0" tIns="0" rIns="0" bIns="0" rtlCol="0" anchor="ctr"/>
          <a:lstStyle/>
          <a:p>
            <a:pPr marL="0" indent="0">
              <a:buNone/>
            </a:pPr>
            <a:r>
              <a:rPr lang="en-US" sz="1000" i="1" dirty="0">
                <a:solidFill>
                  <a:srgbClr val="6E9B7C"/>
                </a:solidFill>
                <a:latin typeface="Calibri" pitchFamily="34" charset="0"/>
                <a:ea typeface="Calibri" pitchFamily="34" charset="-122"/>
                <a:cs typeface="Calibri" pitchFamily="34" charset="-120"/>
              </a:rPr>
              <a:t>Akan dibahas lebih dalam pada pertemuan berikutnya — Metodologi &amp; Standar Manajemen Proyek</a:t>
            </a:r>
            <a:endParaRPr lang="en-US" sz="1000" dirty="0"/>
          </a:p>
        </p:txBody>
      </p:sp>
      <p:sp>
        <p:nvSpPr>
          <p:cNvPr id="11" name="TextBox 10"/>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22/27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Sistem Informasi Akademik Kampus</a:t>
            </a:r>
            <a:endParaRPr lang="en-US" sz="3200" dirty="0"/>
          </a:p>
        </p:txBody>
      </p:sp>
      <p:sp>
        <p:nvSpPr>
          <p:cNvPr id="4" name="Shape 2"/>
          <p:cNvSpPr/>
          <p:nvPr/>
        </p:nvSpPr>
        <p:spPr>
          <a:xfrm>
            <a:off x="950758" y="2139696"/>
            <a:ext cx="10168563" cy="3529584"/>
          </a:xfrm>
          <a:prstGeom prst="roundRect">
            <a:avLst>
              <a:gd name="adj" fmla="val 2857"/>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286909" y="2349790"/>
            <a:ext cx="3361508" cy="252113"/>
          </a:xfrm>
          <a:prstGeom prst="rect">
            <a:avLst/>
          </a:prstGeom>
          <a:noFill/>
          <a:ln/>
        </p:spPr>
        <p:txBody>
          <a:bodyPr wrap="square" lIns="0" tIns="0" rIns="0" bIns="0" rtlCol="0" anchor="ctr"/>
          <a:lstStyle/>
          <a:p>
            <a:pPr marL="0" indent="0">
              <a:buNone/>
            </a:pPr>
            <a:r>
              <a:rPr lang="en-US" sz="1000" b="1" kern="0" spc="100" dirty="0">
                <a:solidFill>
                  <a:srgbClr val="9FC41D"/>
                </a:solidFill>
                <a:latin typeface="Calibri" pitchFamily="34" charset="0"/>
                <a:ea typeface="Calibri" pitchFamily="34" charset="-122"/>
                <a:cs typeface="Calibri" pitchFamily="34" charset="-120"/>
              </a:rPr>
              <a:t>STUDI KASUS</a:t>
            </a:r>
            <a:endParaRPr lang="en-US" sz="1000" dirty="0"/>
          </a:p>
        </p:txBody>
      </p:sp>
      <p:sp>
        <p:nvSpPr>
          <p:cNvPr id="6" name="Text 4"/>
          <p:cNvSpPr/>
          <p:nvPr/>
        </p:nvSpPr>
        <p:spPr>
          <a:xfrm>
            <a:off x="1286909" y="2685941"/>
            <a:ext cx="9496261" cy="2773244"/>
          </a:xfrm>
          <a:prstGeom prst="rect">
            <a:avLst/>
          </a:prstGeom>
          <a:noFill/>
          <a:ln/>
        </p:spPr>
        <p:txBody>
          <a:bodyPr wrap="square" lIns="0" tIns="0" rIns="0" bIns="0" rtlCol="0" anchor="ctr"/>
          <a:lstStyle/>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Tim TI kampus ditugaskan mengembangkan sistem KRS (Kartu Rencana Studi) online baru untuk menggantikan proses manual yang selama ini digunakan.</a:t>
            </a:r>
            <a:endParaRPr lang="en-US" sz="1500" dirty="0"/>
          </a:p>
          <a:p>
            <a:pPr marL="0" indent="0">
              <a:lnSpc>
                <a:spcPct val="135000"/>
              </a:lnSpc>
              <a:buNone/>
            </a:pPr>
            <a:endParaRPr lang="en-US" sz="1500" dirty="0"/>
          </a:p>
          <a:p>
            <a:pPr marL="0" indent="0">
              <a:lnSpc>
                <a:spcPct val="135000"/>
              </a:lnSpc>
              <a:buNone/>
            </a:pPr>
            <a:r>
              <a:rPr lang="en-US" sz="1500" dirty="0">
                <a:solidFill>
                  <a:srgbClr val="FFFFFF"/>
                </a:solidFill>
                <a:latin typeface="Calibri" pitchFamily="34" charset="0"/>
                <a:ea typeface="Calibri" pitchFamily="34" charset="-122"/>
                <a:cs typeface="Calibri" pitchFamily="34" charset="-120"/>
              </a:rPr>
              <a:t>Proyek dimulai dari pengajuan proposal kepada pimpinan, dilanjutkan dengan penyusunan kebutuhan sistem dan jadwal pengerjaan, pengembangan (coding) modul KRS, uji coba oleh mahasiswa, hingga akhirnya serah terima sistem kepada bagian akademik.</a:t>
            </a:r>
            <a:endParaRPr lang="en-US" sz="15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23/27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STUDI KASUS</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Diskusi: Petakan Aktivitas ke Fase Siklus Hidup</a:t>
            </a:r>
            <a:endParaRPr lang="en-US" sz="3200" dirty="0"/>
          </a:p>
        </p:txBody>
      </p:sp>
      <p:sp>
        <p:nvSpPr>
          <p:cNvPr id="4" name="Shape 2"/>
          <p:cNvSpPr/>
          <p:nvPr/>
        </p:nvSpPr>
        <p:spPr>
          <a:xfrm>
            <a:off x="1586293" y="2139696"/>
            <a:ext cx="8897493" cy="529437"/>
          </a:xfrm>
          <a:prstGeom prst="roundRect">
            <a:avLst>
              <a:gd name="adj" fmla="val 1666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Text 3"/>
          <p:cNvSpPr/>
          <p:nvPr/>
        </p:nvSpPr>
        <p:spPr>
          <a:xfrm>
            <a:off x="1843659" y="2139696"/>
            <a:ext cx="7059168" cy="529437"/>
          </a:xfrm>
          <a:prstGeom prst="rect">
            <a:avLst/>
          </a:prstGeom>
          <a:noFill/>
          <a:ln/>
        </p:spPr>
        <p:txBody>
          <a:bodyPr wrap="square" lIns="0" tIns="0" rIns="0" bIns="0" rtlCol="0" anchor="ctr"/>
          <a:lstStyle/>
          <a:p>
            <a:pPr marL="0" indent="0">
              <a:buNone/>
            </a:pPr>
            <a:r>
              <a:rPr lang="en-US" sz="1200" dirty="0">
                <a:solidFill>
                  <a:srgbClr val="1F7A34"/>
                </a:solidFill>
                <a:latin typeface="Calibri" pitchFamily="34" charset="0"/>
                <a:ea typeface="Calibri" pitchFamily="34" charset="-122"/>
                <a:cs typeface="Calibri" pitchFamily="34" charset="-120"/>
              </a:rPr>
              <a:t>Pengajuan proposal ke pimpinan kampus</a:t>
            </a:r>
            <a:endParaRPr lang="en-US" sz="1200" dirty="0"/>
          </a:p>
        </p:txBody>
      </p:sp>
      <p:sp>
        <p:nvSpPr>
          <p:cNvPr id="6" name="Shape 4"/>
          <p:cNvSpPr/>
          <p:nvPr/>
        </p:nvSpPr>
        <p:spPr>
          <a:xfrm>
            <a:off x="9344025" y="2205875"/>
            <a:ext cx="397078" cy="397078"/>
          </a:xfrm>
          <a:prstGeom prst="ellipse">
            <a:avLst/>
          </a:prstGeom>
          <a:solidFill>
            <a:srgbClr val="9FC41D"/>
          </a:solidFill>
          <a:ln/>
        </p:spPr>
        <p:txBody>
          <a:bodyPr/>
          <a:lstStyle/>
          <a:p>
            <a:endParaRPr/>
          </a:p>
        </p:txBody>
      </p:sp>
      <p:sp>
        <p:nvSpPr>
          <p:cNvPr id="7" name="Text 5"/>
          <p:cNvSpPr/>
          <p:nvPr/>
        </p:nvSpPr>
        <p:spPr>
          <a:xfrm>
            <a:off x="9344025" y="2205875"/>
            <a:ext cx="397078" cy="39707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8" name="Shape 6"/>
          <p:cNvSpPr/>
          <p:nvPr/>
        </p:nvSpPr>
        <p:spPr>
          <a:xfrm>
            <a:off x="1586293" y="2764726"/>
            <a:ext cx="8897493" cy="529437"/>
          </a:xfrm>
          <a:prstGeom prst="roundRect">
            <a:avLst>
              <a:gd name="adj" fmla="val 16667"/>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9" name="Text 7"/>
          <p:cNvSpPr/>
          <p:nvPr/>
        </p:nvSpPr>
        <p:spPr>
          <a:xfrm>
            <a:off x="1843659" y="2764726"/>
            <a:ext cx="7059168" cy="529437"/>
          </a:xfrm>
          <a:prstGeom prst="rect">
            <a:avLst/>
          </a:prstGeom>
          <a:noFill/>
          <a:ln/>
        </p:spPr>
        <p:txBody>
          <a:bodyPr wrap="square" lIns="0" tIns="0" rIns="0" bIns="0" rtlCol="0" anchor="ctr"/>
          <a:lstStyle/>
          <a:p>
            <a:pPr marL="0" indent="0">
              <a:buNone/>
            </a:pPr>
            <a:r>
              <a:rPr lang="en-US" sz="1200" dirty="0">
                <a:solidFill>
                  <a:srgbClr val="1F7A34"/>
                </a:solidFill>
                <a:latin typeface="Calibri" pitchFamily="34" charset="0"/>
                <a:ea typeface="Calibri" pitchFamily="34" charset="-122"/>
                <a:cs typeface="Calibri" pitchFamily="34" charset="-120"/>
              </a:rPr>
              <a:t>Menyusun kebutuhan sistem &amp; jadwal pengerjaan</a:t>
            </a:r>
            <a:endParaRPr lang="en-US" sz="1200" dirty="0"/>
          </a:p>
        </p:txBody>
      </p:sp>
      <p:sp>
        <p:nvSpPr>
          <p:cNvPr id="10" name="Shape 8"/>
          <p:cNvSpPr/>
          <p:nvPr/>
        </p:nvSpPr>
        <p:spPr>
          <a:xfrm>
            <a:off x="9344025" y="2830906"/>
            <a:ext cx="397078" cy="397078"/>
          </a:xfrm>
          <a:prstGeom prst="ellipse">
            <a:avLst/>
          </a:prstGeom>
          <a:solidFill>
            <a:srgbClr val="9FC41D"/>
          </a:solidFill>
          <a:ln/>
        </p:spPr>
        <p:txBody>
          <a:bodyPr/>
          <a:lstStyle/>
          <a:p>
            <a:endParaRPr/>
          </a:p>
        </p:txBody>
      </p:sp>
      <p:sp>
        <p:nvSpPr>
          <p:cNvPr id="11" name="Text 9"/>
          <p:cNvSpPr/>
          <p:nvPr/>
        </p:nvSpPr>
        <p:spPr>
          <a:xfrm>
            <a:off x="9344025" y="2830906"/>
            <a:ext cx="397078" cy="39707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2" name="Shape 10"/>
          <p:cNvSpPr/>
          <p:nvPr/>
        </p:nvSpPr>
        <p:spPr>
          <a:xfrm>
            <a:off x="1586293" y="3389757"/>
            <a:ext cx="8897493" cy="529437"/>
          </a:xfrm>
          <a:prstGeom prst="roundRect">
            <a:avLst>
              <a:gd name="adj" fmla="val 1666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3" name="Text 11"/>
          <p:cNvSpPr/>
          <p:nvPr/>
        </p:nvSpPr>
        <p:spPr>
          <a:xfrm>
            <a:off x="1843659" y="3389757"/>
            <a:ext cx="7059168" cy="529437"/>
          </a:xfrm>
          <a:prstGeom prst="rect">
            <a:avLst/>
          </a:prstGeom>
          <a:noFill/>
          <a:ln/>
        </p:spPr>
        <p:txBody>
          <a:bodyPr wrap="square" lIns="0" tIns="0" rIns="0" bIns="0" rtlCol="0" anchor="ctr"/>
          <a:lstStyle/>
          <a:p>
            <a:pPr marL="0" indent="0">
              <a:buNone/>
            </a:pPr>
            <a:r>
              <a:rPr lang="en-US" sz="1200" dirty="0">
                <a:solidFill>
                  <a:srgbClr val="1F7A34"/>
                </a:solidFill>
                <a:latin typeface="Calibri" pitchFamily="34" charset="0"/>
                <a:ea typeface="Calibri" pitchFamily="34" charset="-122"/>
                <a:cs typeface="Calibri" pitchFamily="34" charset="-120"/>
              </a:rPr>
              <a:t>Coding &amp; pengembangan modul KRS</a:t>
            </a:r>
            <a:endParaRPr lang="en-US" sz="1200" dirty="0"/>
          </a:p>
        </p:txBody>
      </p:sp>
      <p:sp>
        <p:nvSpPr>
          <p:cNvPr id="14" name="Shape 12"/>
          <p:cNvSpPr/>
          <p:nvPr/>
        </p:nvSpPr>
        <p:spPr>
          <a:xfrm>
            <a:off x="9344025" y="3455936"/>
            <a:ext cx="397078" cy="397078"/>
          </a:xfrm>
          <a:prstGeom prst="ellipse">
            <a:avLst/>
          </a:prstGeom>
          <a:solidFill>
            <a:srgbClr val="9FC41D"/>
          </a:solidFill>
          <a:ln/>
        </p:spPr>
        <p:txBody>
          <a:bodyPr/>
          <a:lstStyle/>
          <a:p>
            <a:endParaRPr/>
          </a:p>
        </p:txBody>
      </p:sp>
      <p:sp>
        <p:nvSpPr>
          <p:cNvPr id="15" name="Text 13"/>
          <p:cNvSpPr/>
          <p:nvPr/>
        </p:nvSpPr>
        <p:spPr>
          <a:xfrm>
            <a:off x="9344025" y="3455936"/>
            <a:ext cx="397078" cy="39707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6" name="Shape 14"/>
          <p:cNvSpPr/>
          <p:nvPr/>
        </p:nvSpPr>
        <p:spPr>
          <a:xfrm>
            <a:off x="1586293" y="4014787"/>
            <a:ext cx="8897493" cy="529437"/>
          </a:xfrm>
          <a:prstGeom prst="roundRect">
            <a:avLst>
              <a:gd name="adj" fmla="val 16667"/>
            </a:avLst>
          </a:prstGeom>
          <a:solidFill>
            <a:srgbClr val="FFFFFF"/>
          </a:solidFill>
          <a:ln/>
          <a:effectLst>
            <a:outerShdw blurRad="101600" dist="38100" dir="5400000" algn="bl" rotWithShape="0">
              <a:srgbClr val="006633">
                <a:alpha val="12000"/>
              </a:srgbClr>
            </a:outerShdw>
          </a:effectLst>
        </p:spPr>
        <p:txBody>
          <a:bodyPr/>
          <a:lstStyle/>
          <a:p>
            <a:endParaRPr/>
          </a:p>
        </p:txBody>
      </p:sp>
      <p:sp>
        <p:nvSpPr>
          <p:cNvPr id="17" name="Text 15"/>
          <p:cNvSpPr/>
          <p:nvPr/>
        </p:nvSpPr>
        <p:spPr>
          <a:xfrm>
            <a:off x="1843659" y="4014787"/>
            <a:ext cx="7059168" cy="529437"/>
          </a:xfrm>
          <a:prstGeom prst="rect">
            <a:avLst/>
          </a:prstGeom>
          <a:noFill/>
          <a:ln/>
        </p:spPr>
        <p:txBody>
          <a:bodyPr wrap="square" lIns="0" tIns="0" rIns="0" bIns="0" rtlCol="0" anchor="ctr"/>
          <a:lstStyle/>
          <a:p>
            <a:pPr marL="0" indent="0">
              <a:buNone/>
            </a:pPr>
            <a:r>
              <a:rPr lang="en-US" sz="1200" dirty="0">
                <a:solidFill>
                  <a:srgbClr val="1F7A34"/>
                </a:solidFill>
                <a:latin typeface="Calibri" pitchFamily="34" charset="0"/>
                <a:ea typeface="Calibri" pitchFamily="34" charset="-122"/>
                <a:cs typeface="Calibri" pitchFamily="34" charset="-120"/>
              </a:rPr>
              <a:t>Uji coba oleh mahasiswa &amp; perbaikan bug</a:t>
            </a:r>
            <a:endParaRPr lang="en-US" sz="1200" dirty="0"/>
          </a:p>
        </p:txBody>
      </p:sp>
      <p:sp>
        <p:nvSpPr>
          <p:cNvPr id="18" name="Shape 16"/>
          <p:cNvSpPr/>
          <p:nvPr/>
        </p:nvSpPr>
        <p:spPr>
          <a:xfrm>
            <a:off x="9344025" y="4080967"/>
            <a:ext cx="397078" cy="397078"/>
          </a:xfrm>
          <a:prstGeom prst="ellipse">
            <a:avLst/>
          </a:prstGeom>
          <a:solidFill>
            <a:srgbClr val="9FC41D"/>
          </a:solidFill>
          <a:ln/>
        </p:spPr>
        <p:txBody>
          <a:bodyPr/>
          <a:lstStyle/>
          <a:p>
            <a:endParaRPr/>
          </a:p>
        </p:txBody>
      </p:sp>
      <p:sp>
        <p:nvSpPr>
          <p:cNvPr id="19" name="Text 17"/>
          <p:cNvSpPr/>
          <p:nvPr/>
        </p:nvSpPr>
        <p:spPr>
          <a:xfrm>
            <a:off x="9344025" y="4080967"/>
            <a:ext cx="397078" cy="39707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20" name="Shape 18"/>
          <p:cNvSpPr/>
          <p:nvPr/>
        </p:nvSpPr>
        <p:spPr>
          <a:xfrm>
            <a:off x="1586293" y="4639818"/>
            <a:ext cx="8897493" cy="529437"/>
          </a:xfrm>
          <a:prstGeom prst="roundRect">
            <a:avLst>
              <a:gd name="adj" fmla="val 16667"/>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21" name="Text 19"/>
          <p:cNvSpPr/>
          <p:nvPr/>
        </p:nvSpPr>
        <p:spPr>
          <a:xfrm>
            <a:off x="1843659" y="4639818"/>
            <a:ext cx="7059168" cy="529437"/>
          </a:xfrm>
          <a:prstGeom prst="rect">
            <a:avLst/>
          </a:prstGeom>
          <a:noFill/>
          <a:ln/>
        </p:spPr>
        <p:txBody>
          <a:bodyPr wrap="square" lIns="0" tIns="0" rIns="0" bIns="0" rtlCol="0" anchor="ctr"/>
          <a:lstStyle/>
          <a:p>
            <a:pPr marL="0" indent="0">
              <a:buNone/>
            </a:pPr>
            <a:r>
              <a:rPr lang="en-US" sz="1200" dirty="0">
                <a:solidFill>
                  <a:srgbClr val="1F7A34"/>
                </a:solidFill>
                <a:latin typeface="Calibri" pitchFamily="34" charset="0"/>
                <a:ea typeface="Calibri" pitchFamily="34" charset="-122"/>
                <a:cs typeface="Calibri" pitchFamily="34" charset="-120"/>
              </a:rPr>
              <a:t>Serah terima sistem &amp; evaluasi akhir</a:t>
            </a:r>
            <a:endParaRPr lang="en-US" sz="1200" dirty="0"/>
          </a:p>
        </p:txBody>
      </p:sp>
      <p:sp>
        <p:nvSpPr>
          <p:cNvPr id="22" name="Shape 20"/>
          <p:cNvSpPr/>
          <p:nvPr/>
        </p:nvSpPr>
        <p:spPr>
          <a:xfrm>
            <a:off x="9344025" y="4705997"/>
            <a:ext cx="397078" cy="397078"/>
          </a:xfrm>
          <a:prstGeom prst="ellipse">
            <a:avLst/>
          </a:prstGeom>
          <a:solidFill>
            <a:srgbClr val="9FC41D"/>
          </a:solidFill>
          <a:ln/>
        </p:spPr>
        <p:txBody>
          <a:bodyPr/>
          <a:lstStyle/>
          <a:p>
            <a:endParaRPr/>
          </a:p>
        </p:txBody>
      </p:sp>
      <p:sp>
        <p:nvSpPr>
          <p:cNvPr id="23" name="Text 21"/>
          <p:cNvSpPr/>
          <p:nvPr/>
        </p:nvSpPr>
        <p:spPr>
          <a:xfrm>
            <a:off x="9344025" y="4705997"/>
            <a:ext cx="397078" cy="39707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24" name="Text 22"/>
          <p:cNvSpPr/>
          <p:nvPr/>
        </p:nvSpPr>
        <p:spPr>
          <a:xfrm>
            <a:off x="1586293" y="5375148"/>
            <a:ext cx="8897493" cy="294132"/>
          </a:xfrm>
          <a:prstGeom prst="rect">
            <a:avLst/>
          </a:prstGeom>
          <a:noFill/>
          <a:ln/>
        </p:spPr>
        <p:txBody>
          <a:bodyPr wrap="square" lIns="0" tIns="0" rIns="0" bIns="0" rtlCol="0" anchor="ctr"/>
          <a:lstStyle/>
          <a:p>
            <a:pPr marL="0" indent="0">
              <a:buNone/>
            </a:pPr>
            <a:endParaRPr lang="en-US" sz="1000" dirty="0"/>
          </a:p>
        </p:txBody>
      </p:sp>
      <p:sp>
        <p:nvSpPr>
          <p:cNvPr id="25" name="TextBox 24"/>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24/27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RANGKUMAN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Poin-Poin Penting</a:t>
            </a:r>
            <a:endParaRPr lang="en-US" sz="3200" dirty="0"/>
          </a:p>
        </p:txBody>
      </p:sp>
      <p:sp>
        <p:nvSpPr>
          <p:cNvPr id="4" name="Shape 2"/>
          <p:cNvSpPr/>
          <p:nvPr/>
        </p:nvSpPr>
        <p:spPr>
          <a:xfrm>
            <a:off x="822960" y="2182771"/>
            <a:ext cx="516900" cy="516900"/>
          </a:xfrm>
          <a:prstGeom prst="ellipse">
            <a:avLst/>
          </a:prstGeom>
          <a:solidFill>
            <a:srgbClr val="9FC41D"/>
          </a:solidFill>
          <a:ln/>
        </p:spPr>
        <p:txBody>
          <a:bodyPr/>
          <a:lstStyle/>
          <a:p>
            <a:endParaRPr/>
          </a:p>
        </p:txBody>
      </p:sp>
      <p:sp>
        <p:nvSpPr>
          <p:cNvPr id="5" name="Text 3"/>
          <p:cNvSpPr/>
          <p:nvPr/>
        </p:nvSpPr>
        <p:spPr>
          <a:xfrm>
            <a:off x="822960" y="218277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6" name="Shape 4"/>
          <p:cNvSpPr/>
          <p:nvPr/>
        </p:nvSpPr>
        <p:spPr>
          <a:xfrm>
            <a:off x="1512160" y="213969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7" name="Text 5"/>
          <p:cNvSpPr/>
          <p:nvPr/>
        </p:nvSpPr>
        <p:spPr>
          <a:xfrm>
            <a:off x="1770610" y="2139696"/>
            <a:ext cx="9304208" cy="732275"/>
          </a:xfrm>
          <a:prstGeom prst="rect">
            <a:avLst/>
          </a:prstGeom>
          <a:noFill/>
          <a:ln/>
        </p:spPr>
        <p:txBody>
          <a:bodyPr wrap="square" lIns="0" tIns="0" rIns="0" bIns="0" rtlCol="0" anchor="ctr"/>
          <a:lstStyle/>
          <a:p>
            <a:pPr marL="0" indent="0">
              <a:lnSpc>
                <a:spcPct val="115000"/>
              </a:lnSpc>
              <a:buNone/>
            </a:pPr>
            <a:r>
              <a:rPr lang="en-US" sz="1400" dirty="0">
                <a:solidFill>
                  <a:srgbClr val="1F7A34"/>
                </a:solidFill>
                <a:latin typeface="Calibri" pitchFamily="34" charset="0"/>
                <a:ea typeface="Calibri" pitchFamily="34" charset="-122"/>
                <a:cs typeface="Calibri" pitchFamily="34" charset="-120"/>
              </a:rPr>
              <a:t>Proyek bersifat sementara, unik, dan berkembang bertahap — berbeda dari kegiatan operasional</a:t>
            </a:r>
            <a:endParaRPr lang="en-US" sz="1400" dirty="0"/>
          </a:p>
        </p:txBody>
      </p:sp>
      <p:sp>
        <p:nvSpPr>
          <p:cNvPr id="8" name="Shape 6"/>
          <p:cNvSpPr/>
          <p:nvPr/>
        </p:nvSpPr>
        <p:spPr>
          <a:xfrm>
            <a:off x="822960" y="3061501"/>
            <a:ext cx="516900" cy="516900"/>
          </a:xfrm>
          <a:prstGeom prst="ellipse">
            <a:avLst/>
          </a:prstGeom>
          <a:solidFill>
            <a:srgbClr val="9FC41D"/>
          </a:solidFill>
          <a:ln/>
        </p:spPr>
        <p:txBody>
          <a:bodyPr/>
          <a:lstStyle/>
          <a:p>
            <a:endParaRPr/>
          </a:p>
        </p:txBody>
      </p:sp>
      <p:sp>
        <p:nvSpPr>
          <p:cNvPr id="9" name="Text 7"/>
          <p:cNvSpPr/>
          <p:nvPr/>
        </p:nvSpPr>
        <p:spPr>
          <a:xfrm>
            <a:off x="822960" y="3061501"/>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0" name="Shape 8"/>
          <p:cNvSpPr/>
          <p:nvPr/>
        </p:nvSpPr>
        <p:spPr>
          <a:xfrm>
            <a:off x="1512160" y="3018426"/>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1" name="Text 9"/>
          <p:cNvSpPr/>
          <p:nvPr/>
        </p:nvSpPr>
        <p:spPr>
          <a:xfrm>
            <a:off x="1770610" y="3018426"/>
            <a:ext cx="9304208" cy="732275"/>
          </a:xfrm>
          <a:prstGeom prst="rect">
            <a:avLst/>
          </a:prstGeom>
          <a:noFill/>
          <a:ln/>
        </p:spPr>
        <p:txBody>
          <a:bodyPr wrap="square" lIns="0" tIns="0" rIns="0" bIns="0" rtlCol="0" anchor="ctr"/>
          <a:lstStyle/>
          <a:p>
            <a:pPr marL="0" indent="0">
              <a:lnSpc>
                <a:spcPct val="115000"/>
              </a:lnSpc>
              <a:buNone/>
            </a:pPr>
            <a:r>
              <a:rPr lang="en-US" sz="1400" dirty="0">
                <a:solidFill>
                  <a:srgbClr val="1F7A34"/>
                </a:solidFill>
                <a:latin typeface="Calibri" pitchFamily="34" charset="0"/>
                <a:ea typeface="Calibri" pitchFamily="34" charset="-122"/>
                <a:cs typeface="Calibri" pitchFamily="34" charset="-120"/>
              </a:rPr>
              <a:t>Manajemen proyek menyeimbangkan ruang lingkup, waktu, biaya, dan mutu (triple constraint)</a:t>
            </a:r>
            <a:endParaRPr lang="en-US" sz="1400" dirty="0"/>
          </a:p>
        </p:txBody>
      </p:sp>
      <p:sp>
        <p:nvSpPr>
          <p:cNvPr id="12" name="Shape 10"/>
          <p:cNvSpPr/>
          <p:nvPr/>
        </p:nvSpPr>
        <p:spPr>
          <a:xfrm>
            <a:off x="822960" y="3940232"/>
            <a:ext cx="516900" cy="516900"/>
          </a:xfrm>
          <a:prstGeom prst="ellipse">
            <a:avLst/>
          </a:prstGeom>
          <a:solidFill>
            <a:srgbClr val="9FC41D"/>
          </a:solidFill>
          <a:ln/>
        </p:spPr>
        <p:txBody>
          <a:bodyPr/>
          <a:lstStyle/>
          <a:p>
            <a:endParaRPr/>
          </a:p>
        </p:txBody>
      </p:sp>
      <p:sp>
        <p:nvSpPr>
          <p:cNvPr id="13" name="Text 11"/>
          <p:cNvSpPr/>
          <p:nvPr/>
        </p:nvSpPr>
        <p:spPr>
          <a:xfrm>
            <a:off x="822960" y="3940232"/>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4" name="Shape 12"/>
          <p:cNvSpPr/>
          <p:nvPr/>
        </p:nvSpPr>
        <p:spPr>
          <a:xfrm>
            <a:off x="1512160" y="3897157"/>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Text 13"/>
          <p:cNvSpPr/>
          <p:nvPr/>
        </p:nvSpPr>
        <p:spPr>
          <a:xfrm>
            <a:off x="1770610" y="3897157"/>
            <a:ext cx="9304208" cy="732275"/>
          </a:xfrm>
          <a:prstGeom prst="rect">
            <a:avLst/>
          </a:prstGeom>
          <a:noFill/>
          <a:ln/>
        </p:spPr>
        <p:txBody>
          <a:bodyPr wrap="square" lIns="0" tIns="0" rIns="0" bIns="0" rtlCol="0" anchor="ctr"/>
          <a:lstStyle/>
          <a:p>
            <a:pPr marL="0" indent="0">
              <a:lnSpc>
                <a:spcPct val="115000"/>
              </a:lnSpc>
              <a:buNone/>
            </a:pPr>
            <a:r>
              <a:rPr lang="en-US" sz="1400" dirty="0">
                <a:solidFill>
                  <a:srgbClr val="1F7A34"/>
                </a:solidFill>
                <a:latin typeface="Calibri" pitchFamily="34" charset="0"/>
                <a:ea typeface="Calibri" pitchFamily="34" charset="-122"/>
                <a:cs typeface="Calibri" pitchFamily="34" charset="-120"/>
              </a:rPr>
              <a:t>Siklus hidup proyek terdiri dari 5 fase: Inisiasi, Perencanaan, Eksekusi, Monitoring &amp; Pengendalian, Penutupan</a:t>
            </a:r>
            <a:endParaRPr lang="en-US" sz="1400" dirty="0"/>
          </a:p>
        </p:txBody>
      </p:sp>
      <p:sp>
        <p:nvSpPr>
          <p:cNvPr id="16" name="Shape 14"/>
          <p:cNvSpPr/>
          <p:nvPr/>
        </p:nvSpPr>
        <p:spPr>
          <a:xfrm>
            <a:off x="822960" y="4818963"/>
            <a:ext cx="516900" cy="516900"/>
          </a:xfrm>
          <a:prstGeom prst="ellipse">
            <a:avLst/>
          </a:prstGeom>
          <a:solidFill>
            <a:srgbClr val="9FC41D"/>
          </a:solidFill>
          <a:ln/>
        </p:spPr>
        <p:txBody>
          <a:bodyPr/>
          <a:lstStyle/>
          <a:p>
            <a:endParaRPr/>
          </a:p>
        </p:txBody>
      </p:sp>
      <p:sp>
        <p:nvSpPr>
          <p:cNvPr id="17" name="Text 15"/>
          <p:cNvSpPr/>
          <p:nvPr/>
        </p:nvSpPr>
        <p:spPr>
          <a:xfrm>
            <a:off x="822960" y="4818963"/>
            <a:ext cx="516900" cy="516900"/>
          </a:xfrm>
          <a:prstGeom prst="rect">
            <a:avLst/>
          </a:prstGeom>
          <a:no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8" name="Shape 16"/>
          <p:cNvSpPr/>
          <p:nvPr/>
        </p:nvSpPr>
        <p:spPr>
          <a:xfrm>
            <a:off x="1512160" y="4775888"/>
            <a:ext cx="9734959" cy="732275"/>
          </a:xfrm>
          <a:prstGeom prst="roundRect">
            <a:avLst>
              <a:gd name="adj" fmla="val 14118"/>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9" name="Text 17"/>
          <p:cNvSpPr/>
          <p:nvPr/>
        </p:nvSpPr>
        <p:spPr>
          <a:xfrm>
            <a:off x="1770610" y="4775888"/>
            <a:ext cx="9304208" cy="732275"/>
          </a:xfrm>
          <a:prstGeom prst="rect">
            <a:avLst/>
          </a:prstGeom>
          <a:noFill/>
          <a:ln/>
        </p:spPr>
        <p:txBody>
          <a:bodyPr wrap="square" lIns="0" tIns="0" rIns="0" bIns="0" rtlCol="0" anchor="ctr"/>
          <a:lstStyle/>
          <a:p>
            <a:pPr marL="0" indent="0">
              <a:lnSpc>
                <a:spcPct val="115000"/>
              </a:lnSpc>
              <a:buNone/>
            </a:pPr>
            <a:r>
              <a:rPr lang="en-US" sz="1400" dirty="0">
                <a:solidFill>
                  <a:srgbClr val="1F7A34"/>
                </a:solidFill>
                <a:latin typeface="Calibri" pitchFamily="34" charset="0"/>
                <a:ea typeface="Calibri" pitchFamily="34" charset="-122"/>
                <a:cs typeface="Calibri" pitchFamily="34" charset="-120"/>
              </a:rPr>
              <a:t>Setiap fase memiliki tujuan dan hasil (deliverable) yang berbeda-beda</a:t>
            </a:r>
            <a:endParaRPr lang="en-US" sz="1400" dirty="0"/>
          </a:p>
        </p:txBody>
      </p:sp>
      <p:sp>
        <p:nvSpPr>
          <p:cNvPr id="20" name="TextBox 19"/>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25/27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 y="1188720"/>
            <a:ext cx="10424160" cy="219456"/>
          </a:xfrm>
          <a:prstGeom prst="rect">
            <a:avLst/>
          </a:prstGeom>
          <a:noFill/>
          <a:ln/>
        </p:spPr>
        <p:txBody>
          <a:bodyPr wrap="square" lIns="0" tIns="0" rIns="0" bIns="0" rtlCol="0" anchor="ctr"/>
          <a:lstStyle/>
          <a:p>
            <a:pPr marL="0" indent="0" algn="l">
              <a:buNone/>
            </a:pPr>
            <a:r>
              <a:rPr lang="en-US" sz="1100" b="1" kern="0" spc="200" dirty="0">
                <a:latin typeface="Calibri" pitchFamily="34" charset="0"/>
                <a:ea typeface="Calibri" pitchFamily="34" charset="-122"/>
                <a:cs typeface="Calibri" pitchFamily="34" charset="-120"/>
              </a:rPr>
              <a:t>SESI PERKULIAHAN</a:t>
            </a:r>
            <a:endParaRPr lang="en-US" sz="1200" dirty="0"/>
          </a:p>
        </p:txBody>
      </p:sp>
      <p:sp>
        <p:nvSpPr>
          <p:cNvPr id="3" name="Text 1"/>
          <p:cNvSpPr/>
          <p:nvPr/>
        </p:nvSpPr>
        <p:spPr>
          <a:xfrm>
            <a:off x="822960" y="1426464"/>
            <a:ext cx="10424160" cy="621792"/>
          </a:xfrm>
          <a:prstGeom prst="rect">
            <a:avLst/>
          </a:prstGeom>
          <a:noFill/>
          <a:ln/>
        </p:spPr>
        <p:txBody>
          <a:bodyPr wrap="square" lIns="0" tIns="0" rIns="0" bIns="0" rtlCol="0" anchor="t"/>
          <a:lstStyle/>
          <a:p>
            <a:pPr marL="0" indent="0" algn="l">
              <a:buNone/>
            </a:pPr>
            <a:r>
              <a:rPr lang="en-US" sz="2500" b="1" dirty="0">
                <a:latin typeface="Cambria" pitchFamily="34" charset="0"/>
                <a:ea typeface="Cambria" pitchFamily="34" charset="-122"/>
                <a:cs typeface="Cambria" pitchFamily="34" charset="-120"/>
              </a:rPr>
              <a:t>Rencana Kegiatan Pertemuan Ini</a:t>
            </a:r>
            <a:endParaRPr lang="en-US" sz="3200" dirty="0"/>
          </a:p>
        </p:txBody>
      </p:sp>
      <p:sp>
        <p:nvSpPr>
          <p:cNvPr id="4" name="Shape 2"/>
          <p:cNvSpPr/>
          <p:nvPr/>
        </p:nvSpPr>
        <p:spPr>
          <a:xfrm>
            <a:off x="1677084" y="2139696"/>
            <a:ext cx="8715911" cy="1080484"/>
          </a:xfrm>
          <a:prstGeom prst="roundRect">
            <a:avLst>
              <a:gd name="adj" fmla="val 8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5" name="Shape 3"/>
          <p:cNvSpPr/>
          <p:nvPr/>
        </p:nvSpPr>
        <p:spPr>
          <a:xfrm>
            <a:off x="1929197" y="2391809"/>
            <a:ext cx="576258" cy="576258"/>
          </a:xfrm>
          <a:prstGeom prst="ellipse">
            <a:avLst/>
          </a:prstGeom>
          <a:solidFill>
            <a:srgbClr val="9FC41D"/>
          </a:solidFill>
          <a:ln/>
        </p:spPr>
        <p:txBody>
          <a:bodyPr/>
          <a:lstStyle/>
          <a:p>
            <a:endParaRPr/>
          </a:p>
        </p:txBody>
      </p:sp>
      <p:sp>
        <p:nvSpPr>
          <p:cNvPr id="6" name="Text 4"/>
          <p:cNvSpPr/>
          <p:nvPr/>
        </p:nvSpPr>
        <p:spPr>
          <a:xfrm>
            <a:off x="1929197" y="2391809"/>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±60'</a:t>
            </a:r>
            <a:endParaRPr lang="en-US" sz="1200" dirty="0"/>
          </a:p>
        </p:txBody>
      </p:sp>
      <p:sp>
        <p:nvSpPr>
          <p:cNvPr id="7" name="Text 5"/>
          <p:cNvSpPr/>
          <p:nvPr/>
        </p:nvSpPr>
        <p:spPr>
          <a:xfrm>
            <a:off x="2757569" y="2283760"/>
            <a:ext cx="6987135"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Ceramah &amp; Diskusi Konsep</a:t>
            </a:r>
            <a:endParaRPr lang="en-US" sz="1300" dirty="0"/>
          </a:p>
        </p:txBody>
      </p:sp>
      <p:sp>
        <p:nvSpPr>
          <p:cNvPr id="8" name="Text 6"/>
          <p:cNvSpPr/>
          <p:nvPr/>
        </p:nvSpPr>
        <p:spPr>
          <a:xfrm>
            <a:off x="2757569" y="2586296"/>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1F7A34"/>
                </a:solidFill>
                <a:latin typeface="Calibri" pitchFamily="34" charset="0"/>
                <a:ea typeface="Calibri" pitchFamily="34" charset="-122"/>
                <a:cs typeface="Calibri" pitchFamily="34" charset="-120"/>
              </a:rPr>
              <a:t>Penjelasan materi konsep dasar, karakteristik, dan siklus hidup proyek TI, disertai tanya jawab</a:t>
            </a:r>
            <a:endParaRPr lang="en-US" sz="1000" dirty="0"/>
          </a:p>
        </p:txBody>
      </p:sp>
      <p:sp>
        <p:nvSpPr>
          <p:cNvPr id="9" name="Shape 7"/>
          <p:cNvSpPr/>
          <p:nvPr/>
        </p:nvSpPr>
        <p:spPr>
          <a:xfrm>
            <a:off x="1677084" y="3364245"/>
            <a:ext cx="8715911" cy="1080484"/>
          </a:xfrm>
          <a:prstGeom prst="roundRect">
            <a:avLst>
              <a:gd name="adj" fmla="val 8000"/>
            </a:avLst>
          </a:prstGeom>
          <a:solidFill>
            <a:srgbClr val="006633"/>
          </a:solidFill>
          <a:ln/>
          <a:effectLst>
            <a:outerShdw blurRad="101600" dist="38100" dir="5400000" algn="bl" rotWithShape="0">
              <a:srgbClr val="006633">
                <a:alpha val="12000"/>
              </a:srgbClr>
            </a:outerShdw>
          </a:effectLst>
        </p:spPr>
        <p:txBody>
          <a:bodyPr/>
          <a:lstStyle/>
          <a:p>
            <a:endParaRPr/>
          </a:p>
        </p:txBody>
      </p:sp>
      <p:sp>
        <p:nvSpPr>
          <p:cNvPr id="10" name="Shape 8"/>
          <p:cNvSpPr/>
          <p:nvPr/>
        </p:nvSpPr>
        <p:spPr>
          <a:xfrm>
            <a:off x="1929197" y="3616358"/>
            <a:ext cx="576258" cy="576258"/>
          </a:xfrm>
          <a:prstGeom prst="ellipse">
            <a:avLst/>
          </a:prstGeom>
          <a:solidFill>
            <a:srgbClr val="9FC41D"/>
          </a:solidFill>
          <a:ln/>
        </p:spPr>
        <p:txBody>
          <a:bodyPr/>
          <a:lstStyle/>
          <a:p>
            <a:endParaRPr/>
          </a:p>
        </p:txBody>
      </p:sp>
      <p:sp>
        <p:nvSpPr>
          <p:cNvPr id="11" name="Text 9"/>
          <p:cNvSpPr/>
          <p:nvPr/>
        </p:nvSpPr>
        <p:spPr>
          <a:xfrm>
            <a:off x="1929197" y="3616358"/>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±30'</a:t>
            </a:r>
            <a:endParaRPr lang="en-US" sz="1200" dirty="0"/>
          </a:p>
        </p:txBody>
      </p:sp>
      <p:sp>
        <p:nvSpPr>
          <p:cNvPr id="12" name="Text 10"/>
          <p:cNvSpPr/>
          <p:nvPr/>
        </p:nvSpPr>
        <p:spPr>
          <a:xfrm>
            <a:off x="2757569" y="3508310"/>
            <a:ext cx="6987135" cy="288129"/>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Studi Kasus &amp; Diskusi Kelompok</a:t>
            </a:r>
            <a:endParaRPr lang="en-US" sz="1300" dirty="0"/>
          </a:p>
        </p:txBody>
      </p:sp>
      <p:sp>
        <p:nvSpPr>
          <p:cNvPr id="13" name="Text 11"/>
          <p:cNvSpPr/>
          <p:nvPr/>
        </p:nvSpPr>
        <p:spPr>
          <a:xfrm>
            <a:off x="2757569" y="3810845"/>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D8E8C8"/>
                </a:solidFill>
                <a:latin typeface="Calibri" pitchFamily="34" charset="0"/>
                <a:ea typeface="Calibri" pitchFamily="34" charset="-122"/>
                <a:cs typeface="Calibri" pitchFamily="34" charset="-120"/>
              </a:rPr>
              <a:t>Memetakan aktivitas pada studi kasus ke dalam fase siklus hidup proyek yang tepat</a:t>
            </a:r>
            <a:endParaRPr lang="en-US" sz="1000" dirty="0"/>
          </a:p>
        </p:txBody>
      </p:sp>
      <p:sp>
        <p:nvSpPr>
          <p:cNvPr id="14" name="Shape 12"/>
          <p:cNvSpPr/>
          <p:nvPr/>
        </p:nvSpPr>
        <p:spPr>
          <a:xfrm>
            <a:off x="1677084" y="4588795"/>
            <a:ext cx="8715911" cy="1080484"/>
          </a:xfrm>
          <a:prstGeom prst="roundRect">
            <a:avLst>
              <a:gd name="adj" fmla="val 8000"/>
            </a:avLst>
          </a:prstGeom>
          <a:solidFill>
            <a:srgbClr val="F1F7EC"/>
          </a:solidFill>
          <a:ln/>
          <a:effectLst>
            <a:outerShdw blurRad="101600" dist="38100" dir="5400000" algn="bl" rotWithShape="0">
              <a:srgbClr val="006633">
                <a:alpha val="12000"/>
              </a:srgbClr>
            </a:outerShdw>
          </a:effectLst>
        </p:spPr>
        <p:txBody>
          <a:bodyPr/>
          <a:lstStyle/>
          <a:p>
            <a:endParaRPr/>
          </a:p>
        </p:txBody>
      </p:sp>
      <p:sp>
        <p:nvSpPr>
          <p:cNvPr id="15" name="Shape 13"/>
          <p:cNvSpPr/>
          <p:nvPr/>
        </p:nvSpPr>
        <p:spPr>
          <a:xfrm>
            <a:off x="1929197" y="4840908"/>
            <a:ext cx="576258" cy="576258"/>
          </a:xfrm>
          <a:prstGeom prst="ellipse">
            <a:avLst/>
          </a:prstGeom>
          <a:solidFill>
            <a:srgbClr val="9FC41D"/>
          </a:solidFill>
          <a:ln/>
        </p:spPr>
        <p:txBody>
          <a:bodyPr/>
          <a:lstStyle/>
          <a:p>
            <a:endParaRPr/>
          </a:p>
        </p:txBody>
      </p:sp>
      <p:sp>
        <p:nvSpPr>
          <p:cNvPr id="16" name="Text 14"/>
          <p:cNvSpPr/>
          <p:nvPr/>
        </p:nvSpPr>
        <p:spPr>
          <a:xfrm>
            <a:off x="1929197" y="4840908"/>
            <a:ext cx="576258" cy="576258"/>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17" name="Text 15"/>
          <p:cNvSpPr/>
          <p:nvPr/>
        </p:nvSpPr>
        <p:spPr>
          <a:xfrm>
            <a:off x="2757569" y="4732859"/>
            <a:ext cx="6987135" cy="288129"/>
          </a:xfrm>
          <a:prstGeom prst="rect">
            <a:avLst/>
          </a:prstGeom>
          <a:noFill/>
          <a:ln/>
        </p:spPr>
        <p:txBody>
          <a:bodyPr wrap="square" lIns="0" tIns="0" rIns="0" bIns="0" rtlCol="0" anchor="ctr"/>
          <a:lstStyle/>
          <a:p>
            <a:pPr marL="0" indent="0">
              <a:buNone/>
            </a:pPr>
            <a:r>
              <a:rPr lang="en-US" sz="1300" b="1" dirty="0">
                <a:solidFill>
                  <a:srgbClr val="006633"/>
                </a:solidFill>
                <a:latin typeface="Cambria" pitchFamily="34" charset="0"/>
                <a:ea typeface="Cambria" pitchFamily="34" charset="-122"/>
                <a:cs typeface="Cambria" pitchFamily="34" charset="-120"/>
              </a:rPr>
              <a:t>Refleksi &amp; Penutup</a:t>
            </a:r>
            <a:endParaRPr lang="en-US" sz="1300" dirty="0"/>
          </a:p>
        </p:txBody>
      </p:sp>
      <p:sp>
        <p:nvSpPr>
          <p:cNvPr id="18" name="Text 16"/>
          <p:cNvSpPr/>
          <p:nvPr/>
        </p:nvSpPr>
        <p:spPr>
          <a:xfrm>
            <a:off x="2757569" y="5035395"/>
            <a:ext cx="6987135" cy="540242"/>
          </a:xfrm>
          <a:prstGeom prst="rect">
            <a:avLst/>
          </a:prstGeom>
          <a:noFill/>
          <a:ln/>
        </p:spPr>
        <p:txBody>
          <a:bodyPr wrap="square" lIns="0" tIns="0" rIns="0" bIns="0" rtlCol="0" anchor="ctr"/>
          <a:lstStyle/>
          <a:p>
            <a:pPr marL="0" indent="0">
              <a:lnSpc>
                <a:spcPct val="120000"/>
              </a:lnSpc>
              <a:buNone/>
            </a:pPr>
            <a:r>
              <a:rPr lang="en-US" sz="1000" dirty="0">
                <a:solidFill>
                  <a:srgbClr val="1F7A34"/>
                </a:solidFill>
                <a:latin typeface="Calibri" pitchFamily="34" charset="0"/>
                <a:ea typeface="Calibri" pitchFamily="34" charset="-122"/>
                <a:cs typeface="Calibri" pitchFamily="34" charset="-120"/>
              </a:rPr>
              <a:t>Rangkuman materi dan penjelasan Tugas Individu 1</a:t>
            </a:r>
            <a:endParaRPr lang="en-US" sz="1000" dirty="0"/>
          </a:p>
        </p:txBody>
      </p:sp>
      <p:sp>
        <p:nvSpPr>
          <p:cNvPr id="19" name="TextBox 18"/>
          <p:cNvSpPr txBox="1"/>
          <p:nvPr/>
        </p:nvSpPr>
        <p:spPr>
          <a:xfrm>
            <a:off x="3017520" y="6446520"/>
            <a:ext cx="6126480" cy="274320"/>
          </a:xfrm>
          <a:prstGeom prst="rect">
            <a:avLst/>
          </a:prstGeom>
          <a:noFill/>
        </p:spPr>
        <p:txBody>
          <a:bodyPr wrap="square">
            <a:spAutoFit/>
          </a:bodyPr>
          <a:lstStyle/>
          <a:p>
            <a:pPr algn="ctr"/>
            <a:r>
              <a:rPr sz="900" b="0">
                <a:solidFill>
                  <a:srgbClr val="6E9B7C"/>
                </a:solidFill>
              </a:rPr>
              <a:t>TIK2111 • Manajemen Proyek TI • Pertemuan 1  •  26/27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874519" y="1691640"/>
            <a:ext cx="6446520" cy="822960"/>
          </a:xfrm>
          <a:prstGeom prst="rect">
            <a:avLst/>
          </a:prstGeom>
          <a:noFill/>
          <a:ln/>
        </p:spPr>
        <p:txBody>
          <a:bodyPr wrap="square" lIns="0" tIns="0" rIns="0" bIns="0" rtlCol="0" anchor="t"/>
          <a:lstStyle/>
          <a:p>
            <a:pPr marL="0" indent="0">
              <a:buNone/>
            </a:pPr>
            <a:r>
              <a:rPr lang="en-US" sz="2700" b="1" dirty="0">
                <a:latin typeface="Cambria" pitchFamily="34" charset="0"/>
                <a:ea typeface="Cambria" pitchFamily="34" charset="-122"/>
                <a:cs typeface="Cambria" pitchFamily="34" charset="-120"/>
              </a:rPr>
              <a:t>Terima Kasih</a:t>
            </a:r>
            <a:endParaRPr lang="en-US" sz="4800" dirty="0"/>
          </a:p>
        </p:txBody>
      </p:sp>
      <p:sp>
        <p:nvSpPr>
          <p:cNvPr id="5" name="Text 2"/>
          <p:cNvSpPr/>
          <p:nvPr/>
        </p:nvSpPr>
        <p:spPr>
          <a:xfrm>
            <a:off x="1874519" y="2560320"/>
            <a:ext cx="6446520" cy="386791"/>
          </a:xfrm>
          <a:prstGeom prst="rect">
            <a:avLst/>
          </a:prstGeom>
          <a:noFill/>
          <a:ln/>
        </p:spPr>
        <p:txBody>
          <a:bodyPr wrap="square" lIns="0" tIns="0" rIns="0" bIns="0" rtlCol="0" anchor="ctr"/>
          <a:lstStyle/>
          <a:p>
            <a:pPr marL="0" indent="0">
              <a:buNone/>
            </a:pPr>
            <a:r>
              <a:rPr lang="en-US" sz="1400" dirty="0">
                <a:solidFill>
                  <a:srgbClr val="9FC41D"/>
                </a:solidFill>
                <a:latin typeface="Calibri" pitchFamily="34" charset="0"/>
                <a:ea typeface="Calibri" pitchFamily="34" charset="-122"/>
                <a:cs typeface="Calibri" pitchFamily="34" charset="-120"/>
              </a:rPr>
              <a:t>Pertanyaan &amp; Diskusi</a:t>
            </a:r>
            <a:endParaRPr lang="en-US" sz="1400" dirty="0"/>
          </a:p>
        </p:txBody>
      </p:sp>
      <p:sp>
        <p:nvSpPr>
          <p:cNvPr id="6" name="Text 4"/>
          <p:cNvSpPr/>
          <p:nvPr/>
        </p:nvSpPr>
        <p:spPr>
          <a:xfrm>
            <a:off x="1874519" y="3301669"/>
            <a:ext cx="6124194" cy="322326"/>
          </a:xfrm>
          <a:prstGeom prst="rect">
            <a:avLst/>
          </a:prstGeom>
          <a:noFill/>
          <a:ln/>
        </p:spPr>
        <p:txBody>
          <a:bodyPr wrap="square" lIns="0" tIns="0" rIns="0" bIns="0" rtlCol="0" anchor="ctr"/>
          <a:lstStyle/>
          <a:p>
            <a:pPr marL="0" indent="0">
              <a:buNone/>
            </a:pPr>
            <a:r>
              <a:rPr lang="en-US" sz="900" i="1" dirty="0">
                <a:solidFill>
                  <a:srgbClr val="DCE8D0"/>
                </a:solidFill>
                <a:latin typeface="Calibri" pitchFamily="34" charset="0"/>
                <a:ea typeface="Calibri" pitchFamily="34" charset="-122"/>
                <a:cs typeface="Calibri" pitchFamily="34" charset="-120"/>
              </a:rPr>
              <a:t>Pertemuan berikutnya: Metodologi &amp; Standar Manajemen Proyek (PMBOK, Agile/Scrum)</a:t>
            </a:r>
            <a:endParaRPr lang="en-US" sz="900" dirty="0"/>
          </a:p>
        </p:txBody>
      </p:sp>
      <p:sp>
        <p:nvSpPr>
          <p:cNvPr id="7" name="TextBox 6"/>
          <p:cNvSpPr txBox="1"/>
          <p:nvPr/>
        </p:nvSpPr>
        <p:spPr>
          <a:xfrm>
            <a:off x="3017520" y="6446520"/>
            <a:ext cx="6126480" cy="274320"/>
          </a:xfrm>
          <a:prstGeom prst="rect">
            <a:avLst/>
          </a:prstGeom>
          <a:noFill/>
        </p:spPr>
        <p:txBody>
          <a:bodyPr wrap="square">
            <a:spAutoFit/>
          </a:bodyPr>
          <a:lstStyle/>
          <a:p>
            <a:pPr algn="ctr"/>
            <a:r>
              <a:rPr sz="900" b="0">
                <a:solidFill>
                  <a:srgbClr val="FFFFFF"/>
                </a:solidFill>
              </a:rPr>
              <a:t>TIK2111 • Manajemen Proyek TI • Pertemuan 1  •  27/27</a:t>
            </a:r>
          </a:p>
        </p:txBody>
      </p:sp>
    </p:spTree>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TotalTime>
  <Words>1660</Words>
  <Application>Microsoft Macintosh PowerPoint</Application>
  <PresentationFormat>Widescreen</PresentationFormat>
  <Paragraphs>284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6</cp:revision>
  <dcterms:created xsi:type="dcterms:W3CDTF">2021-10-17T13:14:05Z</dcterms:created>
  <dcterms:modified xsi:type="dcterms:W3CDTF">2026-09-16T07:34:56Z</dcterms:modified>
</cp:coreProperties>
</file>