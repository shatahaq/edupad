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96"/>
  </p:normalViewPr>
  <p:slideViewPr>
    <p:cSldViewPr snapToGrid="0" snapToObjects="1">
      <p:cViewPr varScale="1">
        <p:scale>
          <a:sx n="116" d="100"/>
          <a:sy n="116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7993" y="1819982"/>
            <a:ext cx="6735380" cy="1815465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7993" y="3899531"/>
            <a:ext cx="6735380" cy="83322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9224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201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586" y="1178415"/>
            <a:ext cx="10296863" cy="106264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587" y="2519464"/>
            <a:ext cx="10296863" cy="32879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0" y="5926921"/>
            <a:ext cx="2387600" cy="317794"/>
          </a:xfrm>
          <a:prstGeom prst="rect">
            <a:avLst/>
          </a:prstGeom>
        </p:spPr>
        <p:txBody>
          <a:bodyPr/>
          <a:lstStyle/>
          <a:p>
            <a:fld id="{CB16C0DE-2CE3-D544-94DC-617B67A9469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0" y="6356351"/>
            <a:ext cx="3581400" cy="31779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0361" y="6356351"/>
            <a:ext cx="2387600" cy="317794"/>
          </a:xfrm>
          <a:prstGeom prst="rect">
            <a:avLst/>
          </a:prstGeom>
        </p:spPr>
        <p:txBody>
          <a:bodyPr/>
          <a:lstStyle/>
          <a:p>
            <a:fld id="{4259B9FA-38A6-B646-AFC0-A8E2C63F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40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318" y="999858"/>
            <a:ext cx="10186482" cy="690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67318" y="1825625"/>
            <a:ext cx="4852481" cy="39331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38226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16C0DE-2CE3-D544-94DC-617B67A9469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56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7591" y="943584"/>
            <a:ext cx="6293795" cy="68499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7591" y="1790899"/>
            <a:ext cx="4839984" cy="60818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591" y="2505075"/>
            <a:ext cx="4839984" cy="3312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1568" y="1790899"/>
            <a:ext cx="4863820" cy="60818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91568" y="2505075"/>
            <a:ext cx="4863820" cy="3312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785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1877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16C0DE-2CE3-D544-94DC-617B67A9469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59B9FA-38A6-B646-AFC0-A8E2C63F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7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537" y="1361872"/>
            <a:ext cx="3932237" cy="924128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952" y="1361872"/>
            <a:ext cx="5674435" cy="449917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537" y="2422186"/>
            <a:ext cx="3932237" cy="34468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59B9FA-38A6-B646-AFC0-A8E2C63F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51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177047"/>
            <a:ext cx="6172200" cy="45202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502" y="1170418"/>
            <a:ext cx="3793787" cy="45202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83188" y="599122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766" y="1466784"/>
            <a:ext cx="10690698" cy="25604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8264" y="427672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20264" y="4276728"/>
            <a:ext cx="2743200" cy="365125"/>
          </a:xfrm>
          <a:prstGeom prst="rect">
            <a:avLst/>
          </a:prstGeom>
        </p:spPr>
        <p:txBody>
          <a:bodyPr/>
          <a:lstStyle/>
          <a:p>
            <a:fld id="{4259B9FA-38A6-B646-AFC0-A8E2C63F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3175" y="1786"/>
            <a:ext cx="12185649" cy="685442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2766" y="1257615"/>
            <a:ext cx="10690698" cy="69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766" y="2086252"/>
            <a:ext cx="10690698" cy="3835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204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74519" y="1417320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TIK2111 • MANAJEMEN PROYEK TI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74519" y="1691640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Metodologi &amp; Standar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Manajemen Proyek TI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74519" y="2560320"/>
            <a:ext cx="57302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C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PMBOK  •  Agile / Scrum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74519" y="2954274"/>
            <a:ext cx="57302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  •  Sub-CPMK 1</a:t>
            </a:r>
            <a:endParaRPr lang="en-US" sz="1300" dirty="0"/>
          </a:p>
        </p:txBody>
      </p:sp>
      <p:sp>
        <p:nvSpPr>
          <p:cNvPr id="8" name="Text 7"/>
          <p:cNvSpPr/>
          <p:nvPr/>
        </p:nvSpPr>
        <p:spPr>
          <a:xfrm>
            <a:off x="1874519" y="4136136"/>
            <a:ext cx="6446520" cy="250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D3 Teknik Informatika — Fakultas Vokasi USU</a:t>
            </a:r>
            <a:endParaRPr lang="en-US" sz="1000" dirty="0"/>
          </a:p>
        </p:txBody>
      </p:sp>
      <p:sp>
        <p:nvSpPr>
          <p:cNvPr id="9" name="Text 8"/>
          <p:cNvSpPr/>
          <p:nvPr/>
        </p:nvSpPr>
        <p:spPr>
          <a:xfrm>
            <a:off x="1874519" y="4386834"/>
            <a:ext cx="6446520" cy="250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Zulhamsyah Fachrurrazi Nasution, S.Kom., M.MSI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RECAP PERTEMUAN SEBELUMNYA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Sebelumnya Kita Sudah Belajar…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3303128" cy="3088640"/>
          </a:xfrm>
          <a:prstGeom prst="roundRect">
            <a:avLst>
              <a:gd name="adj" fmla="val 3333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80346" y="2397082"/>
            <a:ext cx="471875" cy="471875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80346" y="2397082"/>
            <a:ext cx="471875" cy="471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0346" y="3040549"/>
            <a:ext cx="2788355" cy="514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Proyek?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80346" y="3598220"/>
            <a:ext cx="2788355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Usaha sementara, unik, dan berkembang bertahap — berbeda dari kegiatan operasional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3475" y="2139696"/>
            <a:ext cx="3303128" cy="3088640"/>
          </a:xfrm>
          <a:prstGeom prst="roundRect">
            <a:avLst>
              <a:gd name="adj" fmla="val 3333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640862" y="2397082"/>
            <a:ext cx="471875" cy="471875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40862" y="2397082"/>
            <a:ext cx="471875" cy="471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0862" y="3040549"/>
            <a:ext cx="2788355" cy="514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Constraint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0862" y="3598220"/>
            <a:ext cx="2788355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lingkup, waktu, biaya saling terkait, dijaga keseimbangannya demi mutu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43991" y="2139696"/>
            <a:ext cx="3303128" cy="3088640"/>
          </a:xfrm>
          <a:prstGeom prst="roundRect">
            <a:avLst>
              <a:gd name="adj" fmla="val 3333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201377" y="2397082"/>
            <a:ext cx="471875" cy="471875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01377" y="2397082"/>
            <a:ext cx="471875" cy="471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01377" y="3040549"/>
            <a:ext cx="2788355" cy="514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Siklus Hidup Proyek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01377" y="3598220"/>
            <a:ext cx="2788355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fase: Inisiasi, Perencanaan, Eksekusi, Monitoring &amp; Pengendalian, Penutupan</a:t>
            </a:r>
            <a:endParaRPr 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2/24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PETA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Agenda Hari Ini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0654" y="2139696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208575" y="2416784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208575" y="2416784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02336" y="2139696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metodologi &amp; standar manajemen proyek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9973" y="2139696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397894" y="2416784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397894" y="2416784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91656" y="2139696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PMBOK: bidang pengetahuan &amp; prinsip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0654" y="3393193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208575" y="3670281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208575" y="3670281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02336" y="3393193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Agile: nilai &amp; prinsip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973" y="3393193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397894" y="3670281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397894" y="3670281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1656" y="3393193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peran, elemen, dan siklus sprint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0654" y="4646690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208575" y="4923779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208575" y="4923779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02336" y="4646690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&amp; memilih metodologi yang tepat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973" y="4646690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397894" y="4923779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397894" y="4923779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1656" y="4646690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diskusi kelompok</a:t>
            </a:r>
            <a:endParaRPr 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3/24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77084" y="2139696"/>
            <a:ext cx="8715911" cy="1080484"/>
          </a:xfrm>
          <a:prstGeom prst="roundRect">
            <a:avLst>
              <a:gd name="adj" fmla="val 8000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929197" y="2283760"/>
            <a:ext cx="2160969" cy="252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C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9197" y="2535873"/>
            <a:ext cx="8211685" cy="61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mampu menjelaskan konsep dasar, karakteristik, siklus hidup, serta metodologi dan standar manajemen proyek TI (PMBOK, Agile/Scrum).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77084" y="3436277"/>
            <a:ext cx="7203232" cy="288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Fokus Pertemuan Ini — Indikator Pencapaian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77084" y="3796439"/>
            <a:ext cx="8355749" cy="187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konsep metodologi dan standar manajemen proyek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kerangka kerja PMBOK beserta bidang pengetahuan utamanya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nilai, prinsip Agile, dan framework Scrum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pendekatan predictive dan adaptive untuk memilih metodologi yang tepat pada studi kasus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4/24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874519" y="1417320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PEMANTIK DISKUSI</a:t>
            </a:r>
            <a:endParaRPr lang="en-US" sz="1200" dirty="0"/>
          </a:p>
        </p:txBody>
      </p:sp>
      <p:sp>
        <p:nvSpPr>
          <p:cNvPr id="5" name="Text 4"/>
          <p:cNvSpPr/>
          <p:nvPr/>
        </p:nvSpPr>
        <p:spPr>
          <a:xfrm>
            <a:off x="1874519" y="1691640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Sebelum Kita Mulai…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874519" y="2560320"/>
            <a:ext cx="495886" cy="495886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1874519" y="2560320"/>
            <a:ext cx="495886" cy="49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74519" y="3524543"/>
            <a:ext cx="6446520" cy="1101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“Menurut Anda, apakah semua proyek TI harus direncanakan secara rinci sejak awal, atau bisa dikerjakan bertahap sambil berjalan?”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TIK2111 • Manajemen Proyek TI • Pertemuan 2  •  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Apa Itu Metodologi Manajemen Proyek?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10424160" cy="1636851"/>
          </a:xfrm>
          <a:prstGeom prst="roundRect">
            <a:avLst>
              <a:gd name="adj" fmla="val 6316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67560" y="2311996"/>
            <a:ext cx="9734959" cy="129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“Kerangka kerja (framework) berisi prinsip, proses, dan praktik terstruktur yang digunakan untuk merencanakan, melaksanakan, dan mengendalikan proyek secara konsisten.”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991922"/>
            <a:ext cx="9993409" cy="111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(mis. PMBOK) bersifat panduan praktik terbaik yang fleksibel dan dapat disesuaikan (tailoring); metodologi tertentu (mis. Scrum, PRINCE2) umumnya lebih preskriptif dan langkah-langkahnya lebih spesifik.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6/24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Mengapa Proyek TI Perlu Standar &amp; Metodologi?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28928" y="2139696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564233" y="2414219"/>
            <a:ext cx="470611" cy="47061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564233" y="2414219"/>
            <a:ext cx="470611" cy="47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30932" y="2312253"/>
            <a:ext cx="3490366" cy="3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Konsistensi Proses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30932" y="2673055"/>
            <a:ext cx="3490366" cy="98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langkah kerja yang seragam antarproyek dan antaranggota tim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52692" y="2139696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387998" y="2414219"/>
            <a:ext cx="470611" cy="47061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87998" y="2414219"/>
            <a:ext cx="470611" cy="47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54697" y="2312253"/>
            <a:ext cx="3490366" cy="3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Mengurangi Risiko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4697" y="2673055"/>
            <a:ext cx="3490366" cy="98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Menekan risiko kegagalan akibat pendekatan yang tidak terstruktur (ad-hoc)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28928" y="4022140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564233" y="4296664"/>
            <a:ext cx="470611" cy="47061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564233" y="4296664"/>
            <a:ext cx="470611" cy="47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30932" y="4194698"/>
            <a:ext cx="3490366" cy="3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Bahasa yang Sama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30932" y="4555500"/>
            <a:ext cx="3490366" cy="98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Memudahkan komunikasi tim &amp; stakeholder dengan terminologi yang konsisten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52692" y="4022140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87998" y="4296664"/>
            <a:ext cx="470611" cy="47061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387998" y="4296664"/>
            <a:ext cx="470611" cy="47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54697" y="4194698"/>
            <a:ext cx="3490366" cy="3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Praktik Terbaik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4697" y="4555500"/>
            <a:ext cx="3490366" cy="98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tolok ukur (benchmark) dari pengalaman industri yang telah teruji</a:t>
            </a:r>
            <a:endParaRPr lang="en-US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7/24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PREDICTIVE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Mengenal PMBOK Guide (PMI)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01916" y="2139696"/>
            <a:ext cx="5615247" cy="3529584"/>
          </a:xfrm>
          <a:prstGeom prst="roundRect">
            <a:avLst>
              <a:gd name="adj" fmla="val 2727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522787" y="2420458"/>
            <a:ext cx="441198" cy="0"/>
          </a:xfrm>
          <a:prstGeom prst="line">
            <a:avLst/>
          </a:prstGeom>
          <a:noFill/>
          <a:ln w="38100">
            <a:solidFill>
              <a:srgbClr val="9FC4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522787" y="2580894"/>
            <a:ext cx="4973504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Guide to the Project Management Body of Knowledge (PMBOK® Guide)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22787" y="3543507"/>
            <a:ext cx="4973504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Diterbitkan oleh Project Management Institute (PMI); berisi kumpulan praktik terbaik manajemen proyek yang diakui secara global.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22787" y="4626448"/>
            <a:ext cx="4973504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panduan (best practice), bukan aturan kaku — dapat disesuaikan (tailoring) dengan karakteristik proyek.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97926" y="2139696"/>
            <a:ext cx="3770237" cy="32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Perkembangan Edisi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97926" y="2540785"/>
            <a:ext cx="3770237" cy="296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Edisi ke-6 &amp; sebelumnya: terstruktur atas 5 Process Groups × 10 Knowledge Areas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Edisi ke-7 (2021): bergeser ke pendekatan berbasis 12 prinsip &amp; performance domain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5 fase &amp; 10 knowledge areas tetap relevan sebagai dasar pembelajaran</a:t>
            </a:r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PREDICTIVE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10 Bidang Pengetahuan (Knowledge Areas) PMBOK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64283" y="2139696"/>
            <a:ext cx="1784185" cy="1318745"/>
          </a:xfrm>
          <a:prstGeom prst="roundRect">
            <a:avLst>
              <a:gd name="adj" fmla="val 7059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923656" y="2310357"/>
            <a:ext cx="465439" cy="465439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923656" y="2310357"/>
            <a:ext cx="465439" cy="46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41856" y="2876642"/>
            <a:ext cx="1629038" cy="50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3615" y="2139696"/>
            <a:ext cx="1784185" cy="1318745"/>
          </a:xfrm>
          <a:prstGeom prst="roundRect">
            <a:avLst>
              <a:gd name="adj" fmla="val 7059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862988" y="2310357"/>
            <a:ext cx="465439" cy="465439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862988" y="2310357"/>
            <a:ext cx="465439" cy="46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81188" y="2876642"/>
            <a:ext cx="1629038" cy="50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Lingkup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42947" y="2139696"/>
            <a:ext cx="1784185" cy="1318745"/>
          </a:xfrm>
          <a:prstGeom prst="roundRect">
            <a:avLst>
              <a:gd name="adj" fmla="val 7059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802320" y="2310357"/>
            <a:ext cx="465439" cy="465439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802320" y="2310357"/>
            <a:ext cx="465439" cy="46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20520" y="2876642"/>
            <a:ext cx="1629038" cy="50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2279" y="2139696"/>
            <a:ext cx="1784185" cy="1318745"/>
          </a:xfrm>
          <a:prstGeom prst="roundRect">
            <a:avLst>
              <a:gd name="adj" fmla="val 7059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741652" y="2310357"/>
            <a:ext cx="465439" cy="465439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41652" y="2310357"/>
            <a:ext cx="465439" cy="46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9852" y="2876642"/>
            <a:ext cx="1629038" cy="50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21611" y="2139696"/>
            <a:ext cx="1784185" cy="1318745"/>
          </a:xfrm>
          <a:prstGeom prst="roundRect">
            <a:avLst>
              <a:gd name="adj" fmla="val 7059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680983" y="2310357"/>
            <a:ext cx="465439" cy="465439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680983" y="2310357"/>
            <a:ext cx="465439" cy="46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99184" y="2876642"/>
            <a:ext cx="1629038" cy="50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64283" y="3691161"/>
            <a:ext cx="1784185" cy="1318745"/>
          </a:xfrm>
          <a:prstGeom prst="roundRect">
            <a:avLst>
              <a:gd name="adj" fmla="val 7059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923656" y="3861822"/>
            <a:ext cx="465439" cy="465439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923656" y="3861822"/>
            <a:ext cx="465439" cy="46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41856" y="4428107"/>
            <a:ext cx="1629038" cy="50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Daya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3615" y="3691161"/>
            <a:ext cx="1784185" cy="1318745"/>
          </a:xfrm>
          <a:prstGeom prst="roundRect">
            <a:avLst>
              <a:gd name="adj" fmla="val 7059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862988" y="3861822"/>
            <a:ext cx="465439" cy="465439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862988" y="3861822"/>
            <a:ext cx="465439" cy="46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81188" y="4428107"/>
            <a:ext cx="1629038" cy="50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42947" y="3691161"/>
            <a:ext cx="1784185" cy="1318745"/>
          </a:xfrm>
          <a:prstGeom prst="roundRect">
            <a:avLst>
              <a:gd name="adj" fmla="val 7059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802320" y="3861822"/>
            <a:ext cx="465439" cy="465439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802320" y="3861822"/>
            <a:ext cx="465439" cy="46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20520" y="4428107"/>
            <a:ext cx="1629038" cy="50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82279" y="3691161"/>
            <a:ext cx="1784185" cy="1318745"/>
          </a:xfrm>
          <a:prstGeom prst="roundRect">
            <a:avLst>
              <a:gd name="adj" fmla="val 7059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741652" y="3861822"/>
            <a:ext cx="465439" cy="465439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741652" y="3861822"/>
            <a:ext cx="465439" cy="46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59852" y="4428107"/>
            <a:ext cx="1629038" cy="50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21611" y="3696548"/>
            <a:ext cx="1784185" cy="1318745"/>
          </a:xfrm>
          <a:prstGeom prst="roundRect">
            <a:avLst>
              <a:gd name="adj" fmla="val 7059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80983" y="3861822"/>
            <a:ext cx="465439" cy="465439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80983" y="3861822"/>
            <a:ext cx="465439" cy="46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99184" y="4428107"/>
            <a:ext cx="1629038" cy="50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64283" y="5281413"/>
            <a:ext cx="9308792" cy="387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knowledge area berisi proses-proses yang tersebar pada kelima fase siklus hidup proyek.</a:t>
            </a:r>
            <a:endParaRPr lang="en-US" sz="1100" dirty="0"/>
          </a:p>
        </p:txBody>
      </p:sp>
      <p:sp>
        <p:nvSpPr>
          <p:cNvPr id="45" name="TextBox 44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PREDICTIVE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Kelebihan &amp; Keterbatasan Pendekatan Predictive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5081778" cy="3474720"/>
          </a:xfrm>
          <a:prstGeom prst="roundRect">
            <a:avLst>
              <a:gd name="adj" fmla="val 3000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83564" y="2356866"/>
            <a:ext cx="45605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KELEBIHAN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83564" y="2834640"/>
            <a:ext cx="456057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Terstruktur, jelas, dan mudah dipantau progresnya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lengkap sejak awal proyek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requirement yang stabil &amp; regulasi ketat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65342" y="2139696"/>
            <a:ext cx="5081778" cy="3474720"/>
          </a:xfrm>
          <a:prstGeom prst="roundRect">
            <a:avLst>
              <a:gd name="adj" fmla="val 3000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25946" y="2356866"/>
            <a:ext cx="45605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9FC4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KETERBATASAN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25946" y="2834640"/>
            <a:ext cx="456057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fleksibel terhadap perubahan di tengah proyek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Umpan balik pengguna baru diperoleh di akhir proyek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tinggi bila requirement ternyata berubah</a:t>
            </a:r>
            <a:endParaRPr lang="en-US" sz="1300" dirty="0"/>
          </a:p>
        </p:txBody>
      </p:sp>
      <p:sp>
        <p:nvSpPr>
          <p:cNvPr id="10" name="TextBox 9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ADAPTIVE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Mengenal Agile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39464" y="2139696"/>
            <a:ext cx="8991150" cy="1263219"/>
          </a:xfrm>
          <a:prstGeom prst="roundRect">
            <a:avLst>
              <a:gd name="adj" fmla="val 7059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836692" y="2288310"/>
            <a:ext cx="8396694" cy="965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“Pendekatan pengembangan yang iteratif dan inkremental, menekankan kolaborasi, adaptasi terhadap perubahan, dan penyampaian nilai secara bertahap.”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39464" y="3588683"/>
            <a:ext cx="7430703" cy="29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Nilai Utama Agile Manifesto (2001)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39464" y="3960218"/>
            <a:ext cx="8619615" cy="1709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 &amp; interaksi lebih diutamakan daripada proses &amp; alat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lunak yang berjalan lebih diutamakan daripada dokumentasi lengkap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 dengan pelanggan lebih diutamakan daripada negosiasi kontrak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Tanggap terhadap perubahan lebih diutamakan daripada mengikuti rencana kaku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ADAPTIVE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Prinsip Kunci di Balik Agile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0654" y="2139696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208575" y="2416784"/>
            <a:ext cx="461814" cy="461814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208575" y="2416784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02336" y="2139696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Kepuasan pelanggan melalui penyampaian hasil kerja secara awal &amp; berkelanjutan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99973" y="2139696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397894" y="2416784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397894" y="2416784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91656" y="2139696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Menyambut perubahan requirement, bahkan pada tahap akhir pengembangan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0654" y="3393193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208575" y="3670281"/>
            <a:ext cx="461814" cy="461814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208575" y="3670281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02336" y="3393193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Penyampaian hasil kerja yang berfungsi secara sering (mis. mingguan)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99973" y="3393193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397894" y="3670281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397894" y="3670281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1656" y="3393193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 harian antara pelaku bisnis dan tim pengembang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0654" y="4646690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208575" y="4923779"/>
            <a:ext cx="461814" cy="461814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208575" y="4923779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02336" y="4646690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yang self-organizing dan memiliki motivasi tinggi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99973" y="4646690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397894" y="4923779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397894" y="4923779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1656" y="4646690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 berkala untuk terus meningkatkan efektivitas tim</a:t>
            </a:r>
            <a:endParaRPr lang="en-US" sz="900" dirty="0"/>
          </a:p>
        </p:txBody>
      </p:sp>
      <p:sp>
        <p:nvSpPr>
          <p:cNvPr id="28" name="TextBox 27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ADAPTIVE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Scrum: Framework Agile Paling Populer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10424160" cy="1723001"/>
          </a:xfrm>
          <a:prstGeom prst="roundRect">
            <a:avLst>
              <a:gd name="adj" fmla="val 6000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67560" y="2355071"/>
            <a:ext cx="9734959" cy="129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“Scrum adalah framework Agile untuk mengelola pengembangan produk secara iteratif dalam siklus pendek yang disebut Sprint (biasanya 1–4 minggu).”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4121147"/>
            <a:ext cx="9907259" cy="1206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Sprint menghasilkan increment produk yang berpotensi dapat dirilis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pada transparansi, inspeksi, dan adaptasi secara berkelanjutan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13/24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ADAPTIVE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Tiga Peran Utama dalam Scrum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8476" y="2139696"/>
            <a:ext cx="3160208" cy="3529584"/>
          </a:xfrm>
          <a:prstGeom prst="roundRect">
            <a:avLst>
              <a:gd name="adj" fmla="val 3117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218164" y="2468029"/>
            <a:ext cx="820833" cy="820833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218164" y="2468029"/>
            <a:ext cx="820833" cy="82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4726" y="3494071"/>
            <a:ext cx="2667708" cy="49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768" y="4068654"/>
            <a:ext cx="2585625" cy="147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prioritas dan isi product backlog; mewakili kebutuhan stakeholder dan pengguna.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54935" y="2139696"/>
            <a:ext cx="3160208" cy="3529584"/>
          </a:xfrm>
          <a:prstGeom prst="roundRect">
            <a:avLst>
              <a:gd name="adj" fmla="val 3117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624623" y="2468029"/>
            <a:ext cx="820833" cy="820833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624623" y="2468029"/>
            <a:ext cx="820833" cy="82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1185" y="3494071"/>
            <a:ext cx="2667708" cy="49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42227" y="4068654"/>
            <a:ext cx="2585625" cy="147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Memfasilitasi tim, menghilangkan hambatan (impediments), dan menjaga penerapan Scrum berjalan baik.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1394" y="2139696"/>
            <a:ext cx="3160208" cy="3529584"/>
          </a:xfrm>
          <a:prstGeom prst="roundRect">
            <a:avLst>
              <a:gd name="adj" fmla="val 3117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031082" y="2468029"/>
            <a:ext cx="820833" cy="820833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031082" y="2468029"/>
            <a:ext cx="820833" cy="82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07644" y="3494071"/>
            <a:ext cx="2667708" cy="49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Team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48686" y="4068654"/>
            <a:ext cx="2585625" cy="147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lintas fungsi yang mengerjakan backlog menjadi produk (increment) yang siap pakai.</a:t>
            </a:r>
            <a:endParaRPr 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14/24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ADAPTIVE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Siklus Sprint dalam Scrum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36144" y="4073209"/>
            <a:ext cx="966756" cy="0"/>
          </a:xfrm>
          <a:prstGeom prst="line">
            <a:avLst/>
          </a:prstGeom>
          <a:noFill/>
          <a:ln w="31750">
            <a:solidFill>
              <a:srgbClr val="9FC41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479822" y="4073209"/>
            <a:ext cx="966756" cy="0"/>
          </a:xfrm>
          <a:prstGeom prst="line">
            <a:avLst/>
          </a:prstGeom>
          <a:noFill/>
          <a:ln w="31750">
            <a:solidFill>
              <a:srgbClr val="9FC41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623500" y="4073209"/>
            <a:ext cx="966756" cy="0"/>
          </a:xfrm>
          <a:prstGeom prst="line">
            <a:avLst/>
          </a:prstGeom>
          <a:noFill/>
          <a:ln w="31750">
            <a:solidFill>
              <a:srgbClr val="9FC41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767178" y="4073209"/>
            <a:ext cx="966756" cy="0"/>
          </a:xfrm>
          <a:prstGeom prst="line">
            <a:avLst/>
          </a:prstGeom>
          <a:noFill/>
          <a:ln w="31750">
            <a:solidFill>
              <a:srgbClr val="9FC41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59223" y="3484748"/>
            <a:ext cx="1176921" cy="1176921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59223" y="3484748"/>
            <a:ext cx="1176921" cy="117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787768"/>
            <a:ext cx="1849447" cy="714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02901" y="3484748"/>
            <a:ext cx="1176921" cy="1176921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302901" y="3484748"/>
            <a:ext cx="1176921" cy="117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66638" y="4787768"/>
            <a:ext cx="1849447" cy="714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6579" y="3484748"/>
            <a:ext cx="1176921" cy="117692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46579" y="3484748"/>
            <a:ext cx="1176921" cy="117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10316" y="4787768"/>
            <a:ext cx="1849447" cy="714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(Daily Scrum)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90257" y="3484748"/>
            <a:ext cx="1176921" cy="1176921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590257" y="3484748"/>
            <a:ext cx="1176921" cy="117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53994" y="4787768"/>
            <a:ext cx="1849447" cy="714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33935" y="3484748"/>
            <a:ext cx="1176921" cy="1176921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733935" y="3484748"/>
            <a:ext cx="1176921" cy="117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97672" y="4787768"/>
            <a:ext cx="1849447" cy="714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9058" y="2139696"/>
            <a:ext cx="10087896" cy="75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Sprint Retrospective, tim kembali ke Product Backlog untuk merencanakan Sprint berikutnya — siklus ini berulang hingga produk selesai.</a:t>
            </a:r>
            <a:endParaRPr lang="en-US" sz="1300" dirty="0"/>
          </a:p>
        </p:txBody>
      </p:sp>
      <p:sp>
        <p:nvSpPr>
          <p:cNvPr id="24" name="TextBox 23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PMBOK/Waterfall vs. Agile/Scrum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26431" y="2139696"/>
            <a:ext cx="10217216" cy="506638"/>
          </a:xfrm>
          <a:prstGeom prst="roundRect">
            <a:avLst>
              <a:gd name="adj" fmla="val 20000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79751" y="2139696"/>
            <a:ext cx="2870953" cy="506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C4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04023" y="2139696"/>
            <a:ext cx="3293152" cy="506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PMBOK / Waterfall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08275" y="2139696"/>
            <a:ext cx="3208712" cy="506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/ Scrum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26431" y="2646334"/>
            <a:ext cx="10217216" cy="591078"/>
          </a:xfrm>
          <a:prstGeom prst="roundRect">
            <a:avLst>
              <a:gd name="adj" fmla="val 17143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79751" y="2646334"/>
            <a:ext cx="2870953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Perencanaan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04023" y="2646334"/>
            <a:ext cx="3293152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 di awal proyek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08275" y="2646334"/>
            <a:ext cx="3208712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Bertahap, per Sprint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6431" y="3254301"/>
            <a:ext cx="10217216" cy="591078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179751" y="3254301"/>
            <a:ext cx="2870953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Perubahan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04023" y="3254301"/>
            <a:ext cx="3293152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Cenderung kaku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08275" y="3254301"/>
            <a:ext cx="3208712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Fleksibel &amp; adaptif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6431" y="3862268"/>
            <a:ext cx="10217216" cy="591078"/>
          </a:xfrm>
          <a:prstGeom prst="roundRect">
            <a:avLst>
              <a:gd name="adj" fmla="val 17143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179751" y="3862268"/>
            <a:ext cx="2870953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Keterlibatan Klien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04023" y="3862268"/>
            <a:ext cx="3293152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Terutama di awal &amp; akhir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08275" y="3862268"/>
            <a:ext cx="3208712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Berkelanjutan, tiap Sprint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6431" y="4470234"/>
            <a:ext cx="10217216" cy="591078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179751" y="4470234"/>
            <a:ext cx="2870953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Penyampaian Hasil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04023" y="4470234"/>
            <a:ext cx="3293152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akhir proyek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08275" y="4470234"/>
            <a:ext cx="3208712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Inkremental, tiap Sprint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6431" y="5078201"/>
            <a:ext cx="10217216" cy="591078"/>
          </a:xfrm>
          <a:prstGeom prst="roundRect">
            <a:avLst>
              <a:gd name="adj" fmla="val 17143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179751" y="5078201"/>
            <a:ext cx="2870953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04023" y="5078201"/>
            <a:ext cx="3293152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 &amp; formal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08275" y="5078201"/>
            <a:ext cx="3208712" cy="59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Secukupnya (lean)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16/24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Faktor Pemilihan Metodologi yang Tepat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2598" y="2162815"/>
            <a:ext cx="423858" cy="423858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72598" y="2162815"/>
            <a:ext cx="423858" cy="42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50586" y="2139696"/>
            <a:ext cx="8708362" cy="46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Kejelasan dan stabilitas requirement proyek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2598" y="2740804"/>
            <a:ext cx="9324883" cy="0"/>
          </a:xfrm>
          <a:prstGeom prst="line">
            <a:avLst/>
          </a:prstGeom>
          <a:noFill/>
          <a:ln w="12700">
            <a:solidFill>
              <a:srgbClr val="E4EF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372598" y="2894934"/>
            <a:ext cx="423858" cy="423858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72598" y="2894934"/>
            <a:ext cx="423858" cy="42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50586" y="2871814"/>
            <a:ext cx="8708362" cy="46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dan lokasi tim (satu lokasi vs. tersebar)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2598" y="3472923"/>
            <a:ext cx="9324883" cy="0"/>
          </a:xfrm>
          <a:prstGeom prst="line">
            <a:avLst/>
          </a:prstGeom>
          <a:noFill/>
          <a:ln w="12700">
            <a:solidFill>
              <a:srgbClr val="E4EF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372598" y="3627053"/>
            <a:ext cx="423858" cy="423858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372598" y="3627053"/>
            <a:ext cx="423858" cy="42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50586" y="3603933"/>
            <a:ext cx="8708362" cy="46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keterlibatan klien yang memungkinkan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2598" y="4205042"/>
            <a:ext cx="9324883" cy="0"/>
          </a:xfrm>
          <a:prstGeom prst="line">
            <a:avLst/>
          </a:prstGeom>
          <a:noFill/>
          <a:ln w="12700">
            <a:solidFill>
              <a:srgbClr val="E4EF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372598" y="4359172"/>
            <a:ext cx="423858" cy="423858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372598" y="4359172"/>
            <a:ext cx="423858" cy="42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50586" y="4336052"/>
            <a:ext cx="8708362" cy="46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Toleransi risiko dan regulasi yang berlaku pada proyek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2598" y="4937161"/>
            <a:ext cx="9324883" cy="0"/>
          </a:xfrm>
          <a:prstGeom prst="line">
            <a:avLst/>
          </a:prstGeom>
          <a:noFill/>
          <a:ln w="12700">
            <a:solidFill>
              <a:srgbClr val="E4EF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372598" y="5091291"/>
            <a:ext cx="423858" cy="423858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372598" y="5091291"/>
            <a:ext cx="423858" cy="42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50586" y="5068171"/>
            <a:ext cx="8708362" cy="46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Budaya organisasi dan pengalaman tim sebelumnya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2598" y="5669280"/>
            <a:ext cx="9324883" cy="0"/>
          </a:xfrm>
          <a:prstGeom prst="line">
            <a:avLst/>
          </a:prstGeom>
          <a:noFill/>
          <a:ln w="12700">
            <a:solidFill>
              <a:srgbClr val="E4EF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17/24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Pendekatan Hybrid: Menggabungkan Keduanya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10424160" cy="1809151"/>
          </a:xfrm>
          <a:prstGeom prst="roundRect">
            <a:avLst>
              <a:gd name="adj" fmla="val 5714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67560" y="2311996"/>
            <a:ext cx="9734959" cy="1464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“Menggabungkan elemen predictive &amp; adaptive — misalnya perencanaan tingkat tinggi (ruang lingkup, anggaran) menggunakan pendekatan waterfall, sementara eksekusi pengembangan menggunakan sprint ala Agile.”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207297"/>
            <a:ext cx="9907259" cy="103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hybrid semakin umum diterapkan pada proyek TI skala menengah hingga besar, terutama saat organisasi butuh kepastian anggaran namun tetap ingin fleksibel dalam eksekusi teknis.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REFERENSI TAMBAHAN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Standar &amp; Metodologi Lain yang Perlu Diketahui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28928" y="2139696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564233" y="2414219"/>
            <a:ext cx="470611" cy="47061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564233" y="2414219"/>
            <a:ext cx="470611" cy="47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30932" y="2312253"/>
            <a:ext cx="3490366" cy="3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PRINCE2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30932" y="2673055"/>
            <a:ext cx="3490366" cy="98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IN Controlled Environments — metodologi berbasis proses, populer di Eropa &amp; Inggris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52692" y="2139696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387998" y="2414219"/>
            <a:ext cx="470611" cy="47061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87998" y="2414219"/>
            <a:ext cx="470611" cy="47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54697" y="2312253"/>
            <a:ext cx="3490366" cy="3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21500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4697" y="2673055"/>
            <a:ext cx="3490366" cy="98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internasional untuk praktik manajemen proyek lintas industri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28928" y="4022140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564233" y="4296664"/>
            <a:ext cx="470611" cy="47061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564233" y="4296664"/>
            <a:ext cx="470611" cy="47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30932" y="4194698"/>
            <a:ext cx="3490366" cy="3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Sertifikasi PMI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30932" y="4555500"/>
            <a:ext cx="3490366" cy="98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 (Project Management Professional) dan CAPM untuk praktisi manajemen proyek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52692" y="4022140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87998" y="4296664"/>
            <a:ext cx="470611" cy="47061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387998" y="4296664"/>
            <a:ext cx="470611" cy="47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54697" y="4194698"/>
            <a:ext cx="3490366" cy="3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Sertifikasi Scrum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4697" y="4555500"/>
            <a:ext cx="3490366" cy="98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 (Professional Scrum Master) dan CSM (Certified ScrumMaster) untuk praktisi Agile</a:t>
            </a:r>
            <a:endParaRPr lang="en-US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19/24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Dua Proyek, Dua Karakteristik Berbeda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0039" y="2139696"/>
            <a:ext cx="4801875" cy="3529584"/>
          </a:xfrm>
          <a:prstGeom prst="roundRect">
            <a:avLst>
              <a:gd name="adj" fmla="val 2791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56289" y="2344904"/>
            <a:ext cx="4309375" cy="328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C4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PROYEK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6289" y="2796362"/>
            <a:ext cx="4309375" cy="270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sistem informasi akademik dengan requirement yang sudah jelas dan disetujui pimpinan, harus selesai sesuai kontrak dan anggaran tetap.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58165" y="2139696"/>
            <a:ext cx="4801875" cy="3529584"/>
          </a:xfrm>
          <a:prstGeom prst="roundRect">
            <a:avLst>
              <a:gd name="adj" fmla="val 2791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4415" y="2344904"/>
            <a:ext cx="4309375" cy="328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PROYEK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4415" y="2796362"/>
            <a:ext cx="4309375" cy="270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aplikasi startup kampus, di mana fitur produk masih akan terus disesuaikan berdasarkan umpan balik pengguna.</a:t>
            </a:r>
            <a:endParaRPr lang="en-US" sz="1300" dirty="0"/>
          </a:p>
        </p:txBody>
      </p:sp>
      <p:sp>
        <p:nvSpPr>
          <p:cNvPr id="10" name="TextBox 9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20/24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Diskusi: Metodologi Mana yang Lebih Cocok?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10424160" cy="2326052"/>
          </a:xfrm>
          <a:prstGeom prst="roundRect">
            <a:avLst>
              <a:gd name="adj" fmla="val 444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67560" y="2355071"/>
            <a:ext cx="9734959" cy="86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 Proyek A dan Proyek B pada slide sebelumnya, tentukan metodologi yang lebih sesuai (Predictive/PMBOK, Agile/Scrum, atau Hybrid) beserta alasannya.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7560" y="3259647"/>
            <a:ext cx="9734959" cy="103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Pertimbangkan: kejelasan requirement, keterlibatan klien, dan toleransi risiko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Diskusikan dalam kelompok kecil (±5 menit)</a:t>
            </a:r>
            <a:endParaRPr lang="en-US" sz="1300" dirty="0"/>
          </a:p>
        </p:txBody>
      </p:sp>
      <p:sp>
        <p:nvSpPr>
          <p:cNvPr id="7" name="TextBox 6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21/24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Poin-Poin Penting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82771"/>
            <a:ext cx="516900" cy="516900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182771"/>
            <a:ext cx="516900" cy="51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512160" y="2139696"/>
            <a:ext cx="9734959" cy="732275"/>
          </a:xfrm>
          <a:prstGeom prst="roundRect">
            <a:avLst>
              <a:gd name="adj" fmla="val 14118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770610" y="2139696"/>
            <a:ext cx="9304208" cy="73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&amp; standar memberi struktur, konsistensi, dan bahasa yang sama dalam mengelola proyek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061501"/>
            <a:ext cx="516900" cy="516900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3061501"/>
            <a:ext cx="516900" cy="51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512160" y="3018426"/>
            <a:ext cx="9734959" cy="732275"/>
          </a:xfrm>
          <a:prstGeom prst="roundRect">
            <a:avLst>
              <a:gd name="adj" fmla="val 14118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770610" y="3018426"/>
            <a:ext cx="9304208" cy="73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PMBOK menawarkan pendekatan predictive dengan 10 bidang pengetahuan sebagai dasar praktik terbaik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940232"/>
            <a:ext cx="516900" cy="516900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3940232"/>
            <a:ext cx="516900" cy="51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512160" y="3897157"/>
            <a:ext cx="9734959" cy="732275"/>
          </a:xfrm>
          <a:prstGeom prst="roundRect">
            <a:avLst>
              <a:gd name="adj" fmla="val 14118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770610" y="3897157"/>
            <a:ext cx="9304208" cy="73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&amp; Scrum menawarkan pendekatan adaptive yang iteratif melalui siklus Sprint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818963"/>
            <a:ext cx="516900" cy="516900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" y="4818963"/>
            <a:ext cx="516900" cy="51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12160" y="4775888"/>
            <a:ext cx="9734959" cy="732275"/>
          </a:xfrm>
          <a:prstGeom prst="roundRect">
            <a:avLst>
              <a:gd name="adj" fmla="val 14118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770610" y="4775888"/>
            <a:ext cx="9304208" cy="73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Pemilihan metodologi bergantung pada kejelasan requirement, keterlibatan klien, dan toleransi risiko proyek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22/24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Referensi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08902"/>
            <a:ext cx="432537" cy="432537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208902"/>
            <a:ext cx="432537" cy="43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71766" y="2139696"/>
            <a:ext cx="9775353" cy="735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Institute. A Guide to the Project Management Body of Knowledge (PMBOK® Guide), 7th Edition. PMI, 2021.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073977"/>
            <a:ext cx="432537" cy="432537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3073977"/>
            <a:ext cx="432537" cy="43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71766" y="3004771"/>
            <a:ext cx="9775353" cy="735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Schwalbe, K. Information Technology Project Management. Cengage Learning.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939053"/>
            <a:ext cx="432537" cy="432537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939053"/>
            <a:ext cx="432537" cy="43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71766" y="3869847"/>
            <a:ext cx="9775353" cy="735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Beck, K., et al. Manifesto for Agile Software Development. agilemanifesto.org, 2001.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04128"/>
            <a:ext cx="432537" cy="432537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804128"/>
            <a:ext cx="432537" cy="43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71766" y="4734922"/>
            <a:ext cx="9775353" cy="735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Schwaber, K. &amp; Sutherland, J. The Scrum Guide. scrumguides.org.</a:t>
            </a:r>
            <a:endParaRPr lang="en-US" sz="1300" dirty="0"/>
          </a:p>
        </p:txBody>
      </p:sp>
      <p:sp>
        <p:nvSpPr>
          <p:cNvPr id="16" name="TextBox 15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2  •  23/24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874519" y="1691640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874519" y="2560320"/>
            <a:ext cx="6446520" cy="38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&amp; Diskusi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74519" y="3301669"/>
            <a:ext cx="6253124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berikutnya: Struktur Organisasi, Peran, dan Kepemimpinan Tim Proyek TI</a:t>
            </a:r>
            <a:endParaRPr lang="en-US" sz="900" dirty="0"/>
          </a:p>
        </p:txBody>
      </p:sp>
      <p:sp>
        <p:nvSpPr>
          <p:cNvPr id="7" name="TextBox 6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TIK2111 • Manajemen Proyek TI • Pertemuan 2  •  24/24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1610</Words>
  <Application>Microsoft Macintosh PowerPoint</Application>
  <PresentationFormat>Widescreen</PresentationFormat>
  <Paragraphs>268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7</cp:revision>
  <dcterms:created xsi:type="dcterms:W3CDTF">2021-10-17T13:14:05Z</dcterms:created>
  <dcterms:modified xsi:type="dcterms:W3CDTF">2026-09-16T07:35:27Z</dcterms:modified>
</cp:coreProperties>
</file>