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31"/>
    <p:restoredTop sz="96181"/>
  </p:normalViewPr>
  <p:slideViewPr>
    <p:cSldViewPr snapToGrid="0" snapToObjects="1">
      <p:cViewPr varScale="1">
        <p:scale>
          <a:sx n="123" d="100"/>
          <a:sy n="123" d="100"/>
        </p:scale>
        <p:origin x="2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rcRect/>
          <a:stretch/>
        </p:blipFill>
        <p:spPr>
          <a:xfrm>
            <a:off x="1" y="0"/>
            <a:ext cx="12191998" cy="6857999"/>
          </a:xfrm>
          <a:prstGeom prst="rect">
            <a:avLst/>
          </a:prstGeom>
        </p:spPr>
      </p:pic>
      <p:sp>
        <p:nvSpPr>
          <p:cNvPr id="2" name="Title 1"/>
          <p:cNvSpPr>
            <a:spLocks noGrp="1"/>
          </p:cNvSpPr>
          <p:nvPr>
            <p:ph type="ctrTitle"/>
          </p:nvPr>
        </p:nvSpPr>
        <p:spPr>
          <a:xfrm>
            <a:off x="2407993" y="1819982"/>
            <a:ext cx="6735380" cy="1815465"/>
          </a:xfrm>
        </p:spPr>
        <p:txBody>
          <a:bodyPr anchor="b"/>
          <a:lstStyle>
            <a:lvl1pPr algn="l">
              <a:defRPr sz="6000" b="1">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2407993" y="3899531"/>
            <a:ext cx="6735380" cy="833229"/>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192240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12010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50586" y="1178415"/>
            <a:ext cx="10296863" cy="1062645"/>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1050587" y="2519464"/>
            <a:ext cx="10296863" cy="3287950"/>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0" y="5926921"/>
            <a:ext cx="2387600" cy="317794"/>
          </a:xfrm>
          <a:prstGeom prst="rect">
            <a:avLst/>
          </a:prstGeom>
        </p:spPr>
        <p:txBody>
          <a:bodyPr/>
          <a:lstStyle/>
          <a:p>
            <a:fld id="{CB16C0DE-2CE3-D544-94DC-617B67A94695}" type="datetimeFigureOut">
              <a:rPr lang="en-US" smtClean="0"/>
              <a:t>9/16/26</a:t>
            </a:fld>
            <a:endParaRPr lang="en-US"/>
          </a:p>
        </p:txBody>
      </p:sp>
      <p:sp>
        <p:nvSpPr>
          <p:cNvPr id="5" name="Footer Placeholder 4"/>
          <p:cNvSpPr>
            <a:spLocks noGrp="1"/>
          </p:cNvSpPr>
          <p:nvPr>
            <p:ph type="ftr" sz="quarter" idx="11"/>
          </p:nvPr>
        </p:nvSpPr>
        <p:spPr>
          <a:xfrm>
            <a:off x="4572000" y="6356351"/>
            <a:ext cx="3581400" cy="317794"/>
          </a:xfrm>
          <a:prstGeom prst="rect">
            <a:avLst/>
          </a:prstGeom>
        </p:spPr>
        <p:txBody>
          <a:bodyPr/>
          <a:lstStyle/>
          <a:p>
            <a:endParaRPr lang="en-US"/>
          </a:p>
        </p:txBody>
      </p:sp>
      <p:sp>
        <p:nvSpPr>
          <p:cNvPr id="6" name="Slide Number Placeholder 5"/>
          <p:cNvSpPr>
            <a:spLocks noGrp="1"/>
          </p:cNvSpPr>
          <p:nvPr>
            <p:ph type="sldNum" sz="quarter" idx="12"/>
          </p:nvPr>
        </p:nvSpPr>
        <p:spPr>
          <a:xfrm>
            <a:off x="8460361" y="6356351"/>
            <a:ext cx="2387600" cy="317794"/>
          </a:xfrm>
          <a:prstGeom prst="rect">
            <a:avLst/>
          </a:prstGeom>
        </p:spPr>
        <p:txBody>
          <a:bodyPr/>
          <a:lstStyle/>
          <a:p>
            <a:fld id="{4259B9FA-38A6-B646-AFC0-A8E2C63FB941}" type="slidenum">
              <a:rPr lang="en-US" smtClean="0"/>
              <a:t>‹#›</a:t>
            </a:fld>
            <a:endParaRPr lang="en-US"/>
          </a:p>
        </p:txBody>
      </p:sp>
    </p:spTree>
    <p:extLst>
      <p:ext uri="{BB962C8B-B14F-4D97-AF65-F5344CB8AC3E}">
        <p14:creationId xmlns:p14="http://schemas.microsoft.com/office/powerpoint/2010/main" val="1583404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67318" y="999858"/>
            <a:ext cx="10186482" cy="690830"/>
          </a:xfrm>
        </p:spPr>
        <p:txBody>
          <a:bodyPr/>
          <a:lstStyle/>
          <a:p>
            <a:r>
              <a:rPr lang="en-US" dirty="0"/>
              <a:t>Click to edit Master title style</a:t>
            </a:r>
          </a:p>
        </p:txBody>
      </p:sp>
      <p:sp>
        <p:nvSpPr>
          <p:cNvPr id="3" name="Content Placeholder 2"/>
          <p:cNvSpPr>
            <a:spLocks noGrp="1"/>
          </p:cNvSpPr>
          <p:nvPr>
            <p:ph sz="half" idx="1"/>
          </p:nvPr>
        </p:nvSpPr>
        <p:spPr>
          <a:xfrm>
            <a:off x="1167318" y="1825625"/>
            <a:ext cx="4852481" cy="39331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38226" y="6356350"/>
            <a:ext cx="2743200" cy="365125"/>
          </a:xfrm>
          <a:prstGeom prst="rect">
            <a:avLst/>
          </a:prstGeom>
        </p:spPr>
        <p:txBody>
          <a:bodyPr/>
          <a:lstStyle/>
          <a:p>
            <a:fld id="{CB16C0DE-2CE3-D544-94DC-617B67A94695}" type="datetimeFigureOut">
              <a:rPr lang="en-US" smtClean="0"/>
              <a:t>9/16/26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667456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57591" y="943584"/>
            <a:ext cx="6293795" cy="684990"/>
          </a:xfrm>
        </p:spPr>
        <p:txBody>
          <a:bodyPr>
            <a:normAutofit/>
          </a:bodyPr>
          <a:lstStyle>
            <a:lvl1pPr>
              <a:defRPr sz="3600"/>
            </a:lvl1pPr>
          </a:lstStyle>
          <a:p>
            <a:r>
              <a:rPr lang="en-US" dirty="0"/>
              <a:t>Click to edit Master title style</a:t>
            </a:r>
          </a:p>
        </p:txBody>
      </p:sp>
      <p:sp>
        <p:nvSpPr>
          <p:cNvPr id="3" name="Text Placeholder 2"/>
          <p:cNvSpPr>
            <a:spLocks noGrp="1"/>
          </p:cNvSpPr>
          <p:nvPr>
            <p:ph type="body" idx="1"/>
          </p:nvPr>
        </p:nvSpPr>
        <p:spPr>
          <a:xfrm>
            <a:off x="1157591" y="1790899"/>
            <a:ext cx="4839984" cy="60818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7591" y="2505075"/>
            <a:ext cx="4839984" cy="33120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91568" y="1790899"/>
            <a:ext cx="4863820" cy="60818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491568" y="2505075"/>
            <a:ext cx="4863820" cy="33120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27853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18770" y="6356350"/>
            <a:ext cx="2743200" cy="365125"/>
          </a:xfrm>
          <a:prstGeom prst="rect">
            <a:avLst/>
          </a:prstGeom>
        </p:spPr>
        <p:txBody>
          <a:bodyPr/>
          <a:lstStyle/>
          <a:p>
            <a:fld id="{CB16C0DE-2CE3-D544-94DC-617B67A94695}" type="datetimeFigureOut">
              <a:rPr lang="en-US" smtClean="0"/>
              <a:t>9/16/26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389271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4259B9FA-38A6-B646-AFC0-A8E2C63FB941}" type="slidenum">
              <a:rPr lang="en-US" smtClean="0"/>
              <a:t>‹#›</a:t>
            </a:fld>
            <a:endParaRPr lang="en-US"/>
          </a:p>
        </p:txBody>
      </p:sp>
    </p:spTree>
    <p:extLst>
      <p:ext uri="{BB962C8B-B14F-4D97-AF65-F5344CB8AC3E}">
        <p14:creationId xmlns:p14="http://schemas.microsoft.com/office/powerpoint/2010/main" val="1248172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84537" y="1361872"/>
            <a:ext cx="3932237" cy="924128"/>
          </a:xfrm>
        </p:spPr>
        <p:txBody>
          <a:bodyPr anchor="b">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5680952" y="1361872"/>
            <a:ext cx="5674435" cy="449917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384537" y="2422186"/>
            <a:ext cx="3932237" cy="34468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4259B9FA-38A6-B646-AFC0-A8E2C63FB941}" type="slidenum">
              <a:rPr lang="en-US" smtClean="0"/>
              <a:t>‹#›</a:t>
            </a:fld>
            <a:endParaRPr lang="en-US"/>
          </a:p>
        </p:txBody>
      </p:sp>
    </p:spTree>
    <p:extLst>
      <p:ext uri="{BB962C8B-B14F-4D97-AF65-F5344CB8AC3E}">
        <p14:creationId xmlns:p14="http://schemas.microsoft.com/office/powerpoint/2010/main" val="1409851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1177047"/>
            <a:ext cx="6172200" cy="45202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196502" y="1170418"/>
            <a:ext cx="3793787" cy="45202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a:xfrm>
            <a:off x="5183188" y="5991224"/>
            <a:ext cx="4114800" cy="365125"/>
          </a:xfrm>
          <a:prstGeom prst="rect">
            <a:avLst/>
          </a:prstGeom>
        </p:spPr>
        <p:txBody>
          <a:bodyPr/>
          <a:lstStyle/>
          <a:p>
            <a:endParaRPr lang="en-US" dirty="0"/>
          </a:p>
        </p:txBody>
      </p:sp>
    </p:spTree>
    <p:extLst>
      <p:ext uri="{BB962C8B-B14F-4D97-AF65-F5344CB8AC3E}">
        <p14:creationId xmlns:p14="http://schemas.microsoft.com/office/powerpoint/2010/main" val="32590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972766" y="1466784"/>
            <a:ext cx="10690698" cy="2560465"/>
          </a:xfrm>
        </p:spPr>
        <p:txBody>
          <a:bodyPr/>
          <a:lstStyle/>
          <a:p>
            <a:r>
              <a:rPr lang="en-US"/>
              <a:t>Click to edit Master title style</a:t>
            </a:r>
          </a:p>
        </p:txBody>
      </p:sp>
      <p:sp>
        <p:nvSpPr>
          <p:cNvPr id="5" name="Footer Placeholder 4"/>
          <p:cNvSpPr>
            <a:spLocks noGrp="1"/>
          </p:cNvSpPr>
          <p:nvPr>
            <p:ph type="ftr" sz="quarter" idx="11"/>
          </p:nvPr>
        </p:nvSpPr>
        <p:spPr>
          <a:xfrm>
            <a:off x="4348264" y="4276728"/>
            <a:ext cx="41148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8920264" y="4276728"/>
            <a:ext cx="2743200" cy="365125"/>
          </a:xfrm>
          <a:prstGeom prst="rect">
            <a:avLst/>
          </a:prstGeom>
        </p:spPr>
        <p:txBody>
          <a:bodyPr/>
          <a:lstStyle/>
          <a:p>
            <a:fld id="{4259B9FA-38A6-B646-AFC0-A8E2C63FB941}" type="slidenum">
              <a:rPr lang="en-US" smtClean="0"/>
              <a:t>‹#›</a:t>
            </a:fld>
            <a:endParaRPr lang="en-US"/>
          </a:p>
        </p:txBody>
      </p:sp>
    </p:spTree>
    <p:extLst>
      <p:ext uri="{BB962C8B-B14F-4D97-AF65-F5344CB8AC3E}">
        <p14:creationId xmlns:p14="http://schemas.microsoft.com/office/powerpoint/2010/main" val="148321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12"/>
          <a:srcRect/>
          <a:stretch/>
        </p:blipFill>
        <p:spPr>
          <a:xfrm>
            <a:off x="3175" y="1786"/>
            <a:ext cx="12185649" cy="6854427"/>
          </a:xfrm>
          <a:prstGeom prst="rect">
            <a:avLst/>
          </a:prstGeom>
        </p:spPr>
      </p:pic>
      <p:sp>
        <p:nvSpPr>
          <p:cNvPr id="2" name="Title Placeholder 1"/>
          <p:cNvSpPr>
            <a:spLocks noGrp="1"/>
          </p:cNvSpPr>
          <p:nvPr>
            <p:ph type="title"/>
          </p:nvPr>
        </p:nvSpPr>
        <p:spPr>
          <a:xfrm>
            <a:off x="972766" y="1257615"/>
            <a:ext cx="10690698" cy="69083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72766" y="2086252"/>
            <a:ext cx="10690698" cy="383598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62045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a:p>
        </p:txBody>
      </p:sp>
      <p:sp>
        <p:nvSpPr>
          <p:cNvPr id="3" name="Subtitle 2"/>
          <p:cNvSpPr>
            <a:spLocks noGrp="1"/>
          </p:cNvSpPr>
          <p:nvPr>
            <p:ph type="subTitle" idx="1"/>
          </p:nvPr>
        </p:nvSpPr>
        <p:spPr/>
        <p:txBody>
          <a:bodyPr/>
          <a:lstStyle/>
          <a:p>
            <a:endParaRPr/>
          </a:p>
        </p:txBody>
      </p:sp>
      <p:sp>
        <p:nvSpPr>
          <p:cNvPr id="4" name="Text 2"/>
          <p:cNvSpPr/>
          <p:nvPr/>
        </p:nvSpPr>
        <p:spPr>
          <a:xfrm>
            <a:off x="1874519" y="1417320"/>
            <a:ext cx="6446520" cy="219456"/>
          </a:xfrm>
          <a:prstGeom prst="rect">
            <a:avLst/>
          </a:prstGeom>
          <a:noFill/>
          <a:ln/>
        </p:spPr>
        <p:txBody>
          <a:bodyPr wrap="square" lIns="0" tIns="0" rIns="0" bIns="0" rtlCol="0" anchor="ctr"/>
          <a:lstStyle/>
          <a:p>
            <a:pPr marL="0" indent="0">
              <a:buNone/>
            </a:pPr>
            <a:r>
              <a:rPr lang="en-US" sz="1100" b="1" kern="0" spc="200" dirty="0">
                <a:latin typeface="Calibri" pitchFamily="34" charset="0"/>
                <a:ea typeface="Calibri" pitchFamily="34" charset="-122"/>
                <a:cs typeface="Calibri" pitchFamily="34" charset="-120"/>
              </a:rPr>
              <a:t>TIK2111 • MANAJEMEN PROYEK TI</a:t>
            </a:r>
            <a:endParaRPr lang="en-US" sz="1400" dirty="0"/>
          </a:p>
        </p:txBody>
      </p:sp>
      <p:sp>
        <p:nvSpPr>
          <p:cNvPr id="5" name="Text 3"/>
          <p:cNvSpPr/>
          <p:nvPr/>
        </p:nvSpPr>
        <p:spPr>
          <a:xfrm>
            <a:off x="1874519" y="1691640"/>
            <a:ext cx="6446520" cy="822960"/>
          </a:xfrm>
          <a:prstGeom prst="rect">
            <a:avLst/>
          </a:prstGeom>
          <a:noFill/>
          <a:ln/>
        </p:spPr>
        <p:txBody>
          <a:bodyPr wrap="square" lIns="0" tIns="0" rIns="0" bIns="0" rtlCol="0" anchor="t"/>
          <a:lstStyle/>
          <a:p>
            <a:pPr marL="0" indent="0">
              <a:lnSpc>
                <a:spcPct val="108000"/>
              </a:lnSpc>
              <a:buNone/>
            </a:pPr>
            <a:r>
              <a:rPr lang="en-US" sz="2700" b="1" dirty="0">
                <a:latin typeface="Cambria" pitchFamily="34" charset="0"/>
                <a:ea typeface="Cambria" pitchFamily="34" charset="-122"/>
                <a:cs typeface="Cambria" pitchFamily="34" charset="-120"/>
              </a:rPr>
              <a:t>Ruang Lingkup Proyek &amp;</a:t>
            </a:r>
            <a:endParaRPr lang="en-US" sz="3800" dirty="0"/>
          </a:p>
          <a:p>
            <a:pPr marL="0" indent="0">
              <a:lnSpc>
                <a:spcPct val="108000"/>
              </a:lnSpc>
              <a:buNone/>
            </a:pPr>
            <a:r>
              <a:rPr lang="en-US" sz="2700" b="1" dirty="0">
                <a:latin typeface="Cambria" pitchFamily="34" charset="0"/>
                <a:ea typeface="Cambria" pitchFamily="34" charset="-122"/>
                <a:cs typeface="Cambria" pitchFamily="34" charset="-120"/>
              </a:rPr>
              <a:t>Work Breakdown Structure (WBS)</a:t>
            </a:r>
            <a:endParaRPr lang="en-US" sz="3800" dirty="0"/>
          </a:p>
        </p:txBody>
      </p:sp>
      <p:sp>
        <p:nvSpPr>
          <p:cNvPr id="6" name="Text 4"/>
          <p:cNvSpPr/>
          <p:nvPr/>
        </p:nvSpPr>
        <p:spPr>
          <a:xfrm>
            <a:off x="1874519" y="2560320"/>
            <a:ext cx="5730240" cy="358140"/>
          </a:xfrm>
          <a:prstGeom prst="rect">
            <a:avLst/>
          </a:prstGeom>
          <a:noFill/>
          <a:ln/>
        </p:spPr>
        <p:txBody>
          <a:bodyPr wrap="square" lIns="0" tIns="0" rIns="0" bIns="0" rtlCol="0" anchor="ctr"/>
          <a:lstStyle/>
          <a:p>
            <a:pPr marL="0" indent="0">
              <a:buNone/>
            </a:pPr>
            <a:r>
              <a:rPr lang="en-US" sz="1300" dirty="0">
                <a:solidFill>
                  <a:srgbClr val="D8E8C8"/>
                </a:solidFill>
                <a:latin typeface="Calibri" pitchFamily="34" charset="0"/>
                <a:ea typeface="Calibri" pitchFamily="34" charset="-122"/>
                <a:cs typeface="Calibri" pitchFamily="34" charset="-120"/>
              </a:rPr>
              <a:t>Pertemuan 4  •  Sub-CPMK 3</a:t>
            </a:r>
            <a:endParaRPr lang="en-US" sz="1300" dirty="0"/>
          </a:p>
        </p:txBody>
      </p:sp>
      <p:sp>
        <p:nvSpPr>
          <p:cNvPr id="7" name="Text 6"/>
          <p:cNvSpPr/>
          <p:nvPr/>
        </p:nvSpPr>
        <p:spPr>
          <a:xfrm>
            <a:off x="1874519" y="3706368"/>
            <a:ext cx="6446520" cy="250698"/>
          </a:xfrm>
          <a:prstGeom prst="rect">
            <a:avLst/>
          </a:prstGeom>
          <a:noFill/>
          <a:ln/>
        </p:spPr>
        <p:txBody>
          <a:bodyPr wrap="square" lIns="0" tIns="0" rIns="0" bIns="0" rtlCol="0" anchor="ctr"/>
          <a:lstStyle/>
          <a:p>
            <a:pPr marL="0" indent="0">
              <a:buNone/>
            </a:pPr>
            <a:r>
              <a:rPr lang="en-US" sz="1000" dirty="0">
                <a:solidFill>
                  <a:srgbClr val="DCE8D0"/>
                </a:solidFill>
                <a:latin typeface="Calibri" pitchFamily="34" charset="0"/>
                <a:ea typeface="Calibri" pitchFamily="34" charset="-122"/>
                <a:cs typeface="Calibri" pitchFamily="34" charset="-120"/>
              </a:rPr>
              <a:t>Program Studi D3 Teknik Informatika — Fakultas Vokasi USU</a:t>
            </a:r>
            <a:endParaRPr lang="en-US" sz="1000" dirty="0"/>
          </a:p>
        </p:txBody>
      </p:sp>
      <p:sp>
        <p:nvSpPr>
          <p:cNvPr id="8" name="Text 7"/>
          <p:cNvSpPr/>
          <p:nvPr/>
        </p:nvSpPr>
        <p:spPr>
          <a:xfrm>
            <a:off x="1874519" y="3957066"/>
            <a:ext cx="6446520" cy="25069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Zulhamsyah Fachrurrazi Nasution, S.Kom., M.MSI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RECAP PERTEMUAN SEBELUMNYA</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Sebelumnya Kita Sudah Belajar…</a:t>
            </a:r>
            <a:endParaRPr lang="en-US" sz="3200" dirty="0"/>
          </a:p>
        </p:txBody>
      </p:sp>
      <p:sp>
        <p:nvSpPr>
          <p:cNvPr id="4" name="Shape 2"/>
          <p:cNvSpPr/>
          <p:nvPr/>
        </p:nvSpPr>
        <p:spPr>
          <a:xfrm>
            <a:off x="822960" y="2139696"/>
            <a:ext cx="3330540" cy="3114271"/>
          </a:xfrm>
          <a:prstGeom prst="roundRect">
            <a:avLst>
              <a:gd name="adj" fmla="val 3333"/>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926769" y="2918263"/>
            <a:ext cx="3122922" cy="2249196"/>
          </a:xfrm>
          <a:prstGeom prst="rect">
            <a:avLst/>
          </a:prstGeom>
          <a:noFill/>
          <a:ln/>
        </p:spPr>
        <p:txBody>
          <a:bodyPr wrap="square" lIns="0" tIns="0" rIns="0" bIns="0" rtlCol="0" anchor="ctr"/>
          <a:lstStyle/>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Struktur Organisasi</a:t>
            </a:r>
            <a:endParaRPr lang="en-US" sz="1100" dirty="0"/>
          </a:p>
          <a:p>
            <a:pPr marL="0" indent="0" algn="ctr">
              <a:lnSpc>
                <a:spcPct val="110000"/>
              </a:lnSpc>
              <a:buNone/>
            </a:pPr>
            <a:endParaRPr lang="en-US" sz="1100" dirty="0"/>
          </a:p>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Fungsional, Matriks, dan Projectized menentukan otoritas project manager</a:t>
            </a:r>
            <a:endParaRPr lang="en-US" sz="1100" dirty="0"/>
          </a:p>
        </p:txBody>
      </p:sp>
      <p:sp>
        <p:nvSpPr>
          <p:cNvPr id="6" name="Shape 4"/>
          <p:cNvSpPr/>
          <p:nvPr/>
        </p:nvSpPr>
        <p:spPr>
          <a:xfrm>
            <a:off x="4369769" y="2139696"/>
            <a:ext cx="3330540" cy="3114271"/>
          </a:xfrm>
          <a:prstGeom prst="roundRect">
            <a:avLst>
              <a:gd name="adj" fmla="val 3333"/>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7" name="Text 5"/>
          <p:cNvSpPr/>
          <p:nvPr/>
        </p:nvSpPr>
        <p:spPr>
          <a:xfrm>
            <a:off x="4473578" y="2918263"/>
            <a:ext cx="3122922" cy="2249196"/>
          </a:xfrm>
          <a:prstGeom prst="rect">
            <a:avLst/>
          </a:prstGeom>
          <a:noFill/>
          <a:ln/>
        </p:spPr>
        <p:txBody>
          <a:bodyPr wrap="square" lIns="0" tIns="0" rIns="0" bIns="0" rtlCol="0" anchor="ctr"/>
          <a:lstStyle/>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Peran Tim &amp; Kepemimpinan</a:t>
            </a:r>
            <a:endParaRPr lang="en-US" sz="1100" dirty="0"/>
          </a:p>
          <a:p>
            <a:pPr marL="0" indent="0" algn="ctr">
              <a:lnSpc>
                <a:spcPct val="110000"/>
              </a:lnSpc>
              <a:buNone/>
            </a:pPr>
            <a:endParaRPr lang="en-US" sz="1100" dirty="0"/>
          </a:p>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Beragam peran dalam tim TI, dan pentingnya Ways of Working, Power Skills, Business Acumen</a:t>
            </a:r>
            <a:endParaRPr lang="en-US" sz="1100" dirty="0"/>
          </a:p>
        </p:txBody>
      </p:sp>
      <p:sp>
        <p:nvSpPr>
          <p:cNvPr id="8" name="Shape 6"/>
          <p:cNvSpPr/>
          <p:nvPr/>
        </p:nvSpPr>
        <p:spPr>
          <a:xfrm>
            <a:off x="7916579" y="2139696"/>
            <a:ext cx="3330540" cy="3114271"/>
          </a:xfrm>
          <a:prstGeom prst="roundRect">
            <a:avLst>
              <a:gd name="adj" fmla="val 3333"/>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9" name="Text 7"/>
          <p:cNvSpPr/>
          <p:nvPr/>
        </p:nvSpPr>
        <p:spPr>
          <a:xfrm>
            <a:off x="8020388" y="2918263"/>
            <a:ext cx="3122922" cy="2249196"/>
          </a:xfrm>
          <a:prstGeom prst="rect">
            <a:avLst/>
          </a:prstGeom>
          <a:noFill/>
          <a:ln/>
        </p:spPr>
        <p:txBody>
          <a:bodyPr wrap="square" lIns="0" tIns="0" rIns="0" bIns="0" rtlCol="0" anchor="ctr"/>
          <a:lstStyle/>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Komunikasi &amp; Etika</a:t>
            </a:r>
            <a:endParaRPr lang="en-US" sz="1100" dirty="0"/>
          </a:p>
          <a:p>
            <a:pPr marL="0" indent="0" algn="ctr">
              <a:lnSpc>
                <a:spcPct val="110000"/>
              </a:lnSpc>
              <a:buNone/>
            </a:pPr>
            <a:endParaRPr lang="en-US" sz="1100" dirty="0"/>
          </a:p>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Rencana komunikasi terstruktur dan etika profesional (Responsibility, Respect, Fairness, Honesty)</a:t>
            </a:r>
            <a:endParaRPr lang="en-US" sz="1100" dirty="0"/>
          </a:p>
        </p:txBody>
      </p:sp>
      <p:sp>
        <p:nvSpPr>
          <p:cNvPr id="10" name="Shape 8"/>
          <p:cNvSpPr/>
          <p:nvPr/>
        </p:nvSpPr>
        <p:spPr>
          <a:xfrm>
            <a:off x="1082482" y="2399218"/>
            <a:ext cx="475791" cy="475791"/>
          </a:xfrm>
          <a:prstGeom prst="ellipse">
            <a:avLst/>
          </a:prstGeom>
          <a:solidFill>
            <a:srgbClr val="006633"/>
          </a:solidFill>
          <a:ln/>
        </p:spPr>
        <p:txBody>
          <a:bodyPr/>
          <a:lstStyle/>
          <a:p>
            <a:endParaRPr/>
          </a:p>
        </p:txBody>
      </p:sp>
      <p:sp>
        <p:nvSpPr>
          <p:cNvPr id="11" name="Text 9"/>
          <p:cNvSpPr/>
          <p:nvPr/>
        </p:nvSpPr>
        <p:spPr>
          <a:xfrm>
            <a:off x="1082482" y="2399218"/>
            <a:ext cx="475791" cy="475791"/>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2" name="Shape 10"/>
          <p:cNvSpPr/>
          <p:nvPr/>
        </p:nvSpPr>
        <p:spPr>
          <a:xfrm>
            <a:off x="4629292" y="2399218"/>
            <a:ext cx="475791" cy="475791"/>
          </a:xfrm>
          <a:prstGeom prst="ellipse">
            <a:avLst/>
          </a:prstGeom>
          <a:solidFill>
            <a:srgbClr val="006633"/>
          </a:solidFill>
          <a:ln/>
        </p:spPr>
        <p:txBody>
          <a:bodyPr/>
          <a:lstStyle/>
          <a:p>
            <a:endParaRPr/>
          </a:p>
        </p:txBody>
      </p:sp>
      <p:sp>
        <p:nvSpPr>
          <p:cNvPr id="13" name="Text 11"/>
          <p:cNvSpPr/>
          <p:nvPr/>
        </p:nvSpPr>
        <p:spPr>
          <a:xfrm>
            <a:off x="4629292" y="2399218"/>
            <a:ext cx="475791" cy="475791"/>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Shape 12"/>
          <p:cNvSpPr/>
          <p:nvPr/>
        </p:nvSpPr>
        <p:spPr>
          <a:xfrm>
            <a:off x="8176101" y="2399218"/>
            <a:ext cx="475791" cy="475791"/>
          </a:xfrm>
          <a:prstGeom prst="ellipse">
            <a:avLst/>
          </a:prstGeom>
          <a:solidFill>
            <a:srgbClr val="006633"/>
          </a:solidFill>
          <a:ln/>
        </p:spPr>
        <p:txBody>
          <a:bodyPr/>
          <a:lstStyle/>
          <a:p>
            <a:endParaRPr/>
          </a:p>
        </p:txBody>
      </p:sp>
      <p:sp>
        <p:nvSpPr>
          <p:cNvPr id="15" name="Text 13"/>
          <p:cNvSpPr/>
          <p:nvPr/>
        </p:nvSpPr>
        <p:spPr>
          <a:xfrm>
            <a:off x="8176101" y="2399218"/>
            <a:ext cx="475791" cy="475791"/>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6" name="TextBox 15"/>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4  •  2/22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PETA PEMBELAJARAN</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Agenda Hari Ini</a:t>
            </a:r>
            <a:endParaRPr lang="en-US" sz="3200" dirty="0"/>
          </a:p>
        </p:txBody>
      </p:sp>
      <p:sp>
        <p:nvSpPr>
          <p:cNvPr id="4" name="Shape 2"/>
          <p:cNvSpPr/>
          <p:nvPr/>
        </p:nvSpPr>
        <p:spPr>
          <a:xfrm>
            <a:off x="2010654" y="2139696"/>
            <a:ext cx="3859451" cy="1022589"/>
          </a:xfrm>
          <a:prstGeom prst="roundRect">
            <a:avLst>
              <a:gd name="adj" fmla="val 7742"/>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Shape 3"/>
          <p:cNvSpPr/>
          <p:nvPr/>
        </p:nvSpPr>
        <p:spPr>
          <a:xfrm>
            <a:off x="2208575" y="2416784"/>
            <a:ext cx="461814" cy="461814"/>
          </a:xfrm>
          <a:prstGeom prst="ellipse">
            <a:avLst/>
          </a:prstGeom>
          <a:solidFill>
            <a:srgbClr val="006633"/>
          </a:solidFill>
          <a:ln/>
        </p:spPr>
        <p:txBody>
          <a:bodyPr/>
          <a:lstStyle/>
          <a:p>
            <a:endParaRPr/>
          </a:p>
        </p:txBody>
      </p:sp>
      <p:sp>
        <p:nvSpPr>
          <p:cNvPr id="6" name="Text 4"/>
          <p:cNvSpPr/>
          <p:nvPr/>
        </p:nvSpPr>
        <p:spPr>
          <a:xfrm>
            <a:off x="2208575" y="2416784"/>
            <a:ext cx="461814" cy="46181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2802336" y="2139696"/>
            <a:ext cx="2869848" cy="1022589"/>
          </a:xfrm>
          <a:prstGeom prst="rect">
            <a:avLst/>
          </a:prstGeom>
          <a:noFill/>
          <a:ln/>
        </p:spPr>
        <p:txBody>
          <a:bodyPr wrap="square" lIns="0" tIns="0" rIns="0" bIns="0" rtlCol="0" anchor="ctr"/>
          <a:lstStyle/>
          <a:p>
            <a:pPr marL="0" indent="0">
              <a:lnSpc>
                <a:spcPct val="115000"/>
              </a:lnSpc>
              <a:buNone/>
            </a:pPr>
            <a:r>
              <a:rPr lang="en-US" sz="1100" b="1" dirty="0">
                <a:solidFill>
                  <a:srgbClr val="1F7A34"/>
                </a:solidFill>
                <a:latin typeface="Calibri" pitchFamily="34" charset="0"/>
                <a:ea typeface="Calibri" pitchFamily="34" charset="-122"/>
                <a:cs typeface="Calibri" pitchFamily="34" charset="-120"/>
              </a:rPr>
              <a:t>Apa itu ruang lingkup proyek (project scope)</a:t>
            </a:r>
            <a:endParaRPr lang="en-US" sz="1100" dirty="0"/>
          </a:p>
        </p:txBody>
      </p:sp>
      <p:sp>
        <p:nvSpPr>
          <p:cNvPr id="8" name="Shape 6"/>
          <p:cNvSpPr/>
          <p:nvPr/>
        </p:nvSpPr>
        <p:spPr>
          <a:xfrm>
            <a:off x="6199973" y="2139696"/>
            <a:ext cx="3859451" cy="1022589"/>
          </a:xfrm>
          <a:prstGeom prst="roundRect">
            <a:avLst>
              <a:gd name="adj" fmla="val 7742"/>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9" name="Shape 7"/>
          <p:cNvSpPr/>
          <p:nvPr/>
        </p:nvSpPr>
        <p:spPr>
          <a:xfrm>
            <a:off x="6397894" y="2416784"/>
            <a:ext cx="461814" cy="461814"/>
          </a:xfrm>
          <a:prstGeom prst="ellipse">
            <a:avLst/>
          </a:prstGeom>
          <a:solidFill>
            <a:srgbClr val="006633"/>
          </a:solidFill>
          <a:ln/>
        </p:spPr>
        <p:txBody>
          <a:bodyPr/>
          <a:lstStyle/>
          <a:p>
            <a:endParaRPr/>
          </a:p>
        </p:txBody>
      </p:sp>
      <p:sp>
        <p:nvSpPr>
          <p:cNvPr id="10" name="Text 8"/>
          <p:cNvSpPr/>
          <p:nvPr/>
        </p:nvSpPr>
        <p:spPr>
          <a:xfrm>
            <a:off x="6397894" y="2416784"/>
            <a:ext cx="461814" cy="46181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6991656" y="2139696"/>
            <a:ext cx="2869848" cy="1022589"/>
          </a:xfrm>
          <a:prstGeom prst="rect">
            <a:avLst/>
          </a:prstGeom>
          <a:noFill/>
          <a:ln/>
        </p:spPr>
        <p:txBody>
          <a:bodyPr wrap="square" lIns="0" tIns="0" rIns="0" bIns="0" rtlCol="0" anchor="ctr"/>
          <a:lstStyle/>
          <a:p>
            <a:pPr marL="0" indent="0">
              <a:lnSpc>
                <a:spcPct val="115000"/>
              </a:lnSpc>
              <a:buNone/>
            </a:pPr>
            <a:r>
              <a:rPr lang="en-US" sz="1100" b="1" dirty="0">
                <a:solidFill>
                  <a:srgbClr val="1F7A34"/>
                </a:solidFill>
                <a:latin typeface="Calibri" pitchFamily="34" charset="0"/>
                <a:ea typeface="Calibri" pitchFamily="34" charset="-122"/>
                <a:cs typeface="Calibri" pitchFamily="34" charset="-120"/>
              </a:rPr>
              <a:t>Scope statement &amp; scope creep</a:t>
            </a:r>
            <a:endParaRPr lang="en-US" sz="1100" dirty="0"/>
          </a:p>
        </p:txBody>
      </p:sp>
      <p:sp>
        <p:nvSpPr>
          <p:cNvPr id="12" name="Shape 10"/>
          <p:cNvSpPr/>
          <p:nvPr/>
        </p:nvSpPr>
        <p:spPr>
          <a:xfrm>
            <a:off x="2010654" y="3393193"/>
            <a:ext cx="3859451" cy="1022589"/>
          </a:xfrm>
          <a:prstGeom prst="roundRect">
            <a:avLst>
              <a:gd name="adj" fmla="val 7742"/>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3" name="Shape 11"/>
          <p:cNvSpPr/>
          <p:nvPr/>
        </p:nvSpPr>
        <p:spPr>
          <a:xfrm>
            <a:off x="2208575" y="3670281"/>
            <a:ext cx="461814" cy="461814"/>
          </a:xfrm>
          <a:prstGeom prst="ellipse">
            <a:avLst/>
          </a:prstGeom>
          <a:solidFill>
            <a:srgbClr val="006633"/>
          </a:solidFill>
          <a:ln/>
        </p:spPr>
        <p:txBody>
          <a:bodyPr/>
          <a:lstStyle/>
          <a:p>
            <a:endParaRPr/>
          </a:p>
        </p:txBody>
      </p:sp>
      <p:sp>
        <p:nvSpPr>
          <p:cNvPr id="14" name="Text 12"/>
          <p:cNvSpPr/>
          <p:nvPr/>
        </p:nvSpPr>
        <p:spPr>
          <a:xfrm>
            <a:off x="2208575" y="3670281"/>
            <a:ext cx="461814" cy="46181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3"/>
          <p:cNvSpPr/>
          <p:nvPr/>
        </p:nvSpPr>
        <p:spPr>
          <a:xfrm>
            <a:off x="2802336" y="3393193"/>
            <a:ext cx="2869848" cy="1022589"/>
          </a:xfrm>
          <a:prstGeom prst="rect">
            <a:avLst/>
          </a:prstGeom>
          <a:noFill/>
          <a:ln/>
        </p:spPr>
        <p:txBody>
          <a:bodyPr wrap="square" lIns="0" tIns="0" rIns="0" bIns="0" rtlCol="0" anchor="ctr"/>
          <a:lstStyle/>
          <a:p>
            <a:pPr marL="0" indent="0">
              <a:lnSpc>
                <a:spcPct val="115000"/>
              </a:lnSpc>
              <a:buNone/>
            </a:pPr>
            <a:r>
              <a:rPr lang="en-US" sz="1100" b="1" dirty="0">
                <a:solidFill>
                  <a:srgbClr val="1F7A34"/>
                </a:solidFill>
                <a:latin typeface="Calibri" pitchFamily="34" charset="0"/>
                <a:ea typeface="Calibri" pitchFamily="34" charset="-122"/>
                <a:cs typeface="Calibri" pitchFamily="34" charset="-120"/>
              </a:rPr>
              <a:t>Apa itu Work Breakdown Structure (WBS)</a:t>
            </a:r>
            <a:endParaRPr lang="en-US" sz="1100" dirty="0"/>
          </a:p>
        </p:txBody>
      </p:sp>
      <p:sp>
        <p:nvSpPr>
          <p:cNvPr id="16" name="Shape 14"/>
          <p:cNvSpPr/>
          <p:nvPr/>
        </p:nvSpPr>
        <p:spPr>
          <a:xfrm>
            <a:off x="6199973" y="3393193"/>
            <a:ext cx="3859451" cy="1022589"/>
          </a:xfrm>
          <a:prstGeom prst="roundRect">
            <a:avLst>
              <a:gd name="adj" fmla="val 7742"/>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7" name="Shape 15"/>
          <p:cNvSpPr/>
          <p:nvPr/>
        </p:nvSpPr>
        <p:spPr>
          <a:xfrm>
            <a:off x="6397894" y="3670281"/>
            <a:ext cx="461814" cy="461814"/>
          </a:xfrm>
          <a:prstGeom prst="ellipse">
            <a:avLst/>
          </a:prstGeom>
          <a:solidFill>
            <a:srgbClr val="006633"/>
          </a:solidFill>
          <a:ln/>
        </p:spPr>
        <p:txBody>
          <a:bodyPr/>
          <a:lstStyle/>
          <a:p>
            <a:endParaRPr/>
          </a:p>
        </p:txBody>
      </p:sp>
      <p:sp>
        <p:nvSpPr>
          <p:cNvPr id="18" name="Text 16"/>
          <p:cNvSpPr/>
          <p:nvPr/>
        </p:nvSpPr>
        <p:spPr>
          <a:xfrm>
            <a:off x="6397894" y="3670281"/>
            <a:ext cx="461814" cy="46181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9" name="Text 17"/>
          <p:cNvSpPr/>
          <p:nvPr/>
        </p:nvSpPr>
        <p:spPr>
          <a:xfrm>
            <a:off x="6991656" y="3393193"/>
            <a:ext cx="2869848" cy="1022589"/>
          </a:xfrm>
          <a:prstGeom prst="rect">
            <a:avLst/>
          </a:prstGeom>
          <a:noFill/>
          <a:ln/>
        </p:spPr>
        <p:txBody>
          <a:bodyPr wrap="square" lIns="0" tIns="0" rIns="0" bIns="0" rtlCol="0" anchor="ctr"/>
          <a:lstStyle/>
          <a:p>
            <a:pPr marL="0" indent="0">
              <a:lnSpc>
                <a:spcPct val="115000"/>
              </a:lnSpc>
              <a:buNone/>
            </a:pPr>
            <a:r>
              <a:rPr lang="en-US" sz="1100" b="1" dirty="0">
                <a:solidFill>
                  <a:srgbClr val="1F7A34"/>
                </a:solidFill>
                <a:latin typeface="Calibri" pitchFamily="34" charset="0"/>
                <a:ea typeface="Calibri" pitchFamily="34" charset="-122"/>
                <a:cs typeface="Calibri" pitchFamily="34" charset="-120"/>
              </a:rPr>
              <a:t>Cara menyusun WBS yang baik</a:t>
            </a:r>
            <a:endParaRPr lang="en-US" sz="1100" dirty="0"/>
          </a:p>
        </p:txBody>
      </p:sp>
      <p:sp>
        <p:nvSpPr>
          <p:cNvPr id="20" name="Shape 18"/>
          <p:cNvSpPr/>
          <p:nvPr/>
        </p:nvSpPr>
        <p:spPr>
          <a:xfrm>
            <a:off x="2010654" y="4646690"/>
            <a:ext cx="3859451" cy="1022589"/>
          </a:xfrm>
          <a:prstGeom prst="roundRect">
            <a:avLst>
              <a:gd name="adj" fmla="val 7742"/>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21" name="Shape 19"/>
          <p:cNvSpPr/>
          <p:nvPr/>
        </p:nvSpPr>
        <p:spPr>
          <a:xfrm>
            <a:off x="2208575" y="4923779"/>
            <a:ext cx="461814" cy="461814"/>
          </a:xfrm>
          <a:prstGeom prst="ellipse">
            <a:avLst/>
          </a:prstGeom>
          <a:solidFill>
            <a:srgbClr val="006633"/>
          </a:solidFill>
          <a:ln/>
        </p:spPr>
        <p:txBody>
          <a:bodyPr/>
          <a:lstStyle/>
          <a:p>
            <a:endParaRPr/>
          </a:p>
        </p:txBody>
      </p:sp>
      <p:sp>
        <p:nvSpPr>
          <p:cNvPr id="22" name="Text 20"/>
          <p:cNvSpPr/>
          <p:nvPr/>
        </p:nvSpPr>
        <p:spPr>
          <a:xfrm>
            <a:off x="2208575" y="4923779"/>
            <a:ext cx="461814" cy="46181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3" name="Text 21"/>
          <p:cNvSpPr/>
          <p:nvPr/>
        </p:nvSpPr>
        <p:spPr>
          <a:xfrm>
            <a:off x="2802336" y="4646690"/>
            <a:ext cx="2869848" cy="1022589"/>
          </a:xfrm>
          <a:prstGeom prst="rect">
            <a:avLst/>
          </a:prstGeom>
          <a:noFill/>
          <a:ln/>
        </p:spPr>
        <p:txBody>
          <a:bodyPr wrap="square" lIns="0" tIns="0" rIns="0" bIns="0" rtlCol="0" anchor="ctr"/>
          <a:lstStyle/>
          <a:p>
            <a:pPr marL="0" indent="0">
              <a:lnSpc>
                <a:spcPct val="115000"/>
              </a:lnSpc>
              <a:buNone/>
            </a:pPr>
            <a:r>
              <a:rPr lang="en-US" sz="1100" b="1" dirty="0">
                <a:solidFill>
                  <a:srgbClr val="1F7A34"/>
                </a:solidFill>
                <a:latin typeface="Calibri" pitchFamily="34" charset="0"/>
                <a:ea typeface="Calibri" pitchFamily="34" charset="-122"/>
                <a:cs typeface="Calibri" pitchFamily="34" charset="-120"/>
              </a:rPr>
              <a:t>Contoh WBS proyek TI</a:t>
            </a:r>
            <a:endParaRPr lang="en-US" sz="1100" dirty="0"/>
          </a:p>
        </p:txBody>
      </p:sp>
      <p:sp>
        <p:nvSpPr>
          <p:cNvPr id="24" name="Shape 22"/>
          <p:cNvSpPr/>
          <p:nvPr/>
        </p:nvSpPr>
        <p:spPr>
          <a:xfrm>
            <a:off x="6199973" y="4646690"/>
            <a:ext cx="3859451" cy="1022589"/>
          </a:xfrm>
          <a:prstGeom prst="roundRect">
            <a:avLst>
              <a:gd name="adj" fmla="val 7742"/>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25" name="Shape 23"/>
          <p:cNvSpPr/>
          <p:nvPr/>
        </p:nvSpPr>
        <p:spPr>
          <a:xfrm>
            <a:off x="6397894" y="4923779"/>
            <a:ext cx="461814" cy="461814"/>
          </a:xfrm>
          <a:prstGeom prst="ellipse">
            <a:avLst/>
          </a:prstGeom>
          <a:solidFill>
            <a:srgbClr val="006633"/>
          </a:solidFill>
          <a:ln/>
        </p:spPr>
        <p:txBody>
          <a:bodyPr/>
          <a:lstStyle/>
          <a:p>
            <a:endParaRPr/>
          </a:p>
        </p:txBody>
      </p:sp>
      <p:sp>
        <p:nvSpPr>
          <p:cNvPr id="26" name="Text 24"/>
          <p:cNvSpPr/>
          <p:nvPr/>
        </p:nvSpPr>
        <p:spPr>
          <a:xfrm>
            <a:off x="6397894" y="4923779"/>
            <a:ext cx="461814" cy="46181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27" name="Text 25"/>
          <p:cNvSpPr/>
          <p:nvPr/>
        </p:nvSpPr>
        <p:spPr>
          <a:xfrm>
            <a:off x="6991656" y="4646690"/>
            <a:ext cx="2869848" cy="1022589"/>
          </a:xfrm>
          <a:prstGeom prst="rect">
            <a:avLst/>
          </a:prstGeom>
          <a:noFill/>
          <a:ln/>
        </p:spPr>
        <p:txBody>
          <a:bodyPr wrap="square" lIns="0" tIns="0" rIns="0" bIns="0" rtlCol="0" anchor="ctr"/>
          <a:lstStyle/>
          <a:p>
            <a:pPr marL="0" indent="0">
              <a:lnSpc>
                <a:spcPct val="115000"/>
              </a:lnSpc>
              <a:buNone/>
            </a:pPr>
            <a:r>
              <a:rPr lang="en-US" sz="1100" b="1" dirty="0">
                <a:solidFill>
                  <a:srgbClr val="1F7A34"/>
                </a:solidFill>
                <a:latin typeface="Calibri" pitchFamily="34" charset="0"/>
                <a:ea typeface="Calibri" pitchFamily="34" charset="-122"/>
                <a:cs typeface="Calibri" pitchFamily="34" charset="-120"/>
              </a:rPr>
              <a:t>Studi kasus &amp; diskusi kelompok</a:t>
            </a:r>
            <a:endParaRPr lang="en-US" sz="1100" dirty="0"/>
          </a:p>
        </p:txBody>
      </p:sp>
      <p:sp>
        <p:nvSpPr>
          <p:cNvPr id="28" name="TextBox 27"/>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4  •  3/22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CAPAIAN PEMBELAJARAN</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Kemampuan Akhir yang Diharapkan</a:t>
            </a:r>
            <a:endParaRPr lang="en-US" sz="3200" dirty="0"/>
          </a:p>
        </p:txBody>
      </p:sp>
      <p:sp>
        <p:nvSpPr>
          <p:cNvPr id="4" name="Shape 2"/>
          <p:cNvSpPr/>
          <p:nvPr/>
        </p:nvSpPr>
        <p:spPr>
          <a:xfrm>
            <a:off x="1539464" y="2139696"/>
            <a:ext cx="8991150" cy="965991"/>
          </a:xfrm>
          <a:prstGeom prst="roundRect">
            <a:avLst>
              <a:gd name="adj" fmla="val 9231"/>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1799539" y="2273448"/>
            <a:ext cx="2229210" cy="260074"/>
          </a:xfrm>
          <a:prstGeom prst="rect">
            <a:avLst/>
          </a:prstGeom>
          <a:noFill/>
          <a:ln/>
        </p:spPr>
        <p:txBody>
          <a:bodyPr wrap="square" lIns="0" tIns="0" rIns="0" bIns="0" rtlCol="0" anchor="ctr"/>
          <a:lstStyle/>
          <a:p>
            <a:pPr marL="0" indent="0">
              <a:buNone/>
            </a:pPr>
            <a:r>
              <a:rPr lang="en-US" sz="1000" b="1" kern="0" spc="100" dirty="0">
                <a:solidFill>
                  <a:srgbClr val="9FC41D"/>
                </a:solidFill>
                <a:latin typeface="Calibri" pitchFamily="34" charset="0"/>
                <a:ea typeface="Calibri" pitchFamily="34" charset="-122"/>
                <a:cs typeface="Calibri" pitchFamily="34" charset="-120"/>
              </a:rPr>
              <a:t>Sub-CPMK 3</a:t>
            </a:r>
            <a:endParaRPr lang="en-US" sz="1000" dirty="0"/>
          </a:p>
        </p:txBody>
      </p:sp>
      <p:sp>
        <p:nvSpPr>
          <p:cNvPr id="6" name="Text 4"/>
          <p:cNvSpPr/>
          <p:nvPr/>
        </p:nvSpPr>
        <p:spPr>
          <a:xfrm>
            <a:off x="1799539" y="2511231"/>
            <a:ext cx="8471001" cy="520149"/>
          </a:xfrm>
          <a:prstGeom prst="rect">
            <a:avLst/>
          </a:prstGeom>
          <a:noFill/>
          <a:ln/>
        </p:spPr>
        <p:txBody>
          <a:bodyPr wrap="square" lIns="0" tIns="0" rIns="0" bIns="0" rtlCol="0" anchor="ctr"/>
          <a:lstStyle/>
          <a:p>
            <a:pPr marL="0" indent="0">
              <a:lnSpc>
                <a:spcPct val="120000"/>
              </a:lnSpc>
              <a:buNone/>
            </a:pPr>
            <a:r>
              <a:rPr lang="en-US" sz="1200" dirty="0">
                <a:solidFill>
                  <a:srgbClr val="FFFFFF"/>
                </a:solidFill>
                <a:latin typeface="Calibri" pitchFamily="34" charset="0"/>
                <a:ea typeface="Calibri" pitchFamily="34" charset="-122"/>
                <a:cs typeface="Calibri" pitchFamily="34" charset="-120"/>
              </a:rPr>
              <a:t>Mahasiswa mampu menyusun ruang lingkup proyek (project scope) dan Work Breakdown Structure (WBS).</a:t>
            </a:r>
            <a:endParaRPr lang="en-US" sz="1200" dirty="0"/>
          </a:p>
        </p:txBody>
      </p:sp>
      <p:sp>
        <p:nvSpPr>
          <p:cNvPr id="7" name="Text 5"/>
          <p:cNvSpPr/>
          <p:nvPr/>
        </p:nvSpPr>
        <p:spPr>
          <a:xfrm>
            <a:off x="1539464" y="3328608"/>
            <a:ext cx="7430703" cy="297228"/>
          </a:xfrm>
          <a:prstGeom prst="rect">
            <a:avLst/>
          </a:prstGeom>
          <a:noFill/>
          <a:ln/>
        </p:spPr>
        <p:txBody>
          <a:bodyPr wrap="square" lIns="0" tIns="0" rIns="0" bIns="0" rtlCol="0" anchor="ctr"/>
          <a:lstStyle/>
          <a:p>
            <a:pPr marL="0" indent="0">
              <a:buNone/>
            </a:pPr>
            <a:r>
              <a:rPr lang="en-US" sz="1300" b="1" dirty="0">
                <a:solidFill>
                  <a:srgbClr val="006633"/>
                </a:solidFill>
                <a:latin typeface="Cambria" pitchFamily="34" charset="0"/>
                <a:ea typeface="Cambria" pitchFamily="34" charset="-122"/>
                <a:cs typeface="Cambria" pitchFamily="34" charset="-120"/>
              </a:rPr>
              <a:t>Fokus Pertemuan Ini — Indikator Pencapaian</a:t>
            </a:r>
            <a:endParaRPr lang="en-US" sz="1300" dirty="0"/>
          </a:p>
        </p:txBody>
      </p:sp>
      <p:sp>
        <p:nvSpPr>
          <p:cNvPr id="8" name="Text 6"/>
          <p:cNvSpPr/>
          <p:nvPr/>
        </p:nvSpPr>
        <p:spPr>
          <a:xfrm>
            <a:off x="1539464" y="3737297"/>
            <a:ext cx="8619615" cy="1931982"/>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300" dirty="0">
                <a:solidFill>
                  <a:srgbClr val="1F7A34"/>
                </a:solidFill>
                <a:latin typeface="Calibri" pitchFamily="34" charset="0"/>
                <a:ea typeface="Calibri" pitchFamily="34" charset="-122"/>
                <a:cs typeface="Calibri" pitchFamily="34" charset="-120"/>
              </a:rPr>
              <a:t>Menjelaskan konsep ruang lingkup proyek dan risiko scope creep</a:t>
            </a:r>
            <a:endParaRPr lang="en-US" sz="1300" dirty="0"/>
          </a:p>
          <a:p>
            <a:pPr marL="228600" indent="-228600">
              <a:lnSpc>
                <a:spcPct val="115000"/>
              </a:lnSpc>
              <a:spcAft>
                <a:spcPts val="1400"/>
              </a:spcAft>
              <a:buSzPct val="100000"/>
              <a:buChar char="▪"/>
            </a:pPr>
            <a:r>
              <a:rPr lang="en-US" sz="1300" dirty="0">
                <a:solidFill>
                  <a:srgbClr val="1F7A34"/>
                </a:solidFill>
                <a:latin typeface="Calibri" pitchFamily="34" charset="0"/>
                <a:ea typeface="Calibri" pitchFamily="34" charset="-122"/>
                <a:cs typeface="Calibri" pitchFamily="34" charset="-120"/>
              </a:rPr>
              <a:t>Menjelaskan tujuan dan karakteristik WBS yang baik</a:t>
            </a:r>
            <a:endParaRPr lang="en-US" sz="1300" dirty="0"/>
          </a:p>
          <a:p>
            <a:pPr marL="228600" indent="-228600">
              <a:lnSpc>
                <a:spcPct val="115000"/>
              </a:lnSpc>
              <a:spcAft>
                <a:spcPts val="1400"/>
              </a:spcAft>
              <a:buSzPct val="100000"/>
              <a:buChar char="▪"/>
            </a:pPr>
            <a:r>
              <a:rPr lang="en-US" sz="1300" dirty="0">
                <a:solidFill>
                  <a:srgbClr val="1F7A34"/>
                </a:solidFill>
                <a:latin typeface="Calibri" pitchFamily="34" charset="0"/>
                <a:ea typeface="Calibri" pitchFamily="34" charset="-122"/>
                <a:cs typeface="Calibri" pitchFamily="34" charset="-120"/>
              </a:rPr>
              <a:t>Menyusun WBS untuk sebuah studi kasus proyek TI secara terstruktur</a:t>
            </a:r>
            <a:endParaRPr lang="en-US" sz="1300" dirty="0"/>
          </a:p>
        </p:txBody>
      </p:sp>
      <p:sp>
        <p:nvSpPr>
          <p:cNvPr id="9" name="TextBox 8"/>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4  •  4/22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a:p>
        </p:txBody>
      </p:sp>
      <p:sp>
        <p:nvSpPr>
          <p:cNvPr id="3" name="Subtitle 2"/>
          <p:cNvSpPr>
            <a:spLocks noGrp="1"/>
          </p:cNvSpPr>
          <p:nvPr>
            <p:ph type="subTitle" idx="1"/>
          </p:nvPr>
        </p:nvSpPr>
        <p:spPr/>
        <p:txBody>
          <a:bodyPr/>
          <a:lstStyle/>
          <a:p>
            <a:endParaRPr/>
          </a:p>
        </p:txBody>
      </p:sp>
      <p:sp>
        <p:nvSpPr>
          <p:cNvPr id="4" name="Text 1"/>
          <p:cNvSpPr/>
          <p:nvPr/>
        </p:nvSpPr>
        <p:spPr>
          <a:xfrm>
            <a:off x="1874519" y="1417320"/>
            <a:ext cx="644652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PEMANTIK DISKUSI</a:t>
            </a:r>
            <a:endParaRPr lang="en-US" sz="1200" dirty="0"/>
          </a:p>
        </p:txBody>
      </p:sp>
      <p:sp>
        <p:nvSpPr>
          <p:cNvPr id="5" name="Text 4"/>
          <p:cNvSpPr/>
          <p:nvPr/>
        </p:nvSpPr>
        <p:spPr>
          <a:xfrm>
            <a:off x="1874519" y="1691640"/>
            <a:ext cx="6446520" cy="822960"/>
          </a:xfrm>
          <a:prstGeom prst="rect">
            <a:avLst/>
          </a:prstGeom>
          <a:noFill/>
          <a:ln/>
        </p:spPr>
        <p:txBody>
          <a:bodyPr wrap="square" lIns="0" tIns="0" rIns="0" bIns="0" rtlCol="0" anchor="t"/>
          <a:lstStyle/>
          <a:p>
            <a:pPr marL="0" indent="0">
              <a:buNone/>
            </a:pPr>
            <a:r>
              <a:rPr lang="en-US" sz="2700" b="1" dirty="0">
                <a:latin typeface="Cambria" pitchFamily="34" charset="0"/>
                <a:ea typeface="Cambria" pitchFamily="34" charset="-122"/>
                <a:cs typeface="Cambria" pitchFamily="34" charset="-120"/>
              </a:rPr>
              <a:t>Sebelum Kita Mulai…</a:t>
            </a:r>
            <a:endParaRPr lang="en-US" sz="2600" dirty="0"/>
          </a:p>
        </p:txBody>
      </p:sp>
      <p:sp>
        <p:nvSpPr>
          <p:cNvPr id="6" name="Shape 2"/>
          <p:cNvSpPr/>
          <p:nvPr/>
        </p:nvSpPr>
        <p:spPr>
          <a:xfrm>
            <a:off x="1874519" y="2560320"/>
            <a:ext cx="495886" cy="495886"/>
          </a:xfrm>
          <a:prstGeom prst="ellipse">
            <a:avLst/>
          </a:prstGeom>
          <a:solidFill>
            <a:srgbClr val="9FC41D"/>
          </a:solidFill>
          <a:ln/>
        </p:spPr>
        <p:txBody>
          <a:bodyPr/>
          <a:lstStyle/>
          <a:p>
            <a:endParaRPr/>
          </a:p>
        </p:txBody>
      </p:sp>
      <p:sp>
        <p:nvSpPr>
          <p:cNvPr id="7" name="Text 3"/>
          <p:cNvSpPr/>
          <p:nvPr/>
        </p:nvSpPr>
        <p:spPr>
          <a:xfrm>
            <a:off x="1874519" y="2560320"/>
            <a:ext cx="495886" cy="49588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8" name="Text 5"/>
          <p:cNvSpPr/>
          <p:nvPr/>
        </p:nvSpPr>
        <p:spPr>
          <a:xfrm>
            <a:off x="1874519" y="3524543"/>
            <a:ext cx="6446520" cy="1101969"/>
          </a:xfrm>
          <a:prstGeom prst="rect">
            <a:avLst/>
          </a:prstGeom>
          <a:noFill/>
          <a:ln/>
        </p:spPr>
        <p:txBody>
          <a:bodyPr wrap="square" lIns="0" tIns="0" rIns="0" bIns="0" rtlCol="0" anchor="ctr"/>
          <a:lstStyle/>
          <a:p>
            <a:pPr marL="0" indent="0">
              <a:lnSpc>
                <a:spcPct val="125000"/>
              </a:lnSpc>
              <a:buNone/>
            </a:pPr>
            <a:r>
              <a:rPr lang="en-US" sz="1500" i="1" dirty="0">
                <a:solidFill>
                  <a:srgbClr val="FFFFFF"/>
                </a:solidFill>
                <a:latin typeface="Cambria" pitchFamily="34" charset="0"/>
                <a:ea typeface="Cambria" pitchFamily="34" charset="-122"/>
                <a:cs typeface="Cambria" pitchFamily="34" charset="-120"/>
              </a:rPr>
              <a:t>“Menurut Anda, mengapa banyak proyek TI mengalami ‘scope creep’ — ruang lingkup yang terus membengkak dari rencana awal?”</a:t>
            </a:r>
            <a:endParaRPr lang="en-US" sz="1500" dirty="0"/>
          </a:p>
        </p:txBody>
      </p:sp>
      <p:sp>
        <p:nvSpPr>
          <p:cNvPr id="9" name="Text 6"/>
          <p:cNvSpPr/>
          <p:nvPr/>
        </p:nvSpPr>
        <p:spPr>
          <a:xfrm>
            <a:off x="1874519" y="4736709"/>
            <a:ext cx="5509846" cy="220393"/>
          </a:xfrm>
          <a:prstGeom prst="rect">
            <a:avLst/>
          </a:prstGeom>
          <a:noFill/>
          <a:ln/>
        </p:spPr>
        <p:txBody>
          <a:bodyPr wrap="square" lIns="0" tIns="0" rIns="0" bIns="0" rtlCol="0" anchor="ctr"/>
          <a:lstStyle/>
          <a:p>
            <a:pPr marL="0" indent="0">
              <a:buNone/>
            </a:pPr>
            <a:r>
              <a:rPr lang="en-US" sz="900" dirty="0">
                <a:solidFill>
                  <a:srgbClr val="D8E8C8"/>
                </a:solidFill>
                <a:latin typeface="Calibri" pitchFamily="34" charset="0"/>
                <a:ea typeface="Calibri" pitchFamily="34" charset="-122"/>
                <a:cs typeface="Calibri" pitchFamily="34" charset="-120"/>
              </a:rPr>
              <a:t>Diskusi singkat 3–5 menit — beberapa mahasiswa berbagi pendapat</a:t>
            </a:r>
            <a:endParaRPr lang="en-US" sz="900" dirty="0"/>
          </a:p>
        </p:txBody>
      </p:sp>
      <p:sp>
        <p:nvSpPr>
          <p:cNvPr id="10" name="TextBox 9"/>
          <p:cNvSpPr txBox="1"/>
          <p:nvPr/>
        </p:nvSpPr>
        <p:spPr>
          <a:xfrm>
            <a:off x="3017520" y="6446520"/>
            <a:ext cx="6126480" cy="274320"/>
          </a:xfrm>
          <a:prstGeom prst="rect">
            <a:avLst/>
          </a:prstGeom>
          <a:noFill/>
        </p:spPr>
        <p:txBody>
          <a:bodyPr wrap="square">
            <a:spAutoFit/>
          </a:bodyPr>
          <a:lstStyle/>
          <a:p>
            <a:pPr algn="ctr"/>
            <a:r>
              <a:rPr sz="900" b="0">
                <a:solidFill>
                  <a:srgbClr val="FFFFFF"/>
                </a:solidFill>
              </a:rPr>
              <a:t>TIK2111 • Manajemen Proyek TI • Pertemuan 4  •  5/22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RUANG LINGKUP PROYEK</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Apa Itu Ruang Lingkup Proyek?</a:t>
            </a:r>
            <a:endParaRPr lang="en-US" sz="3200" dirty="0"/>
          </a:p>
        </p:txBody>
      </p:sp>
      <p:sp>
        <p:nvSpPr>
          <p:cNvPr id="4" name="Shape 2"/>
          <p:cNvSpPr/>
          <p:nvPr/>
        </p:nvSpPr>
        <p:spPr>
          <a:xfrm>
            <a:off x="822960" y="2139696"/>
            <a:ext cx="10424160" cy="1636851"/>
          </a:xfrm>
          <a:prstGeom prst="roundRect">
            <a:avLst>
              <a:gd name="adj" fmla="val 6316"/>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1167560" y="2311996"/>
            <a:ext cx="9734959" cy="1292251"/>
          </a:xfrm>
          <a:prstGeom prst="rect">
            <a:avLst/>
          </a:prstGeom>
          <a:noFill/>
          <a:ln/>
        </p:spPr>
        <p:txBody>
          <a:bodyPr wrap="square" lIns="0" tIns="0" rIns="0" bIns="0" rtlCol="0" anchor="ctr"/>
          <a:lstStyle/>
          <a:p>
            <a:pPr marL="0" indent="0">
              <a:lnSpc>
                <a:spcPct val="130000"/>
              </a:lnSpc>
              <a:buNone/>
            </a:pPr>
            <a:r>
              <a:rPr lang="en-US" sz="1700" i="1" dirty="0">
                <a:solidFill>
                  <a:srgbClr val="FFFFFF"/>
                </a:solidFill>
                <a:latin typeface="Cambria" pitchFamily="34" charset="0"/>
                <a:ea typeface="Cambria" pitchFamily="34" charset="-122"/>
                <a:cs typeface="Cambria" pitchFamily="34" charset="-120"/>
              </a:rPr>
              <a:t>“Batasan yang mendefinisikan seluruh pekerjaan yang harus dilakukan untuk menghasilkan produk, layanan, atau hasil proyek sesuai fitur dan fungsi yang disyaratkan.”</a:t>
            </a:r>
            <a:endParaRPr lang="en-US" sz="1700" dirty="0"/>
          </a:p>
        </p:txBody>
      </p:sp>
      <p:sp>
        <p:nvSpPr>
          <p:cNvPr id="6" name="Text 4"/>
          <p:cNvSpPr/>
          <p:nvPr/>
        </p:nvSpPr>
        <p:spPr>
          <a:xfrm>
            <a:off x="822960" y="4034997"/>
            <a:ext cx="9993409" cy="861500"/>
          </a:xfrm>
          <a:prstGeom prst="rect">
            <a:avLst/>
          </a:prstGeom>
          <a:noFill/>
          <a:ln/>
        </p:spPr>
        <p:txBody>
          <a:bodyPr wrap="square" lIns="0" tIns="0" rIns="0" bIns="0" rtlCol="0" anchor="ctr"/>
          <a:lstStyle/>
          <a:p>
            <a:pPr marL="0" indent="0">
              <a:lnSpc>
                <a:spcPct val="130000"/>
              </a:lnSpc>
              <a:buNone/>
            </a:pPr>
            <a:r>
              <a:rPr lang="en-US" sz="1400" dirty="0">
                <a:solidFill>
                  <a:srgbClr val="1F7A34"/>
                </a:solidFill>
                <a:latin typeface="Calibri" pitchFamily="34" charset="0"/>
                <a:ea typeface="Calibri" pitchFamily="34" charset="-122"/>
                <a:cs typeface="Calibri" pitchFamily="34" charset="-120"/>
              </a:rPr>
              <a:t>Ruang lingkup menjawab pertanyaan: apa saja yang termasuk dan tidak termasuk dalam pekerjaan proyek ini?</a:t>
            </a:r>
            <a:endParaRPr lang="en-US" sz="1400" dirty="0"/>
          </a:p>
        </p:txBody>
      </p:sp>
      <p:sp>
        <p:nvSpPr>
          <p:cNvPr id="7" name="TextBox 6"/>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4  •  6/22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RUANG LINGKUP PROYEK</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Komponen Project Scope Statement</a:t>
            </a:r>
            <a:endParaRPr lang="en-US" sz="3200" dirty="0"/>
          </a:p>
        </p:txBody>
      </p:sp>
      <p:sp>
        <p:nvSpPr>
          <p:cNvPr id="4" name="Shape 2"/>
          <p:cNvSpPr/>
          <p:nvPr/>
        </p:nvSpPr>
        <p:spPr>
          <a:xfrm>
            <a:off x="822960" y="2139696"/>
            <a:ext cx="2445173" cy="3346026"/>
          </a:xfrm>
          <a:prstGeom prst="roundRect">
            <a:avLst>
              <a:gd name="adj" fmla="val 4211"/>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925914" y="2911856"/>
            <a:ext cx="2239264" cy="2488071"/>
          </a:xfrm>
          <a:prstGeom prst="rect">
            <a:avLst/>
          </a:prstGeom>
          <a:noFill/>
          <a:ln/>
        </p:spPr>
        <p:txBody>
          <a:bodyPr wrap="square" lIns="0" tIns="0" rIns="0" bIns="0" rtlCol="0" anchor="ctr"/>
          <a:lstStyle/>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Deliverables</a:t>
            </a:r>
            <a:endParaRPr lang="en-US" sz="1100" dirty="0"/>
          </a:p>
          <a:p>
            <a:pPr marL="0" indent="0" algn="ctr">
              <a:lnSpc>
                <a:spcPct val="110000"/>
              </a:lnSpc>
              <a:buNone/>
            </a:pPr>
            <a:endParaRPr lang="en-US" sz="1100" dirty="0"/>
          </a:p>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Hasil/produk konkret yang akan diserahkan pada akhir proyek</a:t>
            </a:r>
            <a:endParaRPr lang="en-US" sz="1100" dirty="0"/>
          </a:p>
        </p:txBody>
      </p:sp>
      <p:sp>
        <p:nvSpPr>
          <p:cNvPr id="6" name="Shape 4"/>
          <p:cNvSpPr/>
          <p:nvPr/>
        </p:nvSpPr>
        <p:spPr>
          <a:xfrm>
            <a:off x="3482622" y="2139696"/>
            <a:ext cx="2445173" cy="3346026"/>
          </a:xfrm>
          <a:prstGeom prst="roundRect">
            <a:avLst>
              <a:gd name="adj" fmla="val 4211"/>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7" name="Text 5"/>
          <p:cNvSpPr/>
          <p:nvPr/>
        </p:nvSpPr>
        <p:spPr>
          <a:xfrm>
            <a:off x="3585576" y="2911856"/>
            <a:ext cx="2239264" cy="2488071"/>
          </a:xfrm>
          <a:prstGeom prst="rect">
            <a:avLst/>
          </a:prstGeom>
          <a:noFill/>
          <a:ln/>
        </p:spPr>
        <p:txBody>
          <a:bodyPr wrap="square" lIns="0" tIns="0" rIns="0" bIns="0" rtlCol="0" anchor="ctr"/>
          <a:lstStyle/>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Exclusions</a:t>
            </a:r>
            <a:endParaRPr lang="en-US" sz="1100" dirty="0"/>
          </a:p>
          <a:p>
            <a:pPr marL="0" indent="0" algn="ctr">
              <a:lnSpc>
                <a:spcPct val="110000"/>
              </a:lnSpc>
              <a:buNone/>
            </a:pPr>
            <a:endParaRPr lang="en-US" sz="1100" dirty="0"/>
          </a:p>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Hal-hal yang secara eksplisit TIDAK termasuk dalam ruang lingkup proyek</a:t>
            </a:r>
            <a:endParaRPr lang="en-US" sz="1100" dirty="0"/>
          </a:p>
        </p:txBody>
      </p:sp>
      <p:sp>
        <p:nvSpPr>
          <p:cNvPr id="8" name="Shape 6"/>
          <p:cNvSpPr/>
          <p:nvPr/>
        </p:nvSpPr>
        <p:spPr>
          <a:xfrm>
            <a:off x="6142284" y="2139696"/>
            <a:ext cx="2445173" cy="3346026"/>
          </a:xfrm>
          <a:prstGeom prst="roundRect">
            <a:avLst>
              <a:gd name="adj" fmla="val 4211"/>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9" name="Text 7"/>
          <p:cNvSpPr/>
          <p:nvPr/>
        </p:nvSpPr>
        <p:spPr>
          <a:xfrm>
            <a:off x="6245239" y="2911856"/>
            <a:ext cx="2239264" cy="2488071"/>
          </a:xfrm>
          <a:prstGeom prst="rect">
            <a:avLst/>
          </a:prstGeom>
          <a:noFill/>
          <a:ln/>
        </p:spPr>
        <p:txBody>
          <a:bodyPr wrap="square" lIns="0" tIns="0" rIns="0" bIns="0" rtlCol="0" anchor="ctr"/>
          <a:lstStyle/>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Constraints</a:t>
            </a:r>
            <a:endParaRPr lang="en-US" sz="1100" dirty="0"/>
          </a:p>
          <a:p>
            <a:pPr marL="0" indent="0" algn="ctr">
              <a:lnSpc>
                <a:spcPct val="110000"/>
              </a:lnSpc>
              <a:buNone/>
            </a:pPr>
            <a:endParaRPr lang="en-US" sz="1100" dirty="0"/>
          </a:p>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Batasan yang membatasi pilihan tim (waktu, anggaran, teknologi)</a:t>
            </a:r>
            <a:endParaRPr lang="en-US" sz="1100" dirty="0"/>
          </a:p>
        </p:txBody>
      </p:sp>
      <p:sp>
        <p:nvSpPr>
          <p:cNvPr id="10" name="Shape 8"/>
          <p:cNvSpPr/>
          <p:nvPr/>
        </p:nvSpPr>
        <p:spPr>
          <a:xfrm>
            <a:off x="8801946" y="2139696"/>
            <a:ext cx="2445173" cy="3346026"/>
          </a:xfrm>
          <a:prstGeom prst="roundRect">
            <a:avLst>
              <a:gd name="adj" fmla="val 4211"/>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1" name="Text 9"/>
          <p:cNvSpPr/>
          <p:nvPr/>
        </p:nvSpPr>
        <p:spPr>
          <a:xfrm>
            <a:off x="8904901" y="2911856"/>
            <a:ext cx="2239264" cy="2488071"/>
          </a:xfrm>
          <a:prstGeom prst="rect">
            <a:avLst/>
          </a:prstGeom>
          <a:noFill/>
          <a:ln/>
        </p:spPr>
        <p:txBody>
          <a:bodyPr wrap="square" lIns="0" tIns="0" rIns="0" bIns="0" rtlCol="0" anchor="ctr"/>
          <a:lstStyle/>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Assumptions</a:t>
            </a:r>
            <a:endParaRPr lang="en-US" sz="1100" dirty="0"/>
          </a:p>
          <a:p>
            <a:pPr marL="0" indent="0" algn="ctr">
              <a:lnSpc>
                <a:spcPct val="110000"/>
              </a:lnSpc>
              <a:buNone/>
            </a:pPr>
            <a:endParaRPr lang="en-US" sz="1100" dirty="0"/>
          </a:p>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Asumsi yang dianggap benar tanpa pembuktian saat perencanaan</a:t>
            </a:r>
            <a:endParaRPr lang="en-US" sz="1100" dirty="0"/>
          </a:p>
        </p:txBody>
      </p:sp>
      <p:sp>
        <p:nvSpPr>
          <p:cNvPr id="12" name="Shape 10"/>
          <p:cNvSpPr/>
          <p:nvPr/>
        </p:nvSpPr>
        <p:spPr>
          <a:xfrm>
            <a:off x="1745262" y="2354184"/>
            <a:ext cx="600568" cy="600568"/>
          </a:xfrm>
          <a:prstGeom prst="ellipse">
            <a:avLst/>
          </a:prstGeom>
          <a:solidFill>
            <a:srgbClr val="9FC41D"/>
          </a:solidFill>
          <a:ln/>
        </p:spPr>
        <p:txBody>
          <a:bodyPr/>
          <a:lstStyle/>
          <a:p>
            <a:endParaRPr/>
          </a:p>
        </p:txBody>
      </p:sp>
      <p:sp>
        <p:nvSpPr>
          <p:cNvPr id="13" name="Text 11"/>
          <p:cNvSpPr/>
          <p:nvPr/>
        </p:nvSpPr>
        <p:spPr>
          <a:xfrm>
            <a:off x="1745262" y="2354184"/>
            <a:ext cx="600568" cy="600568"/>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1</a:t>
            </a:r>
            <a:endParaRPr lang="en-US" sz="2100" dirty="0"/>
          </a:p>
        </p:txBody>
      </p:sp>
      <p:sp>
        <p:nvSpPr>
          <p:cNvPr id="14" name="Shape 12"/>
          <p:cNvSpPr/>
          <p:nvPr/>
        </p:nvSpPr>
        <p:spPr>
          <a:xfrm>
            <a:off x="4404924" y="2354184"/>
            <a:ext cx="600568" cy="600568"/>
          </a:xfrm>
          <a:prstGeom prst="ellipse">
            <a:avLst/>
          </a:prstGeom>
          <a:solidFill>
            <a:srgbClr val="9FC41D"/>
          </a:solidFill>
          <a:ln/>
        </p:spPr>
        <p:txBody>
          <a:bodyPr/>
          <a:lstStyle/>
          <a:p>
            <a:endParaRPr/>
          </a:p>
        </p:txBody>
      </p:sp>
      <p:sp>
        <p:nvSpPr>
          <p:cNvPr id="15" name="Text 13"/>
          <p:cNvSpPr/>
          <p:nvPr/>
        </p:nvSpPr>
        <p:spPr>
          <a:xfrm>
            <a:off x="4404924" y="2354184"/>
            <a:ext cx="600568" cy="600568"/>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2</a:t>
            </a:r>
            <a:endParaRPr lang="en-US" sz="2100" dirty="0"/>
          </a:p>
        </p:txBody>
      </p:sp>
      <p:sp>
        <p:nvSpPr>
          <p:cNvPr id="16" name="Shape 14"/>
          <p:cNvSpPr/>
          <p:nvPr/>
        </p:nvSpPr>
        <p:spPr>
          <a:xfrm>
            <a:off x="7064586" y="2354184"/>
            <a:ext cx="600568" cy="600568"/>
          </a:xfrm>
          <a:prstGeom prst="ellipse">
            <a:avLst/>
          </a:prstGeom>
          <a:solidFill>
            <a:srgbClr val="9FC41D"/>
          </a:solidFill>
          <a:ln/>
        </p:spPr>
        <p:txBody>
          <a:bodyPr/>
          <a:lstStyle/>
          <a:p>
            <a:endParaRPr/>
          </a:p>
        </p:txBody>
      </p:sp>
      <p:sp>
        <p:nvSpPr>
          <p:cNvPr id="17" name="Text 15"/>
          <p:cNvSpPr/>
          <p:nvPr/>
        </p:nvSpPr>
        <p:spPr>
          <a:xfrm>
            <a:off x="7064586" y="2354184"/>
            <a:ext cx="600568" cy="600568"/>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3</a:t>
            </a:r>
            <a:endParaRPr lang="en-US" sz="2100" dirty="0"/>
          </a:p>
        </p:txBody>
      </p:sp>
      <p:sp>
        <p:nvSpPr>
          <p:cNvPr id="18" name="Shape 16"/>
          <p:cNvSpPr/>
          <p:nvPr/>
        </p:nvSpPr>
        <p:spPr>
          <a:xfrm>
            <a:off x="9724248" y="2354184"/>
            <a:ext cx="600568" cy="600568"/>
          </a:xfrm>
          <a:prstGeom prst="ellipse">
            <a:avLst/>
          </a:prstGeom>
          <a:solidFill>
            <a:srgbClr val="9FC41D"/>
          </a:solidFill>
          <a:ln/>
        </p:spPr>
        <p:txBody>
          <a:bodyPr/>
          <a:lstStyle/>
          <a:p>
            <a:endParaRPr/>
          </a:p>
        </p:txBody>
      </p:sp>
      <p:sp>
        <p:nvSpPr>
          <p:cNvPr id="19" name="Text 17"/>
          <p:cNvSpPr/>
          <p:nvPr/>
        </p:nvSpPr>
        <p:spPr>
          <a:xfrm>
            <a:off x="9724248" y="2354184"/>
            <a:ext cx="600568" cy="600568"/>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4</a:t>
            </a:r>
            <a:endParaRPr lang="en-US" sz="2100" dirty="0"/>
          </a:p>
        </p:txBody>
      </p:sp>
      <p:sp>
        <p:nvSpPr>
          <p:cNvPr id="20" name="TextBox 19"/>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4  •  7/22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RUANG LINGKUP PROYEK</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Scope Creep: Penyebab &amp; Dampak</a:t>
            </a:r>
            <a:endParaRPr lang="en-US" sz="3200" dirty="0"/>
          </a:p>
        </p:txBody>
      </p:sp>
      <p:sp>
        <p:nvSpPr>
          <p:cNvPr id="4" name="Shape 2"/>
          <p:cNvSpPr/>
          <p:nvPr/>
        </p:nvSpPr>
        <p:spPr>
          <a:xfrm>
            <a:off x="1181862" y="2139696"/>
            <a:ext cx="9706356" cy="1042831"/>
          </a:xfrm>
          <a:prstGeom prst="roundRect">
            <a:avLst>
              <a:gd name="adj" fmla="val 9231"/>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1502733" y="2284088"/>
            <a:ext cx="9064613" cy="802178"/>
          </a:xfrm>
          <a:prstGeom prst="rect">
            <a:avLst/>
          </a:prstGeom>
          <a:noFill/>
          <a:ln/>
        </p:spPr>
        <p:txBody>
          <a:bodyPr wrap="square" lIns="0" tIns="0" rIns="0" bIns="0" rtlCol="0" anchor="ctr"/>
          <a:lstStyle/>
          <a:p>
            <a:pPr marL="0" indent="0">
              <a:lnSpc>
                <a:spcPct val="125000"/>
              </a:lnSpc>
              <a:buNone/>
            </a:pPr>
            <a:r>
              <a:rPr lang="en-US" sz="1500" i="1" dirty="0">
                <a:solidFill>
                  <a:srgbClr val="FFFFFF"/>
                </a:solidFill>
                <a:latin typeface="Cambria" pitchFamily="34" charset="0"/>
                <a:ea typeface="Cambria" pitchFamily="34" charset="-122"/>
                <a:cs typeface="Cambria" pitchFamily="34" charset="-120"/>
              </a:rPr>
              <a:t>“Penambahan fitur atau pekerjaan secara bertahap tanpa melalui proses persetujuan perubahan yang formal.”</a:t>
            </a:r>
            <a:endParaRPr lang="en-US" sz="1500" dirty="0"/>
          </a:p>
        </p:txBody>
      </p:sp>
      <p:sp>
        <p:nvSpPr>
          <p:cNvPr id="6" name="Shape 4"/>
          <p:cNvSpPr/>
          <p:nvPr/>
        </p:nvSpPr>
        <p:spPr>
          <a:xfrm>
            <a:off x="1181862" y="3383072"/>
            <a:ext cx="4692742" cy="2286207"/>
          </a:xfrm>
          <a:prstGeom prst="roundRect">
            <a:avLst>
              <a:gd name="adj" fmla="val 4211"/>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7" name="Text 5"/>
          <p:cNvSpPr/>
          <p:nvPr/>
        </p:nvSpPr>
        <p:spPr>
          <a:xfrm>
            <a:off x="1422515" y="3583616"/>
            <a:ext cx="4211435" cy="320871"/>
          </a:xfrm>
          <a:prstGeom prst="rect">
            <a:avLst/>
          </a:prstGeom>
          <a:noFill/>
          <a:ln/>
        </p:spPr>
        <p:txBody>
          <a:bodyPr wrap="square" lIns="0" tIns="0" rIns="0" bIns="0" rtlCol="0" anchor="ctr"/>
          <a:lstStyle/>
          <a:p>
            <a:pPr marL="0" indent="0">
              <a:buNone/>
            </a:pPr>
            <a:r>
              <a:rPr lang="en-US" sz="1200" b="1" kern="0" spc="100" dirty="0">
                <a:solidFill>
                  <a:srgbClr val="006633"/>
                </a:solidFill>
                <a:latin typeface="Cambria" pitchFamily="34" charset="0"/>
                <a:ea typeface="Cambria" pitchFamily="34" charset="-122"/>
                <a:cs typeface="Cambria" pitchFamily="34" charset="-120"/>
              </a:rPr>
              <a:t>PENYEBAB UMUM</a:t>
            </a:r>
            <a:endParaRPr lang="en-US" sz="1200" dirty="0"/>
          </a:p>
        </p:txBody>
      </p:sp>
      <p:sp>
        <p:nvSpPr>
          <p:cNvPr id="8" name="Text 6"/>
          <p:cNvSpPr/>
          <p:nvPr/>
        </p:nvSpPr>
        <p:spPr>
          <a:xfrm>
            <a:off x="1422515" y="3984705"/>
            <a:ext cx="4211435" cy="1484029"/>
          </a:xfrm>
          <a:prstGeom prst="rect">
            <a:avLst/>
          </a:prstGeom>
          <a:noFill/>
          <a:ln/>
        </p:spPr>
        <p:txBody>
          <a:bodyPr wrap="square" lIns="0" tIns="0" rIns="0" bIns="0" rtlCol="0" anchor="t"/>
          <a:lstStyle/>
          <a:p>
            <a:pPr marL="228600" indent="-228600">
              <a:lnSpc>
                <a:spcPct val="115000"/>
              </a:lnSpc>
              <a:spcAft>
                <a:spcPts val="800"/>
              </a:spcAft>
              <a:buSzPct val="100000"/>
              <a:buChar char="▪"/>
            </a:pPr>
            <a:r>
              <a:rPr lang="en-US" sz="1100" dirty="0">
                <a:solidFill>
                  <a:srgbClr val="1F7A34"/>
                </a:solidFill>
                <a:latin typeface="Calibri" pitchFamily="34" charset="0"/>
                <a:ea typeface="Calibri" pitchFamily="34" charset="-122"/>
                <a:cs typeface="Calibri" pitchFamily="34" charset="-120"/>
              </a:rPr>
              <a:t>Ruang lingkup awal tidak didefinisikan dengan jelas</a:t>
            </a:r>
            <a:endParaRPr lang="en-US" sz="1100" dirty="0"/>
          </a:p>
          <a:p>
            <a:pPr marL="228600" indent="-228600">
              <a:lnSpc>
                <a:spcPct val="115000"/>
              </a:lnSpc>
              <a:spcAft>
                <a:spcPts val="800"/>
              </a:spcAft>
              <a:buSzPct val="100000"/>
              <a:buChar char="▪"/>
            </a:pPr>
            <a:r>
              <a:rPr lang="en-US" sz="1100" dirty="0">
                <a:solidFill>
                  <a:srgbClr val="1F7A34"/>
                </a:solidFill>
                <a:latin typeface="Calibri" pitchFamily="34" charset="0"/>
                <a:ea typeface="Calibri" pitchFamily="34" charset="-122"/>
                <a:cs typeface="Calibri" pitchFamily="34" charset="-120"/>
              </a:rPr>
              <a:t>Permintaan perubahan dari klien tanpa proses formal</a:t>
            </a:r>
            <a:endParaRPr lang="en-US" sz="1100" dirty="0"/>
          </a:p>
          <a:p>
            <a:pPr marL="228600" indent="-228600">
              <a:lnSpc>
                <a:spcPct val="115000"/>
              </a:lnSpc>
              <a:spcAft>
                <a:spcPts val="800"/>
              </a:spcAft>
              <a:buSzPct val="100000"/>
              <a:buChar char="▪"/>
            </a:pPr>
            <a:r>
              <a:rPr lang="en-US" sz="1100" dirty="0">
                <a:solidFill>
                  <a:srgbClr val="1F7A34"/>
                </a:solidFill>
                <a:latin typeface="Calibri" pitchFamily="34" charset="0"/>
                <a:ea typeface="Calibri" pitchFamily="34" charset="-122"/>
                <a:cs typeface="Calibri" pitchFamily="34" charset="-120"/>
              </a:rPr>
              <a:t>Komunikasi stakeholder yang kurang terstruktur</a:t>
            </a:r>
            <a:endParaRPr lang="en-US" sz="1100" dirty="0"/>
          </a:p>
        </p:txBody>
      </p:sp>
      <p:sp>
        <p:nvSpPr>
          <p:cNvPr id="9" name="Shape 7"/>
          <p:cNvSpPr/>
          <p:nvPr/>
        </p:nvSpPr>
        <p:spPr>
          <a:xfrm>
            <a:off x="6115257" y="3383072"/>
            <a:ext cx="4692742" cy="2286207"/>
          </a:xfrm>
          <a:prstGeom prst="roundRect">
            <a:avLst>
              <a:gd name="adj" fmla="val 4211"/>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10" name="Text 8"/>
          <p:cNvSpPr/>
          <p:nvPr/>
        </p:nvSpPr>
        <p:spPr>
          <a:xfrm>
            <a:off x="6355911" y="3583616"/>
            <a:ext cx="4211435" cy="320871"/>
          </a:xfrm>
          <a:prstGeom prst="rect">
            <a:avLst/>
          </a:prstGeom>
          <a:noFill/>
          <a:ln/>
        </p:spPr>
        <p:txBody>
          <a:bodyPr wrap="square" lIns="0" tIns="0" rIns="0" bIns="0" rtlCol="0" anchor="ctr"/>
          <a:lstStyle/>
          <a:p>
            <a:pPr marL="0" indent="0">
              <a:buNone/>
            </a:pPr>
            <a:r>
              <a:rPr lang="en-US" sz="1200" b="1" kern="0" spc="100" dirty="0">
                <a:solidFill>
                  <a:srgbClr val="9FC41D"/>
                </a:solidFill>
                <a:latin typeface="Cambria" pitchFamily="34" charset="0"/>
                <a:ea typeface="Cambria" pitchFamily="34" charset="-122"/>
                <a:cs typeface="Cambria" pitchFamily="34" charset="-120"/>
              </a:rPr>
              <a:t>DAMPAK</a:t>
            </a:r>
            <a:endParaRPr lang="en-US" sz="1200" dirty="0"/>
          </a:p>
        </p:txBody>
      </p:sp>
      <p:sp>
        <p:nvSpPr>
          <p:cNvPr id="11" name="Text 9"/>
          <p:cNvSpPr/>
          <p:nvPr/>
        </p:nvSpPr>
        <p:spPr>
          <a:xfrm>
            <a:off x="6355911" y="3984705"/>
            <a:ext cx="4211435" cy="1484029"/>
          </a:xfrm>
          <a:prstGeom prst="rect">
            <a:avLst/>
          </a:prstGeom>
          <a:noFill/>
          <a:ln/>
        </p:spPr>
        <p:txBody>
          <a:bodyPr wrap="square" lIns="0" tIns="0" rIns="0" bIns="0" rtlCol="0" anchor="t"/>
          <a:lstStyle/>
          <a:p>
            <a:pPr marL="228600" indent="-228600">
              <a:lnSpc>
                <a:spcPct val="115000"/>
              </a:lnSpc>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Jadwal proyek molor dari rencana</a:t>
            </a:r>
            <a:endParaRPr lang="en-US" sz="1100" dirty="0"/>
          </a:p>
          <a:p>
            <a:pPr marL="228600" indent="-228600">
              <a:lnSpc>
                <a:spcPct val="115000"/>
              </a:lnSpc>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Anggaran membengkak melebihi estimasi</a:t>
            </a:r>
            <a:endParaRPr lang="en-US" sz="1100" dirty="0"/>
          </a:p>
          <a:p>
            <a:pPr marL="228600" indent="-228600">
              <a:lnSpc>
                <a:spcPct val="115000"/>
              </a:lnSpc>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Kualitas hasil kerja tim dapat menurun</a:t>
            </a:r>
            <a:endParaRPr lang="en-US" sz="1100" dirty="0"/>
          </a:p>
        </p:txBody>
      </p:sp>
      <p:sp>
        <p:nvSpPr>
          <p:cNvPr id="12" name="TextBox 11"/>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4  •  8/22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RUANG LINGKUP PROYEK</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Cara Mencegah Scope Creep</a:t>
            </a:r>
            <a:endParaRPr lang="en-US" sz="3200" dirty="0"/>
          </a:p>
        </p:txBody>
      </p:sp>
      <p:sp>
        <p:nvSpPr>
          <p:cNvPr id="4" name="Shape 2"/>
          <p:cNvSpPr/>
          <p:nvPr/>
        </p:nvSpPr>
        <p:spPr>
          <a:xfrm>
            <a:off x="974854" y="2206607"/>
            <a:ext cx="460016" cy="460016"/>
          </a:xfrm>
          <a:prstGeom prst="ellipse">
            <a:avLst/>
          </a:prstGeom>
          <a:solidFill>
            <a:srgbClr val="006633"/>
          </a:solidFill>
          <a:ln/>
        </p:spPr>
        <p:txBody>
          <a:bodyPr/>
          <a:lstStyle/>
          <a:p>
            <a:endParaRPr/>
          </a:p>
        </p:txBody>
      </p:sp>
      <p:sp>
        <p:nvSpPr>
          <p:cNvPr id="5" name="Text 3"/>
          <p:cNvSpPr/>
          <p:nvPr/>
        </p:nvSpPr>
        <p:spPr>
          <a:xfrm>
            <a:off x="974854" y="2206607"/>
            <a:ext cx="460016" cy="46001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p:nvPr/>
        </p:nvSpPr>
        <p:spPr>
          <a:xfrm>
            <a:off x="1602150" y="2139696"/>
            <a:ext cx="9451255" cy="627295"/>
          </a:xfrm>
          <a:prstGeom prst="rect">
            <a:avLst/>
          </a:prstGeom>
          <a:noFill/>
          <a:ln/>
        </p:spPr>
        <p:txBody>
          <a:bodyPr wrap="square" lIns="0" tIns="0" rIns="0" bIns="0" rtlCol="0" anchor="ctr"/>
          <a:lstStyle/>
          <a:p>
            <a:pPr marL="0" indent="0">
              <a:buNone/>
            </a:pPr>
            <a:r>
              <a:rPr lang="en-US" sz="1400" dirty="0">
                <a:solidFill>
                  <a:srgbClr val="1F7A34"/>
                </a:solidFill>
                <a:latin typeface="Calibri" pitchFamily="34" charset="0"/>
                <a:ea typeface="Calibri" pitchFamily="34" charset="-122"/>
                <a:cs typeface="Calibri" pitchFamily="34" charset="-120"/>
              </a:rPr>
              <a:t>Definisikan ruang lingkup secara jelas &amp; rinci sejak awal (scope statement &amp; WBS)</a:t>
            </a:r>
            <a:endParaRPr lang="en-US" sz="1400" dirty="0"/>
          </a:p>
        </p:txBody>
      </p:sp>
      <p:sp>
        <p:nvSpPr>
          <p:cNvPr id="7" name="Shape 5"/>
          <p:cNvSpPr/>
          <p:nvPr/>
        </p:nvSpPr>
        <p:spPr>
          <a:xfrm>
            <a:off x="974854" y="2959362"/>
            <a:ext cx="10120371" cy="0"/>
          </a:xfrm>
          <a:prstGeom prst="line">
            <a:avLst/>
          </a:prstGeom>
          <a:noFill/>
          <a:ln w="12700">
            <a:solidFill>
              <a:srgbClr val="E4EFD9"/>
            </a:solidFill>
            <a:prstDash val="solid"/>
          </a:ln>
        </p:spPr>
        <p:txBody>
          <a:bodyPr/>
          <a:lstStyle/>
          <a:p>
            <a:endParaRPr/>
          </a:p>
        </p:txBody>
      </p:sp>
      <p:sp>
        <p:nvSpPr>
          <p:cNvPr id="8" name="Shape 6"/>
          <p:cNvSpPr/>
          <p:nvPr/>
        </p:nvSpPr>
        <p:spPr>
          <a:xfrm>
            <a:off x="974854" y="3109913"/>
            <a:ext cx="460016" cy="460016"/>
          </a:xfrm>
          <a:prstGeom prst="ellipse">
            <a:avLst/>
          </a:prstGeom>
          <a:solidFill>
            <a:srgbClr val="9FC41D"/>
          </a:solidFill>
          <a:ln/>
        </p:spPr>
        <p:txBody>
          <a:bodyPr/>
          <a:lstStyle/>
          <a:p>
            <a:endParaRPr/>
          </a:p>
        </p:txBody>
      </p:sp>
      <p:sp>
        <p:nvSpPr>
          <p:cNvPr id="9" name="Text 7"/>
          <p:cNvSpPr/>
          <p:nvPr/>
        </p:nvSpPr>
        <p:spPr>
          <a:xfrm>
            <a:off x="974854" y="3109913"/>
            <a:ext cx="460016" cy="46001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0" name="Text 8"/>
          <p:cNvSpPr/>
          <p:nvPr/>
        </p:nvSpPr>
        <p:spPr>
          <a:xfrm>
            <a:off x="1602150" y="3043001"/>
            <a:ext cx="9451255" cy="627295"/>
          </a:xfrm>
          <a:prstGeom prst="rect">
            <a:avLst/>
          </a:prstGeom>
          <a:noFill/>
          <a:ln/>
        </p:spPr>
        <p:txBody>
          <a:bodyPr wrap="square" lIns="0" tIns="0" rIns="0" bIns="0" rtlCol="0" anchor="ctr"/>
          <a:lstStyle/>
          <a:p>
            <a:pPr marL="0" indent="0">
              <a:buNone/>
            </a:pPr>
            <a:r>
              <a:rPr lang="en-US" sz="1400" dirty="0">
                <a:solidFill>
                  <a:srgbClr val="1F7A34"/>
                </a:solidFill>
                <a:latin typeface="Calibri" pitchFamily="34" charset="0"/>
                <a:ea typeface="Calibri" pitchFamily="34" charset="-122"/>
                <a:cs typeface="Calibri" pitchFamily="34" charset="-120"/>
              </a:rPr>
              <a:t>Terapkan proses change control formal untuk setiap permintaan perubahan</a:t>
            </a:r>
            <a:endParaRPr lang="en-US" sz="1400" dirty="0"/>
          </a:p>
        </p:txBody>
      </p:sp>
      <p:sp>
        <p:nvSpPr>
          <p:cNvPr id="11" name="Shape 9"/>
          <p:cNvSpPr/>
          <p:nvPr/>
        </p:nvSpPr>
        <p:spPr>
          <a:xfrm>
            <a:off x="974854" y="3862668"/>
            <a:ext cx="10120371" cy="0"/>
          </a:xfrm>
          <a:prstGeom prst="line">
            <a:avLst/>
          </a:prstGeom>
          <a:noFill/>
          <a:ln w="12700">
            <a:solidFill>
              <a:srgbClr val="E4EFD9"/>
            </a:solidFill>
            <a:prstDash val="solid"/>
          </a:ln>
        </p:spPr>
        <p:txBody>
          <a:bodyPr/>
          <a:lstStyle/>
          <a:p>
            <a:endParaRPr/>
          </a:p>
        </p:txBody>
      </p:sp>
      <p:sp>
        <p:nvSpPr>
          <p:cNvPr id="12" name="Shape 10"/>
          <p:cNvSpPr/>
          <p:nvPr/>
        </p:nvSpPr>
        <p:spPr>
          <a:xfrm>
            <a:off x="974854" y="4013219"/>
            <a:ext cx="460016" cy="460016"/>
          </a:xfrm>
          <a:prstGeom prst="ellipse">
            <a:avLst/>
          </a:prstGeom>
          <a:solidFill>
            <a:srgbClr val="006633"/>
          </a:solidFill>
          <a:ln/>
        </p:spPr>
        <p:txBody>
          <a:bodyPr/>
          <a:lstStyle/>
          <a:p>
            <a:endParaRPr/>
          </a:p>
        </p:txBody>
      </p:sp>
      <p:sp>
        <p:nvSpPr>
          <p:cNvPr id="13" name="Text 11"/>
          <p:cNvSpPr/>
          <p:nvPr/>
        </p:nvSpPr>
        <p:spPr>
          <a:xfrm>
            <a:off x="974854" y="4013219"/>
            <a:ext cx="460016" cy="46001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2"/>
          <p:cNvSpPr/>
          <p:nvPr/>
        </p:nvSpPr>
        <p:spPr>
          <a:xfrm>
            <a:off x="1602150" y="3946307"/>
            <a:ext cx="9451255" cy="627295"/>
          </a:xfrm>
          <a:prstGeom prst="rect">
            <a:avLst/>
          </a:prstGeom>
          <a:noFill/>
          <a:ln/>
        </p:spPr>
        <p:txBody>
          <a:bodyPr wrap="square" lIns="0" tIns="0" rIns="0" bIns="0" rtlCol="0" anchor="ctr"/>
          <a:lstStyle/>
          <a:p>
            <a:pPr marL="0" indent="0">
              <a:buNone/>
            </a:pPr>
            <a:r>
              <a:rPr lang="en-US" sz="1400" dirty="0">
                <a:solidFill>
                  <a:srgbClr val="1F7A34"/>
                </a:solidFill>
                <a:latin typeface="Calibri" pitchFamily="34" charset="0"/>
                <a:ea typeface="Calibri" pitchFamily="34" charset="-122"/>
                <a:cs typeface="Calibri" pitchFamily="34" charset="-120"/>
              </a:rPr>
              <a:t>Libatkan stakeholder kunci saat menyepakati ruang lingkup</a:t>
            </a:r>
            <a:endParaRPr lang="en-US" sz="1400" dirty="0"/>
          </a:p>
        </p:txBody>
      </p:sp>
      <p:sp>
        <p:nvSpPr>
          <p:cNvPr id="15" name="Shape 13"/>
          <p:cNvSpPr/>
          <p:nvPr/>
        </p:nvSpPr>
        <p:spPr>
          <a:xfrm>
            <a:off x="974854" y="4765974"/>
            <a:ext cx="10120371" cy="0"/>
          </a:xfrm>
          <a:prstGeom prst="line">
            <a:avLst/>
          </a:prstGeom>
          <a:noFill/>
          <a:ln w="12700">
            <a:solidFill>
              <a:srgbClr val="E4EFD9"/>
            </a:solidFill>
            <a:prstDash val="solid"/>
          </a:ln>
        </p:spPr>
        <p:txBody>
          <a:bodyPr/>
          <a:lstStyle/>
          <a:p>
            <a:endParaRPr/>
          </a:p>
        </p:txBody>
      </p:sp>
      <p:sp>
        <p:nvSpPr>
          <p:cNvPr id="16" name="Shape 14"/>
          <p:cNvSpPr/>
          <p:nvPr/>
        </p:nvSpPr>
        <p:spPr>
          <a:xfrm>
            <a:off x="974854" y="4916525"/>
            <a:ext cx="460016" cy="460016"/>
          </a:xfrm>
          <a:prstGeom prst="ellipse">
            <a:avLst/>
          </a:prstGeom>
          <a:solidFill>
            <a:srgbClr val="9FC41D"/>
          </a:solidFill>
          <a:ln/>
        </p:spPr>
        <p:txBody>
          <a:bodyPr/>
          <a:lstStyle/>
          <a:p>
            <a:endParaRPr/>
          </a:p>
        </p:txBody>
      </p:sp>
      <p:sp>
        <p:nvSpPr>
          <p:cNvPr id="17" name="Text 15"/>
          <p:cNvSpPr/>
          <p:nvPr/>
        </p:nvSpPr>
        <p:spPr>
          <a:xfrm>
            <a:off x="974854" y="4916525"/>
            <a:ext cx="460016" cy="46001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8" name="Text 16"/>
          <p:cNvSpPr/>
          <p:nvPr/>
        </p:nvSpPr>
        <p:spPr>
          <a:xfrm>
            <a:off x="1602150" y="4849613"/>
            <a:ext cx="9451255" cy="627295"/>
          </a:xfrm>
          <a:prstGeom prst="rect">
            <a:avLst/>
          </a:prstGeom>
          <a:noFill/>
          <a:ln/>
        </p:spPr>
        <p:txBody>
          <a:bodyPr wrap="square" lIns="0" tIns="0" rIns="0" bIns="0" rtlCol="0" anchor="ctr"/>
          <a:lstStyle/>
          <a:p>
            <a:pPr marL="0" indent="0">
              <a:buNone/>
            </a:pPr>
            <a:r>
              <a:rPr lang="en-US" sz="1400" dirty="0">
                <a:solidFill>
                  <a:srgbClr val="1F7A34"/>
                </a:solidFill>
                <a:latin typeface="Calibri" pitchFamily="34" charset="0"/>
                <a:ea typeface="Calibri" pitchFamily="34" charset="-122"/>
                <a:cs typeface="Calibri" pitchFamily="34" charset="-120"/>
              </a:rPr>
              <a:t>Pantau dan komunikasikan progres secara berkala kepada stakeholder</a:t>
            </a:r>
            <a:endParaRPr lang="en-US" sz="1400" dirty="0"/>
          </a:p>
        </p:txBody>
      </p:sp>
      <p:sp>
        <p:nvSpPr>
          <p:cNvPr id="19" name="Shape 17"/>
          <p:cNvSpPr/>
          <p:nvPr/>
        </p:nvSpPr>
        <p:spPr>
          <a:xfrm>
            <a:off x="974854" y="5669280"/>
            <a:ext cx="10120371" cy="0"/>
          </a:xfrm>
          <a:prstGeom prst="line">
            <a:avLst/>
          </a:prstGeom>
          <a:noFill/>
          <a:ln w="12700">
            <a:solidFill>
              <a:srgbClr val="E4EFD9"/>
            </a:solidFill>
            <a:prstDash val="solid"/>
          </a:ln>
        </p:spPr>
        <p:txBody>
          <a:bodyPr/>
          <a:lstStyle/>
          <a:p>
            <a:endParaRPr/>
          </a:p>
        </p:txBody>
      </p:sp>
      <p:sp>
        <p:nvSpPr>
          <p:cNvPr id="20" name="TextBox 19"/>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4  •  9/22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WORK BREAKDOWN STRUCTURE</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Apa Itu Work Breakdown Structure (WBS)?</a:t>
            </a:r>
            <a:endParaRPr lang="en-US" sz="3200" dirty="0"/>
          </a:p>
        </p:txBody>
      </p:sp>
      <p:sp>
        <p:nvSpPr>
          <p:cNvPr id="4" name="Shape 2"/>
          <p:cNvSpPr/>
          <p:nvPr/>
        </p:nvSpPr>
        <p:spPr>
          <a:xfrm>
            <a:off x="822960" y="2139696"/>
            <a:ext cx="10424160" cy="1636851"/>
          </a:xfrm>
          <a:prstGeom prst="roundRect">
            <a:avLst>
              <a:gd name="adj" fmla="val 6316"/>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1167560" y="2311996"/>
            <a:ext cx="9734959" cy="1292251"/>
          </a:xfrm>
          <a:prstGeom prst="rect">
            <a:avLst/>
          </a:prstGeom>
          <a:noFill/>
          <a:ln/>
        </p:spPr>
        <p:txBody>
          <a:bodyPr wrap="square" lIns="0" tIns="0" rIns="0" bIns="0" rtlCol="0" anchor="ctr"/>
          <a:lstStyle/>
          <a:p>
            <a:pPr marL="0" indent="0">
              <a:lnSpc>
                <a:spcPct val="130000"/>
              </a:lnSpc>
              <a:buNone/>
            </a:pPr>
            <a:r>
              <a:rPr lang="en-US" sz="1700" i="1" dirty="0">
                <a:solidFill>
                  <a:srgbClr val="FFFFFF"/>
                </a:solidFill>
                <a:latin typeface="Cambria" pitchFamily="34" charset="0"/>
                <a:ea typeface="Cambria" pitchFamily="34" charset="-122"/>
                <a:cs typeface="Cambria" pitchFamily="34" charset="-120"/>
              </a:rPr>
              <a:t>“Dekomposisi hierarkis dari total ruang lingkup pekerjaan yang harus dilakukan oleh tim proyek untuk mencapai tujuan proyek.”</a:t>
            </a:r>
            <a:endParaRPr lang="en-US" sz="1700" dirty="0"/>
          </a:p>
        </p:txBody>
      </p:sp>
      <p:sp>
        <p:nvSpPr>
          <p:cNvPr id="6" name="Text 4"/>
          <p:cNvSpPr/>
          <p:nvPr/>
        </p:nvSpPr>
        <p:spPr>
          <a:xfrm>
            <a:off x="822960" y="4034997"/>
            <a:ext cx="9993409" cy="861500"/>
          </a:xfrm>
          <a:prstGeom prst="rect">
            <a:avLst/>
          </a:prstGeom>
          <a:noFill/>
          <a:ln/>
        </p:spPr>
        <p:txBody>
          <a:bodyPr wrap="square" lIns="0" tIns="0" rIns="0" bIns="0" rtlCol="0" anchor="ctr"/>
          <a:lstStyle/>
          <a:p>
            <a:pPr marL="0" indent="0">
              <a:lnSpc>
                <a:spcPct val="130000"/>
              </a:lnSpc>
              <a:buNone/>
            </a:pPr>
            <a:r>
              <a:rPr lang="en-US" sz="1400" dirty="0">
                <a:solidFill>
                  <a:srgbClr val="1F7A34"/>
                </a:solidFill>
                <a:latin typeface="Calibri" pitchFamily="34" charset="0"/>
                <a:ea typeface="Calibri" pitchFamily="34" charset="-122"/>
                <a:cs typeface="Calibri" pitchFamily="34" charset="-120"/>
              </a:rPr>
              <a:t>WBS memecah proyek besar menjadi bagian-bagian pekerjaan (work package) yang lebih kecil, terkelola, dan mudah diestimasi.</a:t>
            </a:r>
            <a:endParaRPr lang="en-US" sz="1400" dirty="0"/>
          </a:p>
        </p:txBody>
      </p:sp>
      <p:sp>
        <p:nvSpPr>
          <p:cNvPr id="7" name="TextBox 6"/>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4  •  10/22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WORK BREAKDOWN STRUCTURE</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Karakteristik WBS yang Baik</a:t>
            </a:r>
            <a:endParaRPr lang="en-US" sz="3200" dirty="0"/>
          </a:p>
        </p:txBody>
      </p:sp>
      <p:sp>
        <p:nvSpPr>
          <p:cNvPr id="4" name="Shape 2"/>
          <p:cNvSpPr/>
          <p:nvPr/>
        </p:nvSpPr>
        <p:spPr>
          <a:xfrm>
            <a:off x="1348536" y="2139696"/>
            <a:ext cx="4588459" cy="1647139"/>
          </a:xfrm>
          <a:prstGeom prst="roundRect">
            <a:avLst>
              <a:gd name="adj" fmla="val 5714"/>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1442659" y="2845612"/>
            <a:ext cx="4400214" cy="862787"/>
          </a:xfrm>
          <a:prstGeom prst="rect">
            <a:avLst/>
          </a:prstGeom>
          <a:noFill/>
          <a:ln/>
        </p:spPr>
        <p:txBody>
          <a:bodyPr wrap="square" lIns="0" tIns="0" rIns="0" bIns="0" rtlCol="0" anchor="ctr"/>
          <a:lstStyle/>
          <a:p>
            <a:pPr marL="0" indent="0" algn="ctr">
              <a:lnSpc>
                <a:spcPct val="110000"/>
              </a:lnSpc>
              <a:buNone/>
            </a:pPr>
            <a:r>
              <a:rPr lang="en-US" sz="1000" b="1" dirty="0">
                <a:solidFill>
                  <a:srgbClr val="006633"/>
                </a:solidFill>
                <a:latin typeface="Calibri" pitchFamily="34" charset="0"/>
                <a:ea typeface="Calibri" pitchFamily="34" charset="-122"/>
                <a:cs typeface="Calibri" pitchFamily="34" charset="-120"/>
              </a:rPr>
              <a:t>100% Rule</a:t>
            </a:r>
            <a:endParaRPr lang="en-US" sz="1000" dirty="0"/>
          </a:p>
          <a:p>
            <a:pPr marL="0" indent="0" algn="ctr">
              <a:lnSpc>
                <a:spcPct val="110000"/>
              </a:lnSpc>
              <a:buNone/>
            </a:pPr>
            <a:endParaRPr lang="en-US" sz="1000" dirty="0"/>
          </a:p>
          <a:p>
            <a:pPr marL="0" indent="0" algn="ctr">
              <a:lnSpc>
                <a:spcPct val="110000"/>
              </a:lnSpc>
              <a:buNone/>
            </a:pPr>
            <a:r>
              <a:rPr lang="en-US" sz="1000" b="1" dirty="0">
                <a:solidFill>
                  <a:srgbClr val="006633"/>
                </a:solidFill>
                <a:latin typeface="Calibri" pitchFamily="34" charset="0"/>
                <a:ea typeface="Calibri" pitchFamily="34" charset="-122"/>
                <a:cs typeface="Calibri" pitchFamily="34" charset="-120"/>
              </a:rPr>
              <a:t>WBS harus mencakup 100% pekerjaan yang didefinisikan dalam ruang lingkup — tidak lebih, tidak kurang</a:t>
            </a:r>
            <a:endParaRPr lang="en-US" sz="1000" dirty="0"/>
          </a:p>
        </p:txBody>
      </p:sp>
      <p:sp>
        <p:nvSpPr>
          <p:cNvPr id="6" name="Shape 4"/>
          <p:cNvSpPr/>
          <p:nvPr/>
        </p:nvSpPr>
        <p:spPr>
          <a:xfrm>
            <a:off x="6133084" y="2139696"/>
            <a:ext cx="4588459" cy="1647139"/>
          </a:xfrm>
          <a:prstGeom prst="roundRect">
            <a:avLst>
              <a:gd name="adj" fmla="val 5714"/>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7" name="Text 5"/>
          <p:cNvSpPr/>
          <p:nvPr/>
        </p:nvSpPr>
        <p:spPr>
          <a:xfrm>
            <a:off x="6227206" y="2845612"/>
            <a:ext cx="4400214" cy="862787"/>
          </a:xfrm>
          <a:prstGeom prst="rect">
            <a:avLst/>
          </a:prstGeom>
          <a:noFill/>
          <a:ln/>
        </p:spPr>
        <p:txBody>
          <a:bodyPr wrap="square" lIns="0" tIns="0" rIns="0" bIns="0" rtlCol="0" anchor="ctr"/>
          <a:lstStyle/>
          <a:p>
            <a:pPr marL="0" indent="0" algn="ctr">
              <a:lnSpc>
                <a:spcPct val="110000"/>
              </a:lnSpc>
              <a:buNone/>
            </a:pPr>
            <a:r>
              <a:rPr lang="en-US" sz="1000" b="1" dirty="0">
                <a:solidFill>
                  <a:srgbClr val="006633"/>
                </a:solidFill>
                <a:latin typeface="Calibri" pitchFamily="34" charset="0"/>
                <a:ea typeface="Calibri" pitchFamily="34" charset="-122"/>
                <a:cs typeface="Calibri" pitchFamily="34" charset="-120"/>
              </a:rPr>
              <a:t>Deliverable-Oriented</a:t>
            </a:r>
            <a:endParaRPr lang="en-US" sz="1000" dirty="0"/>
          </a:p>
          <a:p>
            <a:pPr marL="0" indent="0" algn="ctr">
              <a:lnSpc>
                <a:spcPct val="110000"/>
              </a:lnSpc>
              <a:buNone/>
            </a:pPr>
            <a:endParaRPr lang="en-US" sz="1000" dirty="0"/>
          </a:p>
          <a:p>
            <a:pPr marL="0" indent="0" algn="ctr">
              <a:lnSpc>
                <a:spcPct val="110000"/>
              </a:lnSpc>
              <a:buNone/>
            </a:pPr>
            <a:r>
              <a:rPr lang="en-US" sz="1000" b="1" dirty="0">
                <a:solidFill>
                  <a:srgbClr val="006633"/>
                </a:solidFill>
                <a:latin typeface="Calibri" pitchFamily="34" charset="0"/>
                <a:ea typeface="Calibri" pitchFamily="34" charset="-122"/>
                <a:cs typeface="Calibri" pitchFamily="34" charset="-120"/>
              </a:rPr>
              <a:t>Setiap elemen WBS berfokus pada hasil kerja (deliverable), bukan aktivitas</a:t>
            </a:r>
            <a:endParaRPr lang="en-US" sz="1000" dirty="0"/>
          </a:p>
        </p:txBody>
      </p:sp>
      <p:sp>
        <p:nvSpPr>
          <p:cNvPr id="8" name="Shape 6"/>
          <p:cNvSpPr/>
          <p:nvPr/>
        </p:nvSpPr>
        <p:spPr>
          <a:xfrm>
            <a:off x="1348536" y="4022140"/>
            <a:ext cx="4588459" cy="1647139"/>
          </a:xfrm>
          <a:prstGeom prst="roundRect">
            <a:avLst>
              <a:gd name="adj" fmla="val 5714"/>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9" name="Text 7"/>
          <p:cNvSpPr/>
          <p:nvPr/>
        </p:nvSpPr>
        <p:spPr>
          <a:xfrm>
            <a:off x="1442659" y="4728057"/>
            <a:ext cx="4400214" cy="862787"/>
          </a:xfrm>
          <a:prstGeom prst="rect">
            <a:avLst/>
          </a:prstGeom>
          <a:noFill/>
          <a:ln/>
        </p:spPr>
        <p:txBody>
          <a:bodyPr wrap="square" lIns="0" tIns="0" rIns="0" bIns="0" rtlCol="0" anchor="ctr"/>
          <a:lstStyle/>
          <a:p>
            <a:pPr marL="0" indent="0" algn="ctr">
              <a:lnSpc>
                <a:spcPct val="110000"/>
              </a:lnSpc>
              <a:buNone/>
            </a:pPr>
            <a:r>
              <a:rPr lang="en-US" sz="1000" b="1" dirty="0">
                <a:solidFill>
                  <a:srgbClr val="006633"/>
                </a:solidFill>
                <a:latin typeface="Calibri" pitchFamily="34" charset="0"/>
                <a:ea typeface="Calibri" pitchFamily="34" charset="-122"/>
                <a:cs typeface="Calibri" pitchFamily="34" charset="-120"/>
              </a:rPr>
              <a:t>Mutually Exclusive</a:t>
            </a:r>
            <a:endParaRPr lang="en-US" sz="1000" dirty="0"/>
          </a:p>
          <a:p>
            <a:pPr marL="0" indent="0" algn="ctr">
              <a:lnSpc>
                <a:spcPct val="110000"/>
              </a:lnSpc>
              <a:buNone/>
            </a:pPr>
            <a:endParaRPr lang="en-US" sz="1000" dirty="0"/>
          </a:p>
          <a:p>
            <a:pPr marL="0" indent="0" algn="ctr">
              <a:lnSpc>
                <a:spcPct val="110000"/>
              </a:lnSpc>
              <a:buNone/>
            </a:pPr>
            <a:r>
              <a:rPr lang="en-US" sz="1000" b="1" dirty="0">
                <a:solidFill>
                  <a:srgbClr val="006633"/>
                </a:solidFill>
                <a:latin typeface="Calibri" pitchFamily="34" charset="0"/>
                <a:ea typeface="Calibri" pitchFamily="34" charset="-122"/>
                <a:cs typeface="Calibri" pitchFamily="34" charset="-120"/>
              </a:rPr>
              <a:t>Tidak ada tumpang tindih pekerjaan antar elemen WBS</a:t>
            </a:r>
            <a:endParaRPr lang="en-US" sz="1000" dirty="0"/>
          </a:p>
        </p:txBody>
      </p:sp>
      <p:sp>
        <p:nvSpPr>
          <p:cNvPr id="10" name="Shape 8"/>
          <p:cNvSpPr/>
          <p:nvPr/>
        </p:nvSpPr>
        <p:spPr>
          <a:xfrm>
            <a:off x="6133084" y="4022140"/>
            <a:ext cx="4588459" cy="1647139"/>
          </a:xfrm>
          <a:prstGeom prst="roundRect">
            <a:avLst>
              <a:gd name="adj" fmla="val 5714"/>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1" name="Text 9"/>
          <p:cNvSpPr/>
          <p:nvPr/>
        </p:nvSpPr>
        <p:spPr>
          <a:xfrm>
            <a:off x="6227206" y="4728057"/>
            <a:ext cx="4400214" cy="862787"/>
          </a:xfrm>
          <a:prstGeom prst="rect">
            <a:avLst/>
          </a:prstGeom>
          <a:noFill/>
          <a:ln/>
        </p:spPr>
        <p:txBody>
          <a:bodyPr wrap="square" lIns="0" tIns="0" rIns="0" bIns="0" rtlCol="0" anchor="ctr"/>
          <a:lstStyle/>
          <a:p>
            <a:pPr marL="0" indent="0" algn="ctr">
              <a:lnSpc>
                <a:spcPct val="110000"/>
              </a:lnSpc>
              <a:buNone/>
            </a:pPr>
            <a:r>
              <a:rPr lang="en-US" sz="1000" b="1" dirty="0">
                <a:solidFill>
                  <a:srgbClr val="006633"/>
                </a:solidFill>
                <a:latin typeface="Calibri" pitchFamily="34" charset="0"/>
                <a:ea typeface="Calibri" pitchFamily="34" charset="-122"/>
                <a:cs typeface="Calibri" pitchFamily="34" charset="-120"/>
              </a:rPr>
              <a:t>Level Terkecil Terukur</a:t>
            </a:r>
            <a:endParaRPr lang="en-US" sz="1000" dirty="0"/>
          </a:p>
          <a:p>
            <a:pPr marL="0" indent="0" algn="ctr">
              <a:lnSpc>
                <a:spcPct val="110000"/>
              </a:lnSpc>
              <a:buNone/>
            </a:pPr>
            <a:endParaRPr lang="en-US" sz="1000" dirty="0"/>
          </a:p>
          <a:p>
            <a:pPr marL="0" indent="0" algn="ctr">
              <a:lnSpc>
                <a:spcPct val="110000"/>
              </a:lnSpc>
              <a:buNone/>
            </a:pPr>
            <a:r>
              <a:rPr lang="en-US" sz="1000" b="1" dirty="0">
                <a:solidFill>
                  <a:srgbClr val="006633"/>
                </a:solidFill>
                <a:latin typeface="Calibri" pitchFamily="34" charset="0"/>
                <a:ea typeface="Calibri" pitchFamily="34" charset="-122"/>
                <a:cs typeface="Calibri" pitchFamily="34" charset="-120"/>
              </a:rPr>
              <a:t>Work package pada level terbawah cukup kecil untuk diestimasi waktu &amp; biayanya</a:t>
            </a:r>
            <a:endParaRPr lang="en-US" sz="1000" dirty="0"/>
          </a:p>
        </p:txBody>
      </p:sp>
      <p:sp>
        <p:nvSpPr>
          <p:cNvPr id="12" name="Shape 10"/>
          <p:cNvSpPr/>
          <p:nvPr/>
        </p:nvSpPr>
        <p:spPr>
          <a:xfrm>
            <a:off x="1583842" y="2375001"/>
            <a:ext cx="431393" cy="431393"/>
          </a:xfrm>
          <a:prstGeom prst="ellipse">
            <a:avLst/>
          </a:prstGeom>
          <a:solidFill>
            <a:srgbClr val="9FC41D"/>
          </a:solidFill>
          <a:ln/>
        </p:spPr>
        <p:txBody>
          <a:bodyPr/>
          <a:lstStyle/>
          <a:p>
            <a:endParaRPr/>
          </a:p>
        </p:txBody>
      </p:sp>
      <p:sp>
        <p:nvSpPr>
          <p:cNvPr id="13" name="Text 11"/>
          <p:cNvSpPr/>
          <p:nvPr/>
        </p:nvSpPr>
        <p:spPr>
          <a:xfrm>
            <a:off x="1583842" y="2375001"/>
            <a:ext cx="431393" cy="431393"/>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4" name="Shape 12"/>
          <p:cNvSpPr/>
          <p:nvPr/>
        </p:nvSpPr>
        <p:spPr>
          <a:xfrm>
            <a:off x="6407607" y="2375001"/>
            <a:ext cx="431393" cy="431393"/>
          </a:xfrm>
          <a:prstGeom prst="ellipse">
            <a:avLst/>
          </a:prstGeom>
          <a:solidFill>
            <a:srgbClr val="9FC41D"/>
          </a:solidFill>
          <a:ln/>
        </p:spPr>
        <p:txBody>
          <a:bodyPr/>
          <a:lstStyle/>
          <a:p>
            <a:endParaRPr/>
          </a:p>
        </p:txBody>
      </p:sp>
      <p:sp>
        <p:nvSpPr>
          <p:cNvPr id="15" name="Text 13"/>
          <p:cNvSpPr/>
          <p:nvPr/>
        </p:nvSpPr>
        <p:spPr>
          <a:xfrm>
            <a:off x="6407607" y="2375001"/>
            <a:ext cx="431393" cy="431393"/>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6" name="Shape 14"/>
          <p:cNvSpPr/>
          <p:nvPr/>
        </p:nvSpPr>
        <p:spPr>
          <a:xfrm>
            <a:off x="1583842" y="4257446"/>
            <a:ext cx="431393" cy="431393"/>
          </a:xfrm>
          <a:prstGeom prst="ellipse">
            <a:avLst/>
          </a:prstGeom>
          <a:solidFill>
            <a:srgbClr val="9FC41D"/>
          </a:solidFill>
          <a:ln/>
        </p:spPr>
        <p:txBody>
          <a:bodyPr/>
          <a:lstStyle/>
          <a:p>
            <a:endParaRPr/>
          </a:p>
        </p:txBody>
      </p:sp>
      <p:sp>
        <p:nvSpPr>
          <p:cNvPr id="17" name="Text 15"/>
          <p:cNvSpPr/>
          <p:nvPr/>
        </p:nvSpPr>
        <p:spPr>
          <a:xfrm>
            <a:off x="1583842" y="4257446"/>
            <a:ext cx="431393" cy="431393"/>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Shape 16"/>
          <p:cNvSpPr/>
          <p:nvPr/>
        </p:nvSpPr>
        <p:spPr>
          <a:xfrm>
            <a:off x="6407607" y="4257446"/>
            <a:ext cx="431393" cy="431393"/>
          </a:xfrm>
          <a:prstGeom prst="ellipse">
            <a:avLst/>
          </a:prstGeom>
          <a:solidFill>
            <a:srgbClr val="9FC41D"/>
          </a:solidFill>
          <a:ln/>
        </p:spPr>
        <p:txBody>
          <a:bodyPr/>
          <a:lstStyle/>
          <a:p>
            <a:endParaRPr/>
          </a:p>
        </p:txBody>
      </p:sp>
      <p:sp>
        <p:nvSpPr>
          <p:cNvPr id="19" name="Text 17"/>
          <p:cNvSpPr/>
          <p:nvPr/>
        </p:nvSpPr>
        <p:spPr>
          <a:xfrm>
            <a:off x="6407607" y="4257446"/>
            <a:ext cx="431393" cy="431393"/>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0" name="TextBox 19"/>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4  •  11/22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WORK BREAKDOWN STRUCTURE</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Struktur Hierarki WBS</a:t>
            </a:r>
            <a:endParaRPr lang="en-US" sz="3200" dirty="0"/>
          </a:p>
        </p:txBody>
      </p:sp>
      <p:sp>
        <p:nvSpPr>
          <p:cNvPr id="4" name="Shape 2"/>
          <p:cNvSpPr/>
          <p:nvPr/>
        </p:nvSpPr>
        <p:spPr>
          <a:xfrm>
            <a:off x="5096320" y="2139696"/>
            <a:ext cx="1877438" cy="600780"/>
          </a:xfrm>
          <a:prstGeom prst="roundRect">
            <a:avLst>
              <a:gd name="adj" fmla="val 15000"/>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5096320" y="2139696"/>
            <a:ext cx="1877438" cy="600780"/>
          </a:xfrm>
          <a:prstGeom prst="rect">
            <a:avLst/>
          </a:prstGeom>
          <a:noFill/>
          <a:ln/>
        </p:spPr>
        <p:txBody>
          <a:bodyPr wrap="square" lIns="0" tIns="0" rIns="0" bIns="0" rtlCol="0" anchor="ctr"/>
          <a:lstStyle/>
          <a:p>
            <a:pPr marL="0" indent="0" algn="ctr">
              <a:lnSpc>
                <a:spcPct val="110000"/>
              </a:lnSpc>
              <a:buNone/>
            </a:pPr>
            <a:r>
              <a:rPr lang="en-US" sz="1100" b="1" dirty="0">
                <a:solidFill>
                  <a:srgbClr val="FFFFFF"/>
                </a:solidFill>
                <a:latin typeface="Cambria" pitchFamily="34" charset="0"/>
                <a:ea typeface="Cambria" pitchFamily="34" charset="-122"/>
                <a:cs typeface="Cambria" pitchFamily="34" charset="-120"/>
              </a:rPr>
              <a:t>Level 1</a:t>
            </a:r>
            <a:endParaRPr lang="en-US" sz="1100" dirty="0"/>
          </a:p>
          <a:p>
            <a:pPr marL="0" indent="0" algn="ctr">
              <a:lnSpc>
                <a:spcPct val="110000"/>
              </a:lnSpc>
              <a:buNone/>
            </a:pPr>
            <a:r>
              <a:rPr lang="en-US" sz="1100" b="1" dirty="0">
                <a:solidFill>
                  <a:srgbClr val="FFFFFF"/>
                </a:solidFill>
                <a:latin typeface="Cambria" pitchFamily="34" charset="0"/>
                <a:ea typeface="Cambria" pitchFamily="34" charset="-122"/>
                <a:cs typeface="Cambria" pitchFamily="34" charset="-120"/>
              </a:rPr>
              <a:t>Proyek</a:t>
            </a:r>
            <a:endParaRPr lang="en-US" sz="1100" dirty="0"/>
          </a:p>
        </p:txBody>
      </p:sp>
      <p:sp>
        <p:nvSpPr>
          <p:cNvPr id="6" name="Shape 4"/>
          <p:cNvSpPr/>
          <p:nvPr/>
        </p:nvSpPr>
        <p:spPr>
          <a:xfrm>
            <a:off x="1942224" y="3191061"/>
            <a:ext cx="2027633" cy="600780"/>
          </a:xfrm>
          <a:prstGeom prst="roundRect">
            <a:avLst>
              <a:gd name="adj" fmla="val 15000"/>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7" name="Text 5"/>
          <p:cNvSpPr/>
          <p:nvPr/>
        </p:nvSpPr>
        <p:spPr>
          <a:xfrm>
            <a:off x="1942224" y="3191061"/>
            <a:ext cx="2027633" cy="600780"/>
          </a:xfrm>
          <a:prstGeom prst="rect">
            <a:avLst/>
          </a:prstGeom>
          <a:noFill/>
          <a:ln/>
        </p:spPr>
        <p:txBody>
          <a:bodyPr wrap="square" lIns="0" tIns="0" rIns="0" bIns="0" rtlCol="0" anchor="ctr"/>
          <a:lstStyle/>
          <a:p>
            <a:pPr marL="0" indent="0" algn="ctr">
              <a:lnSpc>
                <a:spcPct val="110000"/>
              </a:lnSpc>
              <a:buNone/>
            </a:pPr>
            <a:r>
              <a:rPr lang="en-US" sz="1000" b="1" dirty="0">
                <a:solidFill>
                  <a:srgbClr val="006633"/>
                </a:solidFill>
                <a:latin typeface="Calibri" pitchFamily="34" charset="0"/>
                <a:ea typeface="Calibri" pitchFamily="34" charset="-122"/>
                <a:cs typeface="Calibri" pitchFamily="34" charset="-120"/>
              </a:rPr>
              <a:t>Level 2</a:t>
            </a:r>
            <a:endParaRPr lang="en-US" sz="1000" dirty="0"/>
          </a:p>
          <a:p>
            <a:pPr marL="0" indent="0" algn="ctr">
              <a:lnSpc>
                <a:spcPct val="110000"/>
              </a:lnSpc>
              <a:buNone/>
            </a:pPr>
            <a:r>
              <a:rPr lang="en-US" sz="1000" b="1" dirty="0">
                <a:solidFill>
                  <a:srgbClr val="006633"/>
                </a:solidFill>
                <a:latin typeface="Calibri" pitchFamily="34" charset="0"/>
                <a:ea typeface="Calibri" pitchFamily="34" charset="-122"/>
                <a:cs typeface="Calibri" pitchFamily="34" charset="-120"/>
              </a:rPr>
              <a:t>Deliverable 1</a:t>
            </a:r>
            <a:endParaRPr lang="en-US" sz="1000" dirty="0"/>
          </a:p>
        </p:txBody>
      </p:sp>
      <p:sp>
        <p:nvSpPr>
          <p:cNvPr id="8" name="Shape 6"/>
          <p:cNvSpPr/>
          <p:nvPr/>
        </p:nvSpPr>
        <p:spPr>
          <a:xfrm>
            <a:off x="6035040" y="2740476"/>
            <a:ext cx="0" cy="450585"/>
          </a:xfrm>
          <a:prstGeom prst="line">
            <a:avLst/>
          </a:prstGeom>
          <a:noFill/>
          <a:ln w="19050">
            <a:solidFill>
              <a:srgbClr val="DCE8D0"/>
            </a:solidFill>
            <a:prstDash val="solid"/>
          </a:ln>
        </p:spPr>
        <p:txBody>
          <a:bodyPr/>
          <a:lstStyle/>
          <a:p>
            <a:endParaRPr/>
          </a:p>
        </p:txBody>
      </p:sp>
      <p:sp>
        <p:nvSpPr>
          <p:cNvPr id="9" name="Shape 7"/>
          <p:cNvSpPr/>
          <p:nvPr/>
        </p:nvSpPr>
        <p:spPr>
          <a:xfrm>
            <a:off x="5021223" y="3191061"/>
            <a:ext cx="2027633" cy="600780"/>
          </a:xfrm>
          <a:prstGeom prst="roundRect">
            <a:avLst>
              <a:gd name="adj" fmla="val 15000"/>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0" name="Text 8"/>
          <p:cNvSpPr/>
          <p:nvPr/>
        </p:nvSpPr>
        <p:spPr>
          <a:xfrm>
            <a:off x="5021223" y="3191061"/>
            <a:ext cx="2027633" cy="600780"/>
          </a:xfrm>
          <a:prstGeom prst="rect">
            <a:avLst/>
          </a:prstGeom>
          <a:noFill/>
          <a:ln/>
        </p:spPr>
        <p:txBody>
          <a:bodyPr wrap="square" lIns="0" tIns="0" rIns="0" bIns="0" rtlCol="0" anchor="ctr"/>
          <a:lstStyle/>
          <a:p>
            <a:pPr marL="0" indent="0" algn="ctr">
              <a:lnSpc>
                <a:spcPct val="110000"/>
              </a:lnSpc>
              <a:buNone/>
            </a:pPr>
            <a:r>
              <a:rPr lang="en-US" sz="1000" b="1" dirty="0">
                <a:solidFill>
                  <a:srgbClr val="006633"/>
                </a:solidFill>
                <a:latin typeface="Calibri" pitchFamily="34" charset="0"/>
                <a:ea typeface="Calibri" pitchFamily="34" charset="-122"/>
                <a:cs typeface="Calibri" pitchFamily="34" charset="-120"/>
              </a:rPr>
              <a:t>Level 2</a:t>
            </a:r>
            <a:endParaRPr lang="en-US" sz="1000" dirty="0"/>
          </a:p>
          <a:p>
            <a:pPr marL="0" indent="0" algn="ctr">
              <a:lnSpc>
                <a:spcPct val="110000"/>
              </a:lnSpc>
              <a:buNone/>
            </a:pPr>
            <a:r>
              <a:rPr lang="en-US" sz="1000" b="1" dirty="0">
                <a:solidFill>
                  <a:srgbClr val="006633"/>
                </a:solidFill>
                <a:latin typeface="Calibri" pitchFamily="34" charset="0"/>
                <a:ea typeface="Calibri" pitchFamily="34" charset="-122"/>
                <a:cs typeface="Calibri" pitchFamily="34" charset="-120"/>
              </a:rPr>
              <a:t>Deliverable 2</a:t>
            </a:r>
            <a:endParaRPr lang="en-US" sz="1000" dirty="0"/>
          </a:p>
        </p:txBody>
      </p:sp>
      <p:sp>
        <p:nvSpPr>
          <p:cNvPr id="11" name="Shape 9"/>
          <p:cNvSpPr/>
          <p:nvPr/>
        </p:nvSpPr>
        <p:spPr>
          <a:xfrm>
            <a:off x="6035040" y="2740476"/>
            <a:ext cx="0" cy="450585"/>
          </a:xfrm>
          <a:prstGeom prst="line">
            <a:avLst/>
          </a:prstGeom>
          <a:noFill/>
          <a:ln w="19050">
            <a:solidFill>
              <a:srgbClr val="DCE8D0"/>
            </a:solidFill>
            <a:prstDash val="solid"/>
          </a:ln>
        </p:spPr>
        <p:txBody>
          <a:bodyPr/>
          <a:lstStyle/>
          <a:p>
            <a:endParaRPr/>
          </a:p>
        </p:txBody>
      </p:sp>
      <p:sp>
        <p:nvSpPr>
          <p:cNvPr id="12" name="Shape 10"/>
          <p:cNvSpPr/>
          <p:nvPr/>
        </p:nvSpPr>
        <p:spPr>
          <a:xfrm>
            <a:off x="8100222" y="3191061"/>
            <a:ext cx="2027633" cy="600780"/>
          </a:xfrm>
          <a:prstGeom prst="roundRect">
            <a:avLst>
              <a:gd name="adj" fmla="val 15000"/>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3" name="Text 11"/>
          <p:cNvSpPr/>
          <p:nvPr/>
        </p:nvSpPr>
        <p:spPr>
          <a:xfrm>
            <a:off x="8100222" y="3191061"/>
            <a:ext cx="2027633" cy="600780"/>
          </a:xfrm>
          <a:prstGeom prst="rect">
            <a:avLst/>
          </a:prstGeom>
          <a:noFill/>
          <a:ln/>
        </p:spPr>
        <p:txBody>
          <a:bodyPr wrap="square" lIns="0" tIns="0" rIns="0" bIns="0" rtlCol="0" anchor="ctr"/>
          <a:lstStyle/>
          <a:p>
            <a:pPr marL="0" indent="0" algn="ctr">
              <a:lnSpc>
                <a:spcPct val="110000"/>
              </a:lnSpc>
              <a:buNone/>
            </a:pPr>
            <a:r>
              <a:rPr lang="en-US" sz="1000" b="1" dirty="0">
                <a:solidFill>
                  <a:srgbClr val="006633"/>
                </a:solidFill>
                <a:latin typeface="Calibri" pitchFamily="34" charset="0"/>
                <a:ea typeface="Calibri" pitchFamily="34" charset="-122"/>
                <a:cs typeface="Calibri" pitchFamily="34" charset="-120"/>
              </a:rPr>
              <a:t>Level 2</a:t>
            </a:r>
            <a:endParaRPr lang="en-US" sz="1000" dirty="0"/>
          </a:p>
          <a:p>
            <a:pPr marL="0" indent="0" algn="ctr">
              <a:lnSpc>
                <a:spcPct val="110000"/>
              </a:lnSpc>
              <a:buNone/>
            </a:pPr>
            <a:r>
              <a:rPr lang="en-US" sz="1000" b="1" dirty="0">
                <a:solidFill>
                  <a:srgbClr val="006633"/>
                </a:solidFill>
                <a:latin typeface="Calibri" pitchFamily="34" charset="0"/>
                <a:ea typeface="Calibri" pitchFamily="34" charset="-122"/>
                <a:cs typeface="Calibri" pitchFamily="34" charset="-120"/>
              </a:rPr>
              <a:t>Deliverable 3</a:t>
            </a:r>
            <a:endParaRPr lang="en-US" sz="1000" dirty="0"/>
          </a:p>
        </p:txBody>
      </p:sp>
      <p:sp>
        <p:nvSpPr>
          <p:cNvPr id="14" name="Shape 12"/>
          <p:cNvSpPr/>
          <p:nvPr/>
        </p:nvSpPr>
        <p:spPr>
          <a:xfrm>
            <a:off x="6035040" y="2740476"/>
            <a:ext cx="3078998" cy="450585"/>
          </a:xfrm>
          <a:prstGeom prst="line">
            <a:avLst/>
          </a:prstGeom>
          <a:noFill/>
          <a:ln w="19050">
            <a:solidFill>
              <a:srgbClr val="DCE8D0"/>
            </a:solidFill>
            <a:prstDash val="solid"/>
          </a:ln>
        </p:spPr>
        <p:txBody>
          <a:bodyPr/>
          <a:lstStyle/>
          <a:p>
            <a:endParaRPr/>
          </a:p>
        </p:txBody>
      </p:sp>
      <p:sp>
        <p:nvSpPr>
          <p:cNvPr id="15" name="Shape 13"/>
          <p:cNvSpPr/>
          <p:nvPr/>
        </p:nvSpPr>
        <p:spPr>
          <a:xfrm>
            <a:off x="4157601" y="4279975"/>
            <a:ext cx="1126462" cy="750975"/>
          </a:xfrm>
          <a:prstGeom prst="roundRect">
            <a:avLst>
              <a:gd name="adj" fmla="val 12000"/>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6" name="Text 14"/>
          <p:cNvSpPr/>
          <p:nvPr/>
        </p:nvSpPr>
        <p:spPr>
          <a:xfrm>
            <a:off x="4157601" y="4279975"/>
            <a:ext cx="1126462" cy="750975"/>
          </a:xfrm>
          <a:prstGeom prst="rect">
            <a:avLst/>
          </a:prstGeom>
          <a:noFill/>
          <a:ln/>
        </p:spPr>
        <p:txBody>
          <a:bodyPr wrap="square" lIns="0" tIns="0" rIns="0" bIns="0" rtlCol="0" anchor="ctr"/>
          <a:lstStyle/>
          <a:p>
            <a:pPr marL="0" indent="0" algn="ctr">
              <a:lnSpc>
                <a:spcPct val="110000"/>
              </a:lnSpc>
              <a:buNone/>
            </a:pPr>
            <a:r>
              <a:rPr lang="en-US" sz="900" b="1" dirty="0">
                <a:solidFill>
                  <a:srgbClr val="39A935"/>
                </a:solidFill>
                <a:latin typeface="Calibri" pitchFamily="34" charset="0"/>
                <a:ea typeface="Calibri" pitchFamily="34" charset="-122"/>
                <a:cs typeface="Calibri" pitchFamily="34" charset="-120"/>
              </a:rPr>
              <a:t>Work</a:t>
            </a:r>
            <a:endParaRPr lang="en-US" sz="900" dirty="0"/>
          </a:p>
          <a:p>
            <a:pPr marL="0" indent="0" algn="ctr">
              <a:lnSpc>
                <a:spcPct val="110000"/>
              </a:lnSpc>
              <a:buNone/>
            </a:pPr>
            <a:r>
              <a:rPr lang="en-US" sz="900" b="1" dirty="0">
                <a:solidFill>
                  <a:srgbClr val="39A935"/>
                </a:solidFill>
                <a:latin typeface="Calibri" pitchFamily="34" charset="0"/>
                <a:ea typeface="Calibri" pitchFamily="34" charset="-122"/>
                <a:cs typeface="Calibri" pitchFamily="34" charset="-120"/>
              </a:rPr>
              <a:t>Package 1</a:t>
            </a:r>
            <a:endParaRPr lang="en-US" sz="900" dirty="0"/>
          </a:p>
        </p:txBody>
      </p:sp>
      <p:sp>
        <p:nvSpPr>
          <p:cNvPr id="17" name="Shape 15"/>
          <p:cNvSpPr/>
          <p:nvPr/>
        </p:nvSpPr>
        <p:spPr>
          <a:xfrm>
            <a:off x="6035040" y="3791841"/>
            <a:ext cx="0" cy="488133"/>
          </a:xfrm>
          <a:prstGeom prst="line">
            <a:avLst/>
          </a:prstGeom>
          <a:noFill/>
          <a:ln w="19050">
            <a:solidFill>
              <a:srgbClr val="DCE8D0"/>
            </a:solidFill>
            <a:prstDash val="solid"/>
          </a:ln>
        </p:spPr>
        <p:txBody>
          <a:bodyPr/>
          <a:lstStyle/>
          <a:p>
            <a:endParaRPr/>
          </a:p>
        </p:txBody>
      </p:sp>
      <p:sp>
        <p:nvSpPr>
          <p:cNvPr id="18" name="Shape 16"/>
          <p:cNvSpPr/>
          <p:nvPr/>
        </p:nvSpPr>
        <p:spPr>
          <a:xfrm>
            <a:off x="5471808" y="4279975"/>
            <a:ext cx="1126462" cy="750975"/>
          </a:xfrm>
          <a:prstGeom prst="roundRect">
            <a:avLst>
              <a:gd name="adj" fmla="val 12000"/>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9" name="Text 17"/>
          <p:cNvSpPr/>
          <p:nvPr/>
        </p:nvSpPr>
        <p:spPr>
          <a:xfrm>
            <a:off x="5471808" y="4279975"/>
            <a:ext cx="1126462" cy="750975"/>
          </a:xfrm>
          <a:prstGeom prst="rect">
            <a:avLst/>
          </a:prstGeom>
          <a:noFill/>
          <a:ln/>
        </p:spPr>
        <p:txBody>
          <a:bodyPr wrap="square" lIns="0" tIns="0" rIns="0" bIns="0" rtlCol="0" anchor="ctr"/>
          <a:lstStyle/>
          <a:p>
            <a:pPr marL="0" indent="0" algn="ctr">
              <a:lnSpc>
                <a:spcPct val="110000"/>
              </a:lnSpc>
              <a:buNone/>
            </a:pPr>
            <a:r>
              <a:rPr lang="en-US" sz="900" b="1" dirty="0">
                <a:solidFill>
                  <a:srgbClr val="39A935"/>
                </a:solidFill>
                <a:latin typeface="Calibri" pitchFamily="34" charset="0"/>
                <a:ea typeface="Calibri" pitchFamily="34" charset="-122"/>
                <a:cs typeface="Calibri" pitchFamily="34" charset="-120"/>
              </a:rPr>
              <a:t>Work</a:t>
            </a:r>
            <a:endParaRPr lang="en-US" sz="900" dirty="0"/>
          </a:p>
          <a:p>
            <a:pPr marL="0" indent="0" algn="ctr">
              <a:lnSpc>
                <a:spcPct val="110000"/>
              </a:lnSpc>
              <a:buNone/>
            </a:pPr>
            <a:r>
              <a:rPr lang="en-US" sz="900" b="1" dirty="0">
                <a:solidFill>
                  <a:srgbClr val="39A935"/>
                </a:solidFill>
                <a:latin typeface="Calibri" pitchFamily="34" charset="0"/>
                <a:ea typeface="Calibri" pitchFamily="34" charset="-122"/>
                <a:cs typeface="Calibri" pitchFamily="34" charset="-120"/>
              </a:rPr>
              <a:t>Package 2</a:t>
            </a:r>
            <a:endParaRPr lang="en-US" sz="900" dirty="0"/>
          </a:p>
        </p:txBody>
      </p:sp>
      <p:sp>
        <p:nvSpPr>
          <p:cNvPr id="20" name="Shape 18"/>
          <p:cNvSpPr/>
          <p:nvPr/>
        </p:nvSpPr>
        <p:spPr>
          <a:xfrm>
            <a:off x="6035040" y="3791841"/>
            <a:ext cx="0" cy="488133"/>
          </a:xfrm>
          <a:prstGeom prst="line">
            <a:avLst/>
          </a:prstGeom>
          <a:noFill/>
          <a:ln w="19050">
            <a:solidFill>
              <a:srgbClr val="DCE8D0"/>
            </a:solidFill>
            <a:prstDash val="solid"/>
          </a:ln>
        </p:spPr>
        <p:txBody>
          <a:bodyPr/>
          <a:lstStyle/>
          <a:p>
            <a:endParaRPr/>
          </a:p>
        </p:txBody>
      </p:sp>
      <p:sp>
        <p:nvSpPr>
          <p:cNvPr id="21" name="Shape 19"/>
          <p:cNvSpPr/>
          <p:nvPr/>
        </p:nvSpPr>
        <p:spPr>
          <a:xfrm>
            <a:off x="6786015" y="4279975"/>
            <a:ext cx="1126462" cy="750975"/>
          </a:xfrm>
          <a:prstGeom prst="roundRect">
            <a:avLst>
              <a:gd name="adj" fmla="val 12000"/>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22" name="Text 20"/>
          <p:cNvSpPr/>
          <p:nvPr/>
        </p:nvSpPr>
        <p:spPr>
          <a:xfrm>
            <a:off x="6786015" y="4279975"/>
            <a:ext cx="1126462" cy="750975"/>
          </a:xfrm>
          <a:prstGeom prst="rect">
            <a:avLst/>
          </a:prstGeom>
          <a:noFill/>
          <a:ln/>
        </p:spPr>
        <p:txBody>
          <a:bodyPr wrap="square" lIns="0" tIns="0" rIns="0" bIns="0" rtlCol="0" anchor="ctr"/>
          <a:lstStyle/>
          <a:p>
            <a:pPr marL="0" indent="0" algn="ctr">
              <a:lnSpc>
                <a:spcPct val="110000"/>
              </a:lnSpc>
              <a:buNone/>
            </a:pPr>
            <a:r>
              <a:rPr lang="en-US" sz="900" b="1" dirty="0">
                <a:solidFill>
                  <a:srgbClr val="39A935"/>
                </a:solidFill>
                <a:latin typeface="Calibri" pitchFamily="34" charset="0"/>
                <a:ea typeface="Calibri" pitchFamily="34" charset="-122"/>
                <a:cs typeface="Calibri" pitchFamily="34" charset="-120"/>
              </a:rPr>
              <a:t>Work</a:t>
            </a:r>
            <a:endParaRPr lang="en-US" sz="900" dirty="0"/>
          </a:p>
          <a:p>
            <a:pPr marL="0" indent="0" algn="ctr">
              <a:lnSpc>
                <a:spcPct val="110000"/>
              </a:lnSpc>
              <a:buNone/>
            </a:pPr>
            <a:r>
              <a:rPr lang="en-US" sz="900" b="1" dirty="0">
                <a:solidFill>
                  <a:srgbClr val="39A935"/>
                </a:solidFill>
                <a:latin typeface="Calibri" pitchFamily="34" charset="0"/>
                <a:ea typeface="Calibri" pitchFamily="34" charset="-122"/>
                <a:cs typeface="Calibri" pitchFamily="34" charset="-120"/>
              </a:rPr>
              <a:t>Package 3</a:t>
            </a:r>
            <a:endParaRPr lang="en-US" sz="900" dirty="0"/>
          </a:p>
        </p:txBody>
      </p:sp>
      <p:sp>
        <p:nvSpPr>
          <p:cNvPr id="23" name="Shape 21"/>
          <p:cNvSpPr/>
          <p:nvPr/>
        </p:nvSpPr>
        <p:spPr>
          <a:xfrm>
            <a:off x="6035040" y="3791841"/>
            <a:ext cx="1314206" cy="488133"/>
          </a:xfrm>
          <a:prstGeom prst="line">
            <a:avLst/>
          </a:prstGeom>
          <a:noFill/>
          <a:ln w="19050">
            <a:solidFill>
              <a:srgbClr val="DCE8D0"/>
            </a:solidFill>
            <a:prstDash val="solid"/>
          </a:ln>
        </p:spPr>
        <p:txBody>
          <a:bodyPr/>
          <a:lstStyle/>
          <a:p>
            <a:endParaRPr/>
          </a:p>
        </p:txBody>
      </p:sp>
      <p:sp>
        <p:nvSpPr>
          <p:cNvPr id="24" name="Text 22"/>
          <p:cNvSpPr/>
          <p:nvPr/>
        </p:nvSpPr>
        <p:spPr>
          <a:xfrm>
            <a:off x="1491639" y="5293792"/>
            <a:ext cx="9086801" cy="375487"/>
          </a:xfrm>
          <a:prstGeom prst="rect">
            <a:avLst/>
          </a:prstGeom>
          <a:noFill/>
          <a:ln/>
        </p:spPr>
        <p:txBody>
          <a:bodyPr wrap="square" lIns="0" tIns="0" rIns="0" bIns="0" rtlCol="0" anchor="ctr"/>
          <a:lstStyle/>
          <a:p>
            <a:pPr marL="0" indent="0">
              <a:buNone/>
            </a:pPr>
            <a:r>
              <a:rPr lang="en-US" sz="1100" i="1" dirty="0">
                <a:solidFill>
                  <a:srgbClr val="6E9B7C"/>
                </a:solidFill>
                <a:latin typeface="Calibri" pitchFamily="34" charset="0"/>
                <a:ea typeface="Calibri" pitchFamily="34" charset="-122"/>
                <a:cs typeface="Calibri" pitchFamily="34" charset="-120"/>
              </a:rPr>
              <a:t>Level 3 (Work Package) adalah level terkecil yang cukup detail untuk diestimasi waktu, biaya, dan sumber dayanya.</a:t>
            </a:r>
            <a:endParaRPr lang="en-US" sz="1100" dirty="0"/>
          </a:p>
        </p:txBody>
      </p:sp>
      <p:sp>
        <p:nvSpPr>
          <p:cNvPr id="25" name="TextBox 24"/>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4  •  12/22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WORK BREAKDOWN STRUCTURE</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Langkah Menyusun WBS (Top-Down Decomposition)</a:t>
            </a:r>
            <a:endParaRPr lang="en-US" sz="3200" dirty="0"/>
          </a:p>
        </p:txBody>
      </p:sp>
      <p:sp>
        <p:nvSpPr>
          <p:cNvPr id="4" name="Shape 2"/>
          <p:cNvSpPr/>
          <p:nvPr/>
        </p:nvSpPr>
        <p:spPr>
          <a:xfrm>
            <a:off x="2495973" y="4112993"/>
            <a:ext cx="1458524" cy="0"/>
          </a:xfrm>
          <a:prstGeom prst="line">
            <a:avLst/>
          </a:prstGeom>
          <a:noFill/>
          <a:ln w="31750">
            <a:solidFill>
              <a:srgbClr val="9FC41D"/>
            </a:solidFill>
            <a:prstDash val="solid"/>
            <a:tailEnd type="triangle"/>
          </a:ln>
        </p:spPr>
        <p:txBody>
          <a:bodyPr/>
          <a:lstStyle/>
          <a:p>
            <a:endParaRPr/>
          </a:p>
        </p:txBody>
      </p:sp>
      <p:sp>
        <p:nvSpPr>
          <p:cNvPr id="5" name="Shape 3"/>
          <p:cNvSpPr/>
          <p:nvPr/>
        </p:nvSpPr>
        <p:spPr>
          <a:xfrm>
            <a:off x="5155635" y="4112993"/>
            <a:ext cx="1458524" cy="0"/>
          </a:xfrm>
          <a:prstGeom prst="line">
            <a:avLst/>
          </a:prstGeom>
          <a:noFill/>
          <a:ln w="31750">
            <a:solidFill>
              <a:srgbClr val="9FC41D"/>
            </a:solidFill>
            <a:prstDash val="solid"/>
            <a:tailEnd type="triangle"/>
          </a:ln>
        </p:spPr>
        <p:txBody>
          <a:bodyPr/>
          <a:lstStyle/>
          <a:p>
            <a:endParaRPr/>
          </a:p>
        </p:txBody>
      </p:sp>
      <p:sp>
        <p:nvSpPr>
          <p:cNvPr id="6" name="Shape 4"/>
          <p:cNvSpPr/>
          <p:nvPr/>
        </p:nvSpPr>
        <p:spPr>
          <a:xfrm>
            <a:off x="7815297" y="4112993"/>
            <a:ext cx="1458524" cy="0"/>
          </a:xfrm>
          <a:prstGeom prst="line">
            <a:avLst/>
          </a:prstGeom>
          <a:noFill/>
          <a:ln w="31750">
            <a:solidFill>
              <a:srgbClr val="9FC41D"/>
            </a:solidFill>
            <a:prstDash val="solid"/>
            <a:tailEnd type="triangle"/>
          </a:ln>
        </p:spPr>
        <p:txBody>
          <a:bodyPr/>
          <a:lstStyle/>
          <a:p>
            <a:endParaRPr/>
          </a:p>
        </p:txBody>
      </p:sp>
      <p:sp>
        <p:nvSpPr>
          <p:cNvPr id="7" name="Shape 5"/>
          <p:cNvSpPr/>
          <p:nvPr/>
        </p:nvSpPr>
        <p:spPr>
          <a:xfrm>
            <a:off x="1294835" y="3512424"/>
            <a:ext cx="1201137" cy="1201137"/>
          </a:xfrm>
          <a:prstGeom prst="ellipse">
            <a:avLst/>
          </a:prstGeom>
          <a:solidFill>
            <a:srgbClr val="006633"/>
          </a:solidFill>
          <a:ln/>
        </p:spPr>
        <p:txBody>
          <a:bodyPr/>
          <a:lstStyle/>
          <a:p>
            <a:endParaRPr/>
          </a:p>
        </p:txBody>
      </p:sp>
      <p:sp>
        <p:nvSpPr>
          <p:cNvPr id="8" name="Text 6"/>
          <p:cNvSpPr/>
          <p:nvPr/>
        </p:nvSpPr>
        <p:spPr>
          <a:xfrm>
            <a:off x="1294835" y="3512424"/>
            <a:ext cx="1201137" cy="1201137"/>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9" name="Text 7"/>
          <p:cNvSpPr/>
          <p:nvPr/>
        </p:nvSpPr>
        <p:spPr>
          <a:xfrm>
            <a:off x="822960" y="4842256"/>
            <a:ext cx="2144888" cy="729262"/>
          </a:xfrm>
          <a:prstGeom prst="rect">
            <a:avLst/>
          </a:prstGeom>
          <a:noFill/>
          <a:ln/>
        </p:spPr>
        <p:txBody>
          <a:bodyPr wrap="square" lIns="0" tIns="0" rIns="0" bIns="0" rtlCol="0" anchor="ctr"/>
          <a:lstStyle/>
          <a:p>
            <a:pPr marL="0" indent="0" algn="ctr">
              <a:lnSpc>
                <a:spcPct val="110000"/>
              </a:lnSpc>
              <a:buNone/>
            </a:pPr>
            <a:r>
              <a:rPr lang="en-US" sz="1200" b="1" dirty="0">
                <a:solidFill>
                  <a:srgbClr val="006633"/>
                </a:solidFill>
                <a:latin typeface="Calibri" pitchFamily="34" charset="0"/>
                <a:ea typeface="Calibri" pitchFamily="34" charset="-122"/>
                <a:cs typeface="Calibri" pitchFamily="34" charset="-120"/>
              </a:rPr>
              <a:t>Tetapkan</a:t>
            </a:r>
            <a:endParaRPr lang="en-US" sz="1200" dirty="0"/>
          </a:p>
          <a:p>
            <a:pPr marL="0" indent="0" algn="ctr">
              <a:lnSpc>
                <a:spcPct val="110000"/>
              </a:lnSpc>
              <a:buNone/>
            </a:pPr>
            <a:r>
              <a:rPr lang="en-US" sz="1200" b="1" dirty="0">
                <a:solidFill>
                  <a:srgbClr val="006633"/>
                </a:solidFill>
                <a:latin typeface="Calibri" pitchFamily="34" charset="0"/>
                <a:ea typeface="Calibri" pitchFamily="34" charset="-122"/>
                <a:cs typeface="Calibri" pitchFamily="34" charset="-120"/>
              </a:rPr>
              <a:t>Tujuan Proyek</a:t>
            </a:r>
            <a:endParaRPr lang="en-US" sz="1200" dirty="0"/>
          </a:p>
        </p:txBody>
      </p:sp>
      <p:sp>
        <p:nvSpPr>
          <p:cNvPr id="10" name="Shape 8"/>
          <p:cNvSpPr/>
          <p:nvPr/>
        </p:nvSpPr>
        <p:spPr>
          <a:xfrm>
            <a:off x="3954497" y="3512424"/>
            <a:ext cx="1201137" cy="1201137"/>
          </a:xfrm>
          <a:prstGeom prst="ellipse">
            <a:avLst/>
          </a:prstGeom>
          <a:solidFill>
            <a:srgbClr val="006633"/>
          </a:solidFill>
          <a:ln/>
        </p:spPr>
        <p:txBody>
          <a:bodyPr/>
          <a:lstStyle/>
          <a:p>
            <a:endParaRPr/>
          </a:p>
        </p:txBody>
      </p:sp>
      <p:sp>
        <p:nvSpPr>
          <p:cNvPr id="11" name="Text 9"/>
          <p:cNvSpPr/>
          <p:nvPr/>
        </p:nvSpPr>
        <p:spPr>
          <a:xfrm>
            <a:off x="3954497" y="3512424"/>
            <a:ext cx="1201137" cy="1201137"/>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2" name="Text 10"/>
          <p:cNvSpPr/>
          <p:nvPr/>
        </p:nvSpPr>
        <p:spPr>
          <a:xfrm>
            <a:off x="3482622" y="4842256"/>
            <a:ext cx="2144888" cy="729262"/>
          </a:xfrm>
          <a:prstGeom prst="rect">
            <a:avLst/>
          </a:prstGeom>
          <a:noFill/>
          <a:ln/>
        </p:spPr>
        <p:txBody>
          <a:bodyPr wrap="square" lIns="0" tIns="0" rIns="0" bIns="0" rtlCol="0" anchor="ctr"/>
          <a:lstStyle/>
          <a:p>
            <a:pPr marL="0" indent="0" algn="ctr">
              <a:lnSpc>
                <a:spcPct val="110000"/>
              </a:lnSpc>
              <a:buNone/>
            </a:pPr>
            <a:r>
              <a:rPr lang="en-US" sz="1200" b="1" dirty="0">
                <a:solidFill>
                  <a:srgbClr val="006633"/>
                </a:solidFill>
                <a:latin typeface="Calibri" pitchFamily="34" charset="0"/>
                <a:ea typeface="Calibri" pitchFamily="34" charset="-122"/>
                <a:cs typeface="Calibri" pitchFamily="34" charset="-120"/>
              </a:rPr>
              <a:t>Identifikasi</a:t>
            </a:r>
            <a:endParaRPr lang="en-US" sz="1200" dirty="0"/>
          </a:p>
          <a:p>
            <a:pPr marL="0" indent="0" algn="ctr">
              <a:lnSpc>
                <a:spcPct val="110000"/>
              </a:lnSpc>
              <a:buNone/>
            </a:pPr>
            <a:r>
              <a:rPr lang="en-US" sz="1200" b="1" dirty="0">
                <a:solidFill>
                  <a:srgbClr val="006633"/>
                </a:solidFill>
                <a:latin typeface="Calibri" pitchFamily="34" charset="0"/>
                <a:ea typeface="Calibri" pitchFamily="34" charset="-122"/>
                <a:cs typeface="Calibri" pitchFamily="34" charset="-120"/>
              </a:rPr>
              <a:t>Deliverable Utama</a:t>
            </a:r>
            <a:endParaRPr lang="en-US" sz="1200" dirty="0"/>
          </a:p>
        </p:txBody>
      </p:sp>
      <p:sp>
        <p:nvSpPr>
          <p:cNvPr id="13" name="Shape 11"/>
          <p:cNvSpPr/>
          <p:nvPr/>
        </p:nvSpPr>
        <p:spPr>
          <a:xfrm>
            <a:off x="6614160" y="3512424"/>
            <a:ext cx="1201137" cy="1201137"/>
          </a:xfrm>
          <a:prstGeom prst="ellipse">
            <a:avLst/>
          </a:prstGeom>
          <a:solidFill>
            <a:srgbClr val="006633"/>
          </a:solidFill>
          <a:ln/>
        </p:spPr>
        <p:txBody>
          <a:bodyPr/>
          <a:lstStyle/>
          <a:p>
            <a:endParaRPr/>
          </a:p>
        </p:txBody>
      </p:sp>
      <p:sp>
        <p:nvSpPr>
          <p:cNvPr id="14" name="Text 12"/>
          <p:cNvSpPr/>
          <p:nvPr/>
        </p:nvSpPr>
        <p:spPr>
          <a:xfrm>
            <a:off x="6614160" y="3512424"/>
            <a:ext cx="1201137" cy="1201137"/>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15" name="Text 13"/>
          <p:cNvSpPr/>
          <p:nvPr/>
        </p:nvSpPr>
        <p:spPr>
          <a:xfrm>
            <a:off x="6142284" y="4842256"/>
            <a:ext cx="2144888" cy="729262"/>
          </a:xfrm>
          <a:prstGeom prst="rect">
            <a:avLst/>
          </a:prstGeom>
          <a:noFill/>
          <a:ln/>
        </p:spPr>
        <p:txBody>
          <a:bodyPr wrap="square" lIns="0" tIns="0" rIns="0" bIns="0" rtlCol="0" anchor="ctr"/>
          <a:lstStyle/>
          <a:p>
            <a:pPr marL="0" indent="0" algn="ctr">
              <a:lnSpc>
                <a:spcPct val="110000"/>
              </a:lnSpc>
              <a:buNone/>
            </a:pPr>
            <a:r>
              <a:rPr lang="en-US" sz="1200" b="1" dirty="0">
                <a:solidFill>
                  <a:srgbClr val="006633"/>
                </a:solidFill>
                <a:latin typeface="Calibri" pitchFamily="34" charset="0"/>
                <a:ea typeface="Calibri" pitchFamily="34" charset="-122"/>
                <a:cs typeface="Calibri" pitchFamily="34" charset="-120"/>
              </a:rPr>
              <a:t>Pecah Menjadi</a:t>
            </a:r>
            <a:endParaRPr lang="en-US" sz="1200" dirty="0"/>
          </a:p>
          <a:p>
            <a:pPr marL="0" indent="0" algn="ctr">
              <a:lnSpc>
                <a:spcPct val="110000"/>
              </a:lnSpc>
              <a:buNone/>
            </a:pPr>
            <a:r>
              <a:rPr lang="en-US" sz="1200" b="1" dirty="0">
                <a:solidFill>
                  <a:srgbClr val="006633"/>
                </a:solidFill>
                <a:latin typeface="Calibri" pitchFamily="34" charset="0"/>
                <a:ea typeface="Calibri" pitchFamily="34" charset="-122"/>
                <a:cs typeface="Calibri" pitchFamily="34" charset="-120"/>
              </a:rPr>
              <a:t>Sub-Deliverable</a:t>
            </a:r>
            <a:endParaRPr lang="en-US" sz="1200" dirty="0"/>
          </a:p>
        </p:txBody>
      </p:sp>
      <p:sp>
        <p:nvSpPr>
          <p:cNvPr id="16" name="Shape 14"/>
          <p:cNvSpPr/>
          <p:nvPr/>
        </p:nvSpPr>
        <p:spPr>
          <a:xfrm>
            <a:off x="9273822" y="3512424"/>
            <a:ext cx="1201137" cy="1201137"/>
          </a:xfrm>
          <a:prstGeom prst="ellipse">
            <a:avLst/>
          </a:prstGeom>
          <a:solidFill>
            <a:srgbClr val="9FC41D"/>
          </a:solidFill>
          <a:ln/>
        </p:spPr>
        <p:txBody>
          <a:bodyPr/>
          <a:lstStyle/>
          <a:p>
            <a:endParaRPr/>
          </a:p>
        </p:txBody>
      </p:sp>
      <p:sp>
        <p:nvSpPr>
          <p:cNvPr id="17" name="Text 15"/>
          <p:cNvSpPr/>
          <p:nvPr/>
        </p:nvSpPr>
        <p:spPr>
          <a:xfrm>
            <a:off x="9273822" y="3512424"/>
            <a:ext cx="1201137" cy="1201137"/>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4</a:t>
            </a:r>
            <a:endParaRPr lang="en-US" sz="2800" dirty="0"/>
          </a:p>
        </p:txBody>
      </p:sp>
      <p:sp>
        <p:nvSpPr>
          <p:cNvPr id="18" name="Text 16"/>
          <p:cNvSpPr/>
          <p:nvPr/>
        </p:nvSpPr>
        <p:spPr>
          <a:xfrm>
            <a:off x="8801946" y="4842256"/>
            <a:ext cx="2144888" cy="729262"/>
          </a:xfrm>
          <a:prstGeom prst="rect">
            <a:avLst/>
          </a:prstGeom>
          <a:noFill/>
          <a:ln/>
        </p:spPr>
        <p:txBody>
          <a:bodyPr wrap="square" lIns="0" tIns="0" rIns="0" bIns="0" rtlCol="0" anchor="ctr"/>
          <a:lstStyle/>
          <a:p>
            <a:pPr marL="0" indent="0" algn="ctr">
              <a:lnSpc>
                <a:spcPct val="110000"/>
              </a:lnSpc>
              <a:buNone/>
            </a:pPr>
            <a:r>
              <a:rPr lang="en-US" sz="1200" b="1" dirty="0">
                <a:solidFill>
                  <a:srgbClr val="006633"/>
                </a:solidFill>
                <a:latin typeface="Calibri" pitchFamily="34" charset="0"/>
                <a:ea typeface="Calibri" pitchFamily="34" charset="-122"/>
                <a:cs typeface="Calibri" pitchFamily="34" charset="-120"/>
              </a:rPr>
              <a:t>Uraikan hingga</a:t>
            </a:r>
            <a:endParaRPr lang="en-US" sz="1200" dirty="0"/>
          </a:p>
          <a:p>
            <a:pPr marL="0" indent="0" algn="ctr">
              <a:lnSpc>
                <a:spcPct val="110000"/>
              </a:lnSpc>
              <a:buNone/>
            </a:pPr>
            <a:r>
              <a:rPr lang="en-US" sz="1200" b="1" dirty="0">
                <a:solidFill>
                  <a:srgbClr val="006633"/>
                </a:solidFill>
                <a:latin typeface="Calibri" pitchFamily="34" charset="0"/>
                <a:ea typeface="Calibri" pitchFamily="34" charset="-122"/>
                <a:cs typeface="Calibri" pitchFamily="34" charset="-120"/>
              </a:rPr>
              <a:t>Work Package</a:t>
            </a:r>
            <a:endParaRPr lang="en-US" sz="1200" dirty="0"/>
          </a:p>
        </p:txBody>
      </p:sp>
      <p:sp>
        <p:nvSpPr>
          <p:cNvPr id="19" name="Text 17"/>
          <p:cNvSpPr/>
          <p:nvPr/>
        </p:nvSpPr>
        <p:spPr>
          <a:xfrm>
            <a:off x="951653" y="2139696"/>
            <a:ext cx="10295466" cy="772160"/>
          </a:xfrm>
          <a:prstGeom prst="rect">
            <a:avLst/>
          </a:prstGeom>
          <a:noFill/>
          <a:ln/>
        </p:spPr>
        <p:txBody>
          <a:bodyPr wrap="square" lIns="0" tIns="0" rIns="0" bIns="0" rtlCol="0" anchor="ctr"/>
          <a:lstStyle/>
          <a:p>
            <a:pPr marL="0" indent="0">
              <a:lnSpc>
                <a:spcPct val="125000"/>
              </a:lnSpc>
              <a:buNone/>
            </a:pPr>
            <a:r>
              <a:rPr lang="en-US" sz="1300" i="1" dirty="0">
                <a:solidFill>
                  <a:srgbClr val="1F7A34"/>
                </a:solidFill>
                <a:latin typeface="Calibri" pitchFamily="34" charset="0"/>
                <a:ea typeface="Calibri" pitchFamily="34" charset="-122"/>
                <a:cs typeface="Calibri" pitchFamily="34" charset="-120"/>
              </a:rPr>
              <a:t>Proses berhenti ketika work package sudah cukup kecil untuk diestimasi waktu, biaya, dan penanggung jawabnya secara akurat.</a:t>
            </a:r>
            <a:endParaRPr lang="en-US" sz="1300" dirty="0"/>
          </a:p>
        </p:txBody>
      </p:sp>
      <p:sp>
        <p:nvSpPr>
          <p:cNvPr id="20" name="TextBox 19"/>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4  •  13/22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WORK BREAKDOWN STRUCTURE</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Contoh WBS: Aplikasi Mobile Kampus</a:t>
            </a:r>
            <a:endParaRPr lang="en-US" sz="3000" dirty="0"/>
          </a:p>
        </p:txBody>
      </p:sp>
      <p:sp>
        <p:nvSpPr>
          <p:cNvPr id="4" name="Shape 2"/>
          <p:cNvSpPr/>
          <p:nvPr/>
        </p:nvSpPr>
        <p:spPr>
          <a:xfrm>
            <a:off x="822960" y="2139696"/>
            <a:ext cx="2445173" cy="3346026"/>
          </a:xfrm>
          <a:prstGeom prst="roundRect">
            <a:avLst>
              <a:gd name="adj" fmla="val 4211"/>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925914" y="2911856"/>
            <a:ext cx="2239264" cy="2488071"/>
          </a:xfrm>
          <a:prstGeom prst="rect">
            <a:avLst/>
          </a:prstGeom>
          <a:noFill/>
          <a:ln/>
        </p:spPr>
        <p:txBody>
          <a:bodyPr wrap="square" lIns="0" tIns="0" rIns="0" bIns="0" rtlCol="0" anchor="ctr"/>
          <a:lstStyle/>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1. Perencanaan</a:t>
            </a:r>
            <a:endParaRPr lang="en-US" sz="1100" dirty="0"/>
          </a:p>
          <a:p>
            <a:pPr marL="0" indent="0" algn="ctr">
              <a:lnSpc>
                <a:spcPct val="110000"/>
              </a:lnSpc>
              <a:buNone/>
            </a:pPr>
            <a:endParaRPr lang="en-US" sz="1100" dirty="0"/>
          </a:p>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1.1 Analisis kebutuhan</a:t>
            </a:r>
            <a:endParaRPr lang="en-US" sz="1100" dirty="0"/>
          </a:p>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1.2 Penyusunan proposal</a:t>
            </a:r>
            <a:endParaRPr lang="en-US" sz="1100" dirty="0"/>
          </a:p>
        </p:txBody>
      </p:sp>
      <p:sp>
        <p:nvSpPr>
          <p:cNvPr id="6" name="Shape 4"/>
          <p:cNvSpPr/>
          <p:nvPr/>
        </p:nvSpPr>
        <p:spPr>
          <a:xfrm>
            <a:off x="3482622" y="2139696"/>
            <a:ext cx="2445173" cy="3346026"/>
          </a:xfrm>
          <a:prstGeom prst="roundRect">
            <a:avLst>
              <a:gd name="adj" fmla="val 4211"/>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7" name="Text 5"/>
          <p:cNvSpPr/>
          <p:nvPr/>
        </p:nvSpPr>
        <p:spPr>
          <a:xfrm>
            <a:off x="3585576" y="2911856"/>
            <a:ext cx="2239264" cy="2488071"/>
          </a:xfrm>
          <a:prstGeom prst="rect">
            <a:avLst/>
          </a:prstGeom>
          <a:noFill/>
          <a:ln/>
        </p:spPr>
        <p:txBody>
          <a:bodyPr wrap="square" lIns="0" tIns="0" rIns="0" bIns="0" rtlCol="0" anchor="ctr"/>
          <a:lstStyle/>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2. Desain</a:t>
            </a:r>
            <a:endParaRPr lang="en-US" sz="1100" dirty="0"/>
          </a:p>
          <a:p>
            <a:pPr marL="0" indent="0" algn="ctr">
              <a:lnSpc>
                <a:spcPct val="110000"/>
              </a:lnSpc>
              <a:buNone/>
            </a:pPr>
            <a:endParaRPr lang="en-US" sz="1100" dirty="0"/>
          </a:p>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2.1 Desain UI/UX</a:t>
            </a:r>
            <a:endParaRPr lang="en-US" sz="1100" dirty="0"/>
          </a:p>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2.2 Desain database</a:t>
            </a:r>
            <a:endParaRPr lang="en-US" sz="1100" dirty="0"/>
          </a:p>
        </p:txBody>
      </p:sp>
      <p:sp>
        <p:nvSpPr>
          <p:cNvPr id="8" name="Shape 6"/>
          <p:cNvSpPr/>
          <p:nvPr/>
        </p:nvSpPr>
        <p:spPr>
          <a:xfrm>
            <a:off x="6142284" y="2139696"/>
            <a:ext cx="2445173" cy="3346026"/>
          </a:xfrm>
          <a:prstGeom prst="roundRect">
            <a:avLst>
              <a:gd name="adj" fmla="val 4211"/>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9" name="Text 7"/>
          <p:cNvSpPr/>
          <p:nvPr/>
        </p:nvSpPr>
        <p:spPr>
          <a:xfrm>
            <a:off x="6245239" y="2911856"/>
            <a:ext cx="2239264" cy="2488071"/>
          </a:xfrm>
          <a:prstGeom prst="rect">
            <a:avLst/>
          </a:prstGeom>
          <a:noFill/>
          <a:ln/>
        </p:spPr>
        <p:txBody>
          <a:bodyPr wrap="square" lIns="0" tIns="0" rIns="0" bIns="0" rtlCol="0" anchor="ctr"/>
          <a:lstStyle/>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3. Pengembangan</a:t>
            </a:r>
            <a:endParaRPr lang="en-US" sz="1100" dirty="0"/>
          </a:p>
          <a:p>
            <a:pPr marL="0" indent="0" algn="ctr">
              <a:lnSpc>
                <a:spcPct val="110000"/>
              </a:lnSpc>
              <a:buNone/>
            </a:pPr>
            <a:endParaRPr lang="en-US" sz="1100" dirty="0"/>
          </a:p>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3.1 Modul login &amp; profil</a:t>
            </a:r>
            <a:endParaRPr lang="en-US" sz="1100" dirty="0"/>
          </a:p>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3.2 Modul akademik</a:t>
            </a:r>
            <a:endParaRPr lang="en-US" sz="1100" dirty="0"/>
          </a:p>
        </p:txBody>
      </p:sp>
      <p:sp>
        <p:nvSpPr>
          <p:cNvPr id="10" name="Shape 8"/>
          <p:cNvSpPr/>
          <p:nvPr/>
        </p:nvSpPr>
        <p:spPr>
          <a:xfrm>
            <a:off x="8801946" y="2139696"/>
            <a:ext cx="2445173" cy="3346026"/>
          </a:xfrm>
          <a:prstGeom prst="roundRect">
            <a:avLst>
              <a:gd name="adj" fmla="val 4211"/>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1" name="Text 9"/>
          <p:cNvSpPr/>
          <p:nvPr/>
        </p:nvSpPr>
        <p:spPr>
          <a:xfrm>
            <a:off x="8904901" y="2911856"/>
            <a:ext cx="2239264" cy="2488071"/>
          </a:xfrm>
          <a:prstGeom prst="rect">
            <a:avLst/>
          </a:prstGeom>
          <a:noFill/>
          <a:ln/>
        </p:spPr>
        <p:txBody>
          <a:bodyPr wrap="square" lIns="0" tIns="0" rIns="0" bIns="0" rtlCol="0" anchor="ctr"/>
          <a:lstStyle/>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4. Pengujian &amp; Rilis</a:t>
            </a:r>
            <a:endParaRPr lang="en-US" sz="1100" dirty="0"/>
          </a:p>
          <a:p>
            <a:pPr marL="0" indent="0" algn="ctr">
              <a:lnSpc>
                <a:spcPct val="110000"/>
              </a:lnSpc>
              <a:buNone/>
            </a:pPr>
            <a:endParaRPr lang="en-US" sz="1100" dirty="0"/>
          </a:p>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4.1 Uji fungsional</a:t>
            </a:r>
            <a:endParaRPr lang="en-US" sz="1100" dirty="0"/>
          </a:p>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4.2 Peluncuran aplikasi</a:t>
            </a:r>
            <a:endParaRPr lang="en-US" sz="1100" dirty="0"/>
          </a:p>
        </p:txBody>
      </p:sp>
      <p:sp>
        <p:nvSpPr>
          <p:cNvPr id="12" name="TextBox 11"/>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4  •  14/22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WORK BREAKDOWN STRUCTURE</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WBS Dictionary: Melengkapi Setiap Elemen WBS</a:t>
            </a:r>
            <a:endParaRPr lang="en-US" sz="3200" dirty="0"/>
          </a:p>
        </p:txBody>
      </p:sp>
      <p:sp>
        <p:nvSpPr>
          <p:cNvPr id="4" name="Shape 2"/>
          <p:cNvSpPr/>
          <p:nvPr/>
        </p:nvSpPr>
        <p:spPr>
          <a:xfrm>
            <a:off x="950758" y="2139696"/>
            <a:ext cx="10168563" cy="1176528"/>
          </a:xfrm>
          <a:prstGeom prst="roundRect">
            <a:avLst>
              <a:gd name="adj" fmla="val 8571"/>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1286909" y="2307771"/>
            <a:ext cx="9496261" cy="840377"/>
          </a:xfrm>
          <a:prstGeom prst="rect">
            <a:avLst/>
          </a:prstGeom>
          <a:noFill/>
          <a:ln/>
        </p:spPr>
        <p:txBody>
          <a:bodyPr wrap="square" lIns="0" tIns="0" rIns="0" bIns="0" rtlCol="0" anchor="ctr"/>
          <a:lstStyle/>
          <a:p>
            <a:pPr marL="0" indent="0">
              <a:lnSpc>
                <a:spcPct val="130000"/>
              </a:lnSpc>
              <a:buNone/>
            </a:pPr>
            <a:r>
              <a:rPr lang="en-US" sz="1500" i="1" dirty="0">
                <a:solidFill>
                  <a:srgbClr val="FFFFFF"/>
                </a:solidFill>
                <a:latin typeface="Cambria" pitchFamily="34" charset="0"/>
                <a:ea typeface="Cambria" pitchFamily="34" charset="-122"/>
                <a:cs typeface="Cambria" pitchFamily="34" charset="-120"/>
              </a:rPr>
              <a:t>Dokumen pendukung yang menjelaskan detail setiap elemen WBS — bukan hanya nama pekerjaan, tapi juga rincian pelaksanaannya.</a:t>
            </a:r>
            <a:endParaRPr lang="en-US" sz="1500" dirty="0"/>
          </a:p>
        </p:txBody>
      </p:sp>
      <p:sp>
        <p:nvSpPr>
          <p:cNvPr id="6" name="Text 4"/>
          <p:cNvSpPr/>
          <p:nvPr/>
        </p:nvSpPr>
        <p:spPr>
          <a:xfrm>
            <a:off x="950758" y="3568337"/>
            <a:ext cx="9748374" cy="2100942"/>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400" dirty="0">
                <a:solidFill>
                  <a:srgbClr val="1F7A34"/>
                </a:solidFill>
                <a:latin typeface="Calibri" pitchFamily="34" charset="0"/>
                <a:ea typeface="Calibri" pitchFamily="34" charset="-122"/>
                <a:cs typeface="Calibri" pitchFamily="34" charset="-120"/>
              </a:rPr>
              <a:t>Deskripsi pekerjaan dan kriteria penerimaan (acceptance criteria)</a:t>
            </a:r>
            <a:endParaRPr lang="en-US" sz="1400" dirty="0"/>
          </a:p>
          <a:p>
            <a:pPr marL="228600" indent="-228600">
              <a:lnSpc>
                <a:spcPct val="115000"/>
              </a:lnSpc>
              <a:spcAft>
                <a:spcPts val="1200"/>
              </a:spcAft>
              <a:buSzPct val="100000"/>
              <a:buChar char="▪"/>
            </a:pPr>
            <a:r>
              <a:rPr lang="en-US" sz="1400" dirty="0">
                <a:solidFill>
                  <a:srgbClr val="1F7A34"/>
                </a:solidFill>
                <a:latin typeface="Calibri" pitchFamily="34" charset="0"/>
                <a:ea typeface="Calibri" pitchFamily="34" charset="-122"/>
                <a:cs typeface="Calibri" pitchFamily="34" charset="-120"/>
              </a:rPr>
              <a:t>Estimasi durasi, biaya, dan sumber daya yang dibutuhkan</a:t>
            </a:r>
            <a:endParaRPr lang="en-US" sz="1400" dirty="0"/>
          </a:p>
          <a:p>
            <a:pPr marL="228600" indent="-228600">
              <a:lnSpc>
                <a:spcPct val="115000"/>
              </a:lnSpc>
              <a:spcAft>
                <a:spcPts val="1200"/>
              </a:spcAft>
              <a:buSzPct val="100000"/>
              <a:buChar char="▪"/>
            </a:pPr>
            <a:r>
              <a:rPr lang="en-US" sz="1400" dirty="0">
                <a:solidFill>
                  <a:srgbClr val="1F7A34"/>
                </a:solidFill>
                <a:latin typeface="Calibri" pitchFamily="34" charset="0"/>
                <a:ea typeface="Calibri" pitchFamily="34" charset="-122"/>
                <a:cs typeface="Calibri" pitchFamily="34" charset="-120"/>
              </a:rPr>
              <a:t>Penanggung jawab (person in charge) untuk setiap work package</a:t>
            </a:r>
            <a:endParaRPr lang="en-US" sz="1400" dirty="0"/>
          </a:p>
          <a:p>
            <a:pPr marL="228600" indent="-228600">
              <a:lnSpc>
                <a:spcPct val="115000"/>
              </a:lnSpc>
              <a:spcAft>
                <a:spcPts val="1200"/>
              </a:spcAft>
              <a:buSzPct val="100000"/>
              <a:buChar char="▪"/>
            </a:pPr>
            <a:r>
              <a:rPr lang="en-US" sz="1400" dirty="0">
                <a:solidFill>
                  <a:srgbClr val="1F7A34"/>
                </a:solidFill>
                <a:latin typeface="Calibri" pitchFamily="34" charset="0"/>
                <a:ea typeface="Calibri" pitchFamily="34" charset="-122"/>
                <a:cs typeface="Calibri" pitchFamily="34" charset="-120"/>
              </a:rPr>
              <a:t>Dependensi terhadap elemen WBS lainnya</a:t>
            </a:r>
            <a:endParaRPr lang="en-US" sz="1400" dirty="0"/>
          </a:p>
        </p:txBody>
      </p:sp>
      <p:sp>
        <p:nvSpPr>
          <p:cNvPr id="7" name="TextBox 6"/>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4  •  15/22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STUDI KASUS</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Sistem Reservasi Ruang Kelas Online</a:t>
            </a:r>
            <a:endParaRPr lang="en-US" sz="3200" dirty="0"/>
          </a:p>
        </p:txBody>
      </p:sp>
      <p:sp>
        <p:nvSpPr>
          <p:cNvPr id="4" name="Shape 2"/>
          <p:cNvSpPr/>
          <p:nvPr/>
        </p:nvSpPr>
        <p:spPr>
          <a:xfrm>
            <a:off x="822960" y="2139696"/>
            <a:ext cx="10424160" cy="2584502"/>
          </a:xfrm>
          <a:prstGeom prst="roundRect">
            <a:avLst>
              <a:gd name="adj" fmla="val 4000"/>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1167560" y="2355071"/>
            <a:ext cx="3446003" cy="258450"/>
          </a:xfrm>
          <a:prstGeom prst="rect">
            <a:avLst/>
          </a:prstGeom>
          <a:noFill/>
          <a:ln/>
        </p:spPr>
        <p:txBody>
          <a:bodyPr wrap="square" lIns="0" tIns="0" rIns="0" bIns="0" rtlCol="0" anchor="ctr"/>
          <a:lstStyle/>
          <a:p>
            <a:pPr marL="0" indent="0">
              <a:buNone/>
            </a:pPr>
            <a:r>
              <a:rPr lang="en-US" sz="1000" b="1" kern="0" spc="100" dirty="0">
                <a:solidFill>
                  <a:srgbClr val="9FC41D"/>
                </a:solidFill>
                <a:latin typeface="Calibri" pitchFamily="34" charset="0"/>
                <a:ea typeface="Calibri" pitchFamily="34" charset="-122"/>
                <a:cs typeface="Calibri" pitchFamily="34" charset="-120"/>
              </a:rPr>
              <a:t>STUDI KASUS</a:t>
            </a:r>
            <a:endParaRPr lang="en-US" sz="1000" dirty="0"/>
          </a:p>
        </p:txBody>
      </p:sp>
      <p:sp>
        <p:nvSpPr>
          <p:cNvPr id="6" name="Text 4"/>
          <p:cNvSpPr/>
          <p:nvPr/>
        </p:nvSpPr>
        <p:spPr>
          <a:xfrm>
            <a:off x="1167560" y="2699671"/>
            <a:ext cx="9734959" cy="1895301"/>
          </a:xfrm>
          <a:prstGeom prst="rect">
            <a:avLst/>
          </a:prstGeom>
          <a:noFill/>
          <a:ln/>
        </p:spPr>
        <p:txBody>
          <a:bodyPr wrap="square" lIns="0" tIns="0" rIns="0" bIns="0" rtlCol="0" anchor="ctr"/>
          <a:lstStyle/>
          <a:p>
            <a:pPr marL="0" indent="0">
              <a:lnSpc>
                <a:spcPct val="135000"/>
              </a:lnSpc>
              <a:buNone/>
            </a:pPr>
            <a:r>
              <a:rPr lang="en-US" sz="1500" dirty="0">
                <a:solidFill>
                  <a:srgbClr val="FFFFFF"/>
                </a:solidFill>
                <a:latin typeface="Calibri" pitchFamily="34" charset="0"/>
                <a:ea typeface="Calibri" pitchFamily="34" charset="-122"/>
                <a:cs typeface="Calibri" pitchFamily="34" charset="-120"/>
              </a:rPr>
              <a:t>Fakultas ingin membangun sistem reservasi ruang kelas online agar dosen dan mahasiswa dapat memesan ruang untuk kegiatan tambahan di luar jadwal reguler. Sistem harus terintegrasi dengan data jadwal kuliah yang sudah ada dan menyediakan notifikasi persetujuan dari petugas ruangan.</a:t>
            </a:r>
            <a:endParaRPr lang="en-US" sz="1500" dirty="0"/>
          </a:p>
          <a:p>
            <a:pPr marL="0" indent="0">
              <a:lnSpc>
                <a:spcPct val="135000"/>
              </a:lnSpc>
              <a:buNone/>
            </a:pPr>
            <a:endParaRPr lang="en-US" sz="1500" dirty="0"/>
          </a:p>
          <a:p>
            <a:pPr marL="0" indent="0">
              <a:lnSpc>
                <a:spcPct val="135000"/>
              </a:lnSpc>
              <a:buNone/>
            </a:pPr>
            <a:r>
              <a:rPr lang="en-US" sz="1500" dirty="0">
                <a:solidFill>
                  <a:srgbClr val="FFFFFF"/>
                </a:solidFill>
                <a:latin typeface="Calibri" pitchFamily="34" charset="0"/>
                <a:ea typeface="Calibri" pitchFamily="34" charset="-122"/>
                <a:cs typeface="Calibri" pitchFamily="34" charset="-120"/>
              </a:rPr>
              <a:t>Tentukan ruang lingkup proyek ini dan susun WBS hingga level work package.</a:t>
            </a:r>
            <a:endParaRPr lang="en-US" sz="1500" dirty="0"/>
          </a:p>
        </p:txBody>
      </p:sp>
      <p:sp>
        <p:nvSpPr>
          <p:cNvPr id="7" name="TextBox 6"/>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4  •  16/22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STUDI KASUS</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Diskusi: Susun WBS untuk Studi Kasus</a:t>
            </a:r>
            <a:endParaRPr lang="en-US" sz="3200" dirty="0"/>
          </a:p>
        </p:txBody>
      </p:sp>
      <p:sp>
        <p:nvSpPr>
          <p:cNvPr id="4" name="Shape 2"/>
          <p:cNvSpPr/>
          <p:nvPr/>
        </p:nvSpPr>
        <p:spPr>
          <a:xfrm>
            <a:off x="822960" y="2139696"/>
            <a:ext cx="10424160" cy="2326052"/>
          </a:xfrm>
          <a:prstGeom prst="roundRect">
            <a:avLst>
              <a:gd name="adj" fmla="val 4444"/>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1167560" y="2398146"/>
            <a:ext cx="9734959" cy="1723001"/>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400" dirty="0">
                <a:solidFill>
                  <a:srgbClr val="1F7A34"/>
                </a:solidFill>
                <a:latin typeface="Calibri" pitchFamily="34" charset="0"/>
                <a:ea typeface="Calibri" pitchFamily="34" charset="-122"/>
                <a:cs typeface="Calibri" pitchFamily="34" charset="-120"/>
              </a:rPr>
              <a:t>Tentukan minimal 3 deliverable utama (Level 2) untuk proyek ini</a:t>
            </a:r>
            <a:endParaRPr lang="en-US" sz="1400" dirty="0"/>
          </a:p>
          <a:p>
            <a:pPr marL="228600" indent="-228600">
              <a:lnSpc>
                <a:spcPct val="115000"/>
              </a:lnSpc>
              <a:spcAft>
                <a:spcPts val="1400"/>
              </a:spcAft>
              <a:buSzPct val="100000"/>
              <a:buChar char="▪"/>
            </a:pPr>
            <a:r>
              <a:rPr lang="en-US" sz="1400" dirty="0">
                <a:solidFill>
                  <a:srgbClr val="1F7A34"/>
                </a:solidFill>
                <a:latin typeface="Calibri" pitchFamily="34" charset="0"/>
                <a:ea typeface="Calibri" pitchFamily="34" charset="-122"/>
                <a:cs typeface="Calibri" pitchFamily="34" charset="-120"/>
              </a:rPr>
              <a:t>Uraikan masing-masing deliverable menjadi work package (Level 3)</a:t>
            </a:r>
            <a:endParaRPr lang="en-US" sz="1400" dirty="0"/>
          </a:p>
          <a:p>
            <a:pPr marL="228600" indent="-228600">
              <a:lnSpc>
                <a:spcPct val="115000"/>
              </a:lnSpc>
              <a:spcAft>
                <a:spcPts val="1400"/>
              </a:spcAft>
              <a:buSzPct val="100000"/>
              <a:buChar char="▪"/>
            </a:pPr>
            <a:r>
              <a:rPr lang="en-US" sz="1400" dirty="0">
                <a:solidFill>
                  <a:srgbClr val="1F7A34"/>
                </a:solidFill>
                <a:latin typeface="Calibri" pitchFamily="34" charset="0"/>
                <a:ea typeface="Calibri" pitchFamily="34" charset="-122"/>
                <a:cs typeface="Calibri" pitchFamily="34" charset="-120"/>
              </a:rPr>
              <a:t>Diskusikan: bagian mana yang berpotensi menimbulkan scope creep?</a:t>
            </a:r>
            <a:endParaRPr lang="en-US" sz="1400" dirty="0"/>
          </a:p>
        </p:txBody>
      </p:sp>
      <p:sp>
        <p:nvSpPr>
          <p:cNvPr id="6" name="Text 4"/>
          <p:cNvSpPr/>
          <p:nvPr/>
        </p:nvSpPr>
        <p:spPr>
          <a:xfrm>
            <a:off x="822960" y="4638048"/>
            <a:ext cx="10424160" cy="344600"/>
          </a:xfrm>
          <a:prstGeom prst="rect">
            <a:avLst/>
          </a:prstGeom>
          <a:noFill/>
          <a:ln/>
        </p:spPr>
        <p:txBody>
          <a:bodyPr wrap="square" lIns="0" tIns="0" rIns="0" bIns="0" rtlCol="0" anchor="ctr"/>
          <a:lstStyle/>
          <a:p>
            <a:pPr marL="0" indent="0">
              <a:buNone/>
            </a:pPr>
            <a:r>
              <a:rPr lang="en-US" sz="1200" i="1" dirty="0">
                <a:solidFill>
                  <a:srgbClr val="6E9B7C"/>
                </a:solidFill>
                <a:latin typeface="Calibri" pitchFamily="34" charset="0"/>
                <a:ea typeface="Calibri" pitchFamily="34" charset="-122"/>
                <a:cs typeface="Calibri" pitchFamily="34" charset="-120"/>
              </a:rPr>
              <a:t>Diskusikan dalam kelompok kecil (±5 menit), lalu sampaikan hasilnya secara singkat</a:t>
            </a:r>
            <a:endParaRPr lang="en-US" sz="1200" dirty="0"/>
          </a:p>
        </p:txBody>
      </p:sp>
      <p:sp>
        <p:nvSpPr>
          <p:cNvPr id="7" name="TextBox 6"/>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4  •  17/22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RANGKUMAN</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Poin-Poin Penting</a:t>
            </a:r>
            <a:endParaRPr lang="en-US" sz="3200" dirty="0"/>
          </a:p>
        </p:txBody>
      </p:sp>
      <p:sp>
        <p:nvSpPr>
          <p:cNvPr id="4" name="Shape 2"/>
          <p:cNvSpPr/>
          <p:nvPr/>
        </p:nvSpPr>
        <p:spPr>
          <a:xfrm>
            <a:off x="822960" y="2182771"/>
            <a:ext cx="516900" cy="516900"/>
          </a:xfrm>
          <a:prstGeom prst="ellipse">
            <a:avLst/>
          </a:prstGeom>
          <a:solidFill>
            <a:srgbClr val="9FC41D"/>
          </a:solidFill>
          <a:ln/>
        </p:spPr>
        <p:txBody>
          <a:bodyPr/>
          <a:lstStyle/>
          <a:p>
            <a:endParaRPr/>
          </a:p>
        </p:txBody>
      </p:sp>
      <p:sp>
        <p:nvSpPr>
          <p:cNvPr id="5" name="Text 3"/>
          <p:cNvSpPr/>
          <p:nvPr/>
        </p:nvSpPr>
        <p:spPr>
          <a:xfrm>
            <a:off x="822960" y="2182771"/>
            <a:ext cx="516900" cy="51690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a:t>
            </a:r>
            <a:endParaRPr lang="en-US" sz="2100" dirty="0"/>
          </a:p>
        </p:txBody>
      </p:sp>
      <p:sp>
        <p:nvSpPr>
          <p:cNvPr id="6" name="Shape 4"/>
          <p:cNvSpPr/>
          <p:nvPr/>
        </p:nvSpPr>
        <p:spPr>
          <a:xfrm>
            <a:off x="1512160" y="2139696"/>
            <a:ext cx="9734959" cy="732275"/>
          </a:xfrm>
          <a:prstGeom prst="roundRect">
            <a:avLst>
              <a:gd name="adj" fmla="val 14118"/>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7" name="Text 5"/>
          <p:cNvSpPr/>
          <p:nvPr/>
        </p:nvSpPr>
        <p:spPr>
          <a:xfrm>
            <a:off x="1770610" y="2139696"/>
            <a:ext cx="9304208" cy="732275"/>
          </a:xfrm>
          <a:prstGeom prst="rect">
            <a:avLst/>
          </a:prstGeom>
          <a:noFill/>
          <a:ln/>
        </p:spPr>
        <p:txBody>
          <a:bodyPr wrap="square" lIns="0" tIns="0" rIns="0" bIns="0" rtlCol="0" anchor="ctr"/>
          <a:lstStyle/>
          <a:p>
            <a:pPr marL="0" indent="0">
              <a:lnSpc>
                <a:spcPct val="115000"/>
              </a:lnSpc>
              <a:buNone/>
            </a:pPr>
            <a:r>
              <a:rPr lang="en-US" sz="1300" dirty="0">
                <a:solidFill>
                  <a:srgbClr val="1F7A34"/>
                </a:solidFill>
                <a:latin typeface="Calibri" pitchFamily="34" charset="0"/>
                <a:ea typeface="Calibri" pitchFamily="34" charset="-122"/>
                <a:cs typeface="Calibri" pitchFamily="34" charset="-120"/>
              </a:rPr>
              <a:t>Ruang lingkup proyek mendefinisikan batas pekerjaan — apa yang termasuk dan tidak termasuk dalam proyek</a:t>
            </a:r>
            <a:endParaRPr lang="en-US" sz="1300" dirty="0"/>
          </a:p>
        </p:txBody>
      </p:sp>
      <p:sp>
        <p:nvSpPr>
          <p:cNvPr id="8" name="Shape 6"/>
          <p:cNvSpPr/>
          <p:nvPr/>
        </p:nvSpPr>
        <p:spPr>
          <a:xfrm>
            <a:off x="822960" y="3061501"/>
            <a:ext cx="516900" cy="516900"/>
          </a:xfrm>
          <a:prstGeom prst="ellipse">
            <a:avLst/>
          </a:prstGeom>
          <a:solidFill>
            <a:srgbClr val="9FC41D"/>
          </a:solidFill>
          <a:ln/>
        </p:spPr>
        <p:txBody>
          <a:bodyPr/>
          <a:lstStyle/>
          <a:p>
            <a:endParaRPr/>
          </a:p>
        </p:txBody>
      </p:sp>
      <p:sp>
        <p:nvSpPr>
          <p:cNvPr id="9" name="Text 7"/>
          <p:cNvSpPr/>
          <p:nvPr/>
        </p:nvSpPr>
        <p:spPr>
          <a:xfrm>
            <a:off x="822960" y="3061501"/>
            <a:ext cx="516900" cy="51690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a:t>
            </a:r>
            <a:endParaRPr lang="en-US" sz="2100" dirty="0"/>
          </a:p>
        </p:txBody>
      </p:sp>
      <p:sp>
        <p:nvSpPr>
          <p:cNvPr id="10" name="Shape 8"/>
          <p:cNvSpPr/>
          <p:nvPr/>
        </p:nvSpPr>
        <p:spPr>
          <a:xfrm>
            <a:off x="1512160" y="3018426"/>
            <a:ext cx="9734959" cy="732275"/>
          </a:xfrm>
          <a:prstGeom prst="roundRect">
            <a:avLst>
              <a:gd name="adj" fmla="val 14118"/>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1" name="Text 9"/>
          <p:cNvSpPr/>
          <p:nvPr/>
        </p:nvSpPr>
        <p:spPr>
          <a:xfrm>
            <a:off x="1770610" y="3018426"/>
            <a:ext cx="9304208" cy="732275"/>
          </a:xfrm>
          <a:prstGeom prst="rect">
            <a:avLst/>
          </a:prstGeom>
          <a:noFill/>
          <a:ln/>
        </p:spPr>
        <p:txBody>
          <a:bodyPr wrap="square" lIns="0" tIns="0" rIns="0" bIns="0" rtlCol="0" anchor="ctr"/>
          <a:lstStyle/>
          <a:p>
            <a:pPr marL="0" indent="0">
              <a:lnSpc>
                <a:spcPct val="115000"/>
              </a:lnSpc>
              <a:buNone/>
            </a:pPr>
            <a:r>
              <a:rPr lang="en-US" sz="1300" dirty="0">
                <a:solidFill>
                  <a:srgbClr val="1F7A34"/>
                </a:solidFill>
                <a:latin typeface="Calibri" pitchFamily="34" charset="0"/>
                <a:ea typeface="Calibri" pitchFamily="34" charset="-122"/>
                <a:cs typeface="Calibri" pitchFamily="34" charset="-120"/>
              </a:rPr>
              <a:t>Scope creep dapat dicegah dengan definisi ruang lingkup yang jelas dan proses change control yang formal</a:t>
            </a:r>
            <a:endParaRPr lang="en-US" sz="1300" dirty="0"/>
          </a:p>
        </p:txBody>
      </p:sp>
      <p:sp>
        <p:nvSpPr>
          <p:cNvPr id="12" name="Shape 10"/>
          <p:cNvSpPr/>
          <p:nvPr/>
        </p:nvSpPr>
        <p:spPr>
          <a:xfrm>
            <a:off x="822960" y="3940232"/>
            <a:ext cx="516900" cy="516900"/>
          </a:xfrm>
          <a:prstGeom prst="ellipse">
            <a:avLst/>
          </a:prstGeom>
          <a:solidFill>
            <a:srgbClr val="9FC41D"/>
          </a:solidFill>
          <a:ln/>
        </p:spPr>
        <p:txBody>
          <a:bodyPr/>
          <a:lstStyle/>
          <a:p>
            <a:endParaRPr/>
          </a:p>
        </p:txBody>
      </p:sp>
      <p:sp>
        <p:nvSpPr>
          <p:cNvPr id="13" name="Text 11"/>
          <p:cNvSpPr/>
          <p:nvPr/>
        </p:nvSpPr>
        <p:spPr>
          <a:xfrm>
            <a:off x="822960" y="3940232"/>
            <a:ext cx="516900" cy="51690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a:t>
            </a:r>
            <a:endParaRPr lang="en-US" sz="2100" dirty="0"/>
          </a:p>
        </p:txBody>
      </p:sp>
      <p:sp>
        <p:nvSpPr>
          <p:cNvPr id="14" name="Shape 12"/>
          <p:cNvSpPr/>
          <p:nvPr/>
        </p:nvSpPr>
        <p:spPr>
          <a:xfrm>
            <a:off x="1512160" y="3897157"/>
            <a:ext cx="9734959" cy="732275"/>
          </a:xfrm>
          <a:prstGeom prst="roundRect">
            <a:avLst>
              <a:gd name="adj" fmla="val 14118"/>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5" name="Text 13"/>
          <p:cNvSpPr/>
          <p:nvPr/>
        </p:nvSpPr>
        <p:spPr>
          <a:xfrm>
            <a:off x="1770610" y="3897157"/>
            <a:ext cx="9304208" cy="732275"/>
          </a:xfrm>
          <a:prstGeom prst="rect">
            <a:avLst/>
          </a:prstGeom>
          <a:noFill/>
          <a:ln/>
        </p:spPr>
        <p:txBody>
          <a:bodyPr wrap="square" lIns="0" tIns="0" rIns="0" bIns="0" rtlCol="0" anchor="ctr"/>
          <a:lstStyle/>
          <a:p>
            <a:pPr marL="0" indent="0">
              <a:lnSpc>
                <a:spcPct val="115000"/>
              </a:lnSpc>
              <a:buNone/>
            </a:pPr>
            <a:r>
              <a:rPr lang="en-US" sz="1300" dirty="0">
                <a:solidFill>
                  <a:srgbClr val="1F7A34"/>
                </a:solidFill>
                <a:latin typeface="Calibri" pitchFamily="34" charset="0"/>
                <a:ea typeface="Calibri" pitchFamily="34" charset="-122"/>
                <a:cs typeface="Calibri" pitchFamily="34" charset="-120"/>
              </a:rPr>
              <a:t>WBS memecah proyek menjadi work package yang terkelola melalui dekomposisi top-down</a:t>
            </a:r>
            <a:endParaRPr lang="en-US" sz="1300" dirty="0"/>
          </a:p>
        </p:txBody>
      </p:sp>
      <p:sp>
        <p:nvSpPr>
          <p:cNvPr id="16" name="Shape 14"/>
          <p:cNvSpPr/>
          <p:nvPr/>
        </p:nvSpPr>
        <p:spPr>
          <a:xfrm>
            <a:off x="822960" y="4818963"/>
            <a:ext cx="516900" cy="516900"/>
          </a:xfrm>
          <a:prstGeom prst="ellipse">
            <a:avLst/>
          </a:prstGeom>
          <a:solidFill>
            <a:srgbClr val="9FC41D"/>
          </a:solidFill>
          <a:ln/>
        </p:spPr>
        <p:txBody>
          <a:bodyPr/>
          <a:lstStyle/>
          <a:p>
            <a:endParaRPr/>
          </a:p>
        </p:txBody>
      </p:sp>
      <p:sp>
        <p:nvSpPr>
          <p:cNvPr id="17" name="Text 15"/>
          <p:cNvSpPr/>
          <p:nvPr/>
        </p:nvSpPr>
        <p:spPr>
          <a:xfrm>
            <a:off x="822960" y="4818963"/>
            <a:ext cx="516900" cy="51690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a:t>
            </a:r>
            <a:endParaRPr lang="en-US" sz="2100" dirty="0"/>
          </a:p>
        </p:txBody>
      </p:sp>
      <p:sp>
        <p:nvSpPr>
          <p:cNvPr id="18" name="Shape 16"/>
          <p:cNvSpPr/>
          <p:nvPr/>
        </p:nvSpPr>
        <p:spPr>
          <a:xfrm>
            <a:off x="1512160" y="4775888"/>
            <a:ext cx="9734959" cy="732275"/>
          </a:xfrm>
          <a:prstGeom prst="roundRect">
            <a:avLst>
              <a:gd name="adj" fmla="val 14118"/>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9" name="Text 17"/>
          <p:cNvSpPr/>
          <p:nvPr/>
        </p:nvSpPr>
        <p:spPr>
          <a:xfrm>
            <a:off x="1770610" y="4775888"/>
            <a:ext cx="9304208" cy="732275"/>
          </a:xfrm>
          <a:prstGeom prst="rect">
            <a:avLst/>
          </a:prstGeom>
          <a:noFill/>
          <a:ln/>
        </p:spPr>
        <p:txBody>
          <a:bodyPr wrap="square" lIns="0" tIns="0" rIns="0" bIns="0" rtlCol="0" anchor="ctr"/>
          <a:lstStyle/>
          <a:p>
            <a:pPr marL="0" indent="0">
              <a:lnSpc>
                <a:spcPct val="115000"/>
              </a:lnSpc>
              <a:buNone/>
            </a:pPr>
            <a:r>
              <a:rPr lang="en-US" sz="1300" dirty="0">
                <a:solidFill>
                  <a:srgbClr val="1F7A34"/>
                </a:solidFill>
                <a:latin typeface="Calibri" pitchFamily="34" charset="0"/>
                <a:ea typeface="Calibri" pitchFamily="34" charset="-122"/>
                <a:cs typeface="Calibri" pitchFamily="34" charset="-120"/>
              </a:rPr>
              <a:t>WBS yang baik memenuhi 100% Rule dan berorientasi pada deliverable</a:t>
            </a:r>
            <a:endParaRPr lang="en-US" sz="1300" dirty="0"/>
          </a:p>
        </p:txBody>
      </p:sp>
      <p:sp>
        <p:nvSpPr>
          <p:cNvPr id="20" name="TextBox 19"/>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4  •  18/22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SESI PERKULIAHAN</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Rencana Kegiatan Pertemuan Ini</a:t>
            </a:r>
            <a:endParaRPr lang="en-US" sz="3200" dirty="0"/>
          </a:p>
        </p:txBody>
      </p:sp>
      <p:sp>
        <p:nvSpPr>
          <p:cNvPr id="4" name="Shape 2"/>
          <p:cNvSpPr/>
          <p:nvPr/>
        </p:nvSpPr>
        <p:spPr>
          <a:xfrm>
            <a:off x="1677084" y="2139696"/>
            <a:ext cx="8715911" cy="1080484"/>
          </a:xfrm>
          <a:prstGeom prst="roundRect">
            <a:avLst>
              <a:gd name="adj" fmla="val 8000"/>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Shape 3"/>
          <p:cNvSpPr/>
          <p:nvPr/>
        </p:nvSpPr>
        <p:spPr>
          <a:xfrm>
            <a:off x="1929197" y="2391809"/>
            <a:ext cx="576258" cy="576258"/>
          </a:xfrm>
          <a:prstGeom prst="ellipse">
            <a:avLst/>
          </a:prstGeom>
          <a:solidFill>
            <a:srgbClr val="9FC41D"/>
          </a:solidFill>
          <a:ln/>
        </p:spPr>
        <p:txBody>
          <a:bodyPr/>
          <a:lstStyle/>
          <a:p>
            <a:endParaRPr/>
          </a:p>
        </p:txBody>
      </p:sp>
      <p:sp>
        <p:nvSpPr>
          <p:cNvPr id="6" name="Text 4"/>
          <p:cNvSpPr/>
          <p:nvPr/>
        </p:nvSpPr>
        <p:spPr>
          <a:xfrm>
            <a:off x="1929197" y="2391809"/>
            <a:ext cx="576258" cy="57625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±60'</a:t>
            </a:r>
            <a:endParaRPr lang="en-US" sz="1200" dirty="0"/>
          </a:p>
        </p:txBody>
      </p:sp>
      <p:sp>
        <p:nvSpPr>
          <p:cNvPr id="7" name="Text 5"/>
          <p:cNvSpPr/>
          <p:nvPr/>
        </p:nvSpPr>
        <p:spPr>
          <a:xfrm>
            <a:off x="2757569" y="2283760"/>
            <a:ext cx="6987135" cy="288129"/>
          </a:xfrm>
          <a:prstGeom prst="rect">
            <a:avLst/>
          </a:prstGeom>
          <a:noFill/>
          <a:ln/>
        </p:spPr>
        <p:txBody>
          <a:bodyPr wrap="square" lIns="0" tIns="0" rIns="0" bIns="0" rtlCol="0" anchor="ctr"/>
          <a:lstStyle/>
          <a:p>
            <a:pPr marL="0" indent="0">
              <a:buNone/>
            </a:pPr>
            <a:r>
              <a:rPr lang="en-US" sz="1300" b="1" dirty="0">
                <a:solidFill>
                  <a:srgbClr val="006633"/>
                </a:solidFill>
                <a:latin typeface="Cambria" pitchFamily="34" charset="0"/>
                <a:ea typeface="Cambria" pitchFamily="34" charset="-122"/>
                <a:cs typeface="Cambria" pitchFamily="34" charset="-120"/>
              </a:rPr>
              <a:t>Ceramah &amp; Diskusi Konsep</a:t>
            </a:r>
            <a:endParaRPr lang="en-US" sz="1300" dirty="0"/>
          </a:p>
        </p:txBody>
      </p:sp>
      <p:sp>
        <p:nvSpPr>
          <p:cNvPr id="8" name="Text 6"/>
          <p:cNvSpPr/>
          <p:nvPr/>
        </p:nvSpPr>
        <p:spPr>
          <a:xfrm>
            <a:off x="2757569" y="2586296"/>
            <a:ext cx="6987135" cy="540242"/>
          </a:xfrm>
          <a:prstGeom prst="rect">
            <a:avLst/>
          </a:prstGeom>
          <a:noFill/>
          <a:ln/>
        </p:spPr>
        <p:txBody>
          <a:bodyPr wrap="square" lIns="0" tIns="0" rIns="0" bIns="0" rtlCol="0" anchor="ctr"/>
          <a:lstStyle/>
          <a:p>
            <a:pPr marL="0" indent="0">
              <a:lnSpc>
                <a:spcPct val="120000"/>
              </a:lnSpc>
              <a:buNone/>
            </a:pPr>
            <a:r>
              <a:rPr lang="en-US" sz="1000" dirty="0">
                <a:solidFill>
                  <a:srgbClr val="1F7A34"/>
                </a:solidFill>
                <a:latin typeface="Calibri" pitchFamily="34" charset="0"/>
                <a:ea typeface="Calibri" pitchFamily="34" charset="-122"/>
                <a:cs typeface="Calibri" pitchFamily="34" charset="-120"/>
              </a:rPr>
              <a:t>Penjelasan ruang lingkup proyek, scope creep, dan WBS, disertai tanya jawab</a:t>
            </a:r>
            <a:endParaRPr lang="en-US" sz="1000" dirty="0"/>
          </a:p>
        </p:txBody>
      </p:sp>
      <p:sp>
        <p:nvSpPr>
          <p:cNvPr id="9" name="Shape 7"/>
          <p:cNvSpPr/>
          <p:nvPr/>
        </p:nvSpPr>
        <p:spPr>
          <a:xfrm>
            <a:off x="1677084" y="3364245"/>
            <a:ext cx="8715911" cy="1080484"/>
          </a:xfrm>
          <a:prstGeom prst="roundRect">
            <a:avLst>
              <a:gd name="adj" fmla="val 8000"/>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10" name="Shape 8"/>
          <p:cNvSpPr/>
          <p:nvPr/>
        </p:nvSpPr>
        <p:spPr>
          <a:xfrm>
            <a:off x="1929197" y="3616358"/>
            <a:ext cx="576258" cy="576258"/>
          </a:xfrm>
          <a:prstGeom prst="ellipse">
            <a:avLst/>
          </a:prstGeom>
          <a:solidFill>
            <a:srgbClr val="9FC41D"/>
          </a:solidFill>
          <a:ln/>
        </p:spPr>
        <p:txBody>
          <a:bodyPr/>
          <a:lstStyle/>
          <a:p>
            <a:endParaRPr/>
          </a:p>
        </p:txBody>
      </p:sp>
      <p:sp>
        <p:nvSpPr>
          <p:cNvPr id="11" name="Text 9"/>
          <p:cNvSpPr/>
          <p:nvPr/>
        </p:nvSpPr>
        <p:spPr>
          <a:xfrm>
            <a:off x="1929197" y="3616358"/>
            <a:ext cx="576258" cy="57625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±30'</a:t>
            </a:r>
            <a:endParaRPr lang="en-US" sz="1200" dirty="0"/>
          </a:p>
        </p:txBody>
      </p:sp>
      <p:sp>
        <p:nvSpPr>
          <p:cNvPr id="12" name="Text 10"/>
          <p:cNvSpPr/>
          <p:nvPr/>
        </p:nvSpPr>
        <p:spPr>
          <a:xfrm>
            <a:off x="2757569" y="3508310"/>
            <a:ext cx="6987135" cy="288129"/>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Studi Kasus &amp; Diskusi Kelompok</a:t>
            </a:r>
            <a:endParaRPr lang="en-US" sz="1300" dirty="0"/>
          </a:p>
        </p:txBody>
      </p:sp>
      <p:sp>
        <p:nvSpPr>
          <p:cNvPr id="13" name="Text 11"/>
          <p:cNvSpPr/>
          <p:nvPr/>
        </p:nvSpPr>
        <p:spPr>
          <a:xfrm>
            <a:off x="2757569" y="3810845"/>
            <a:ext cx="6987135" cy="540242"/>
          </a:xfrm>
          <a:prstGeom prst="rect">
            <a:avLst/>
          </a:prstGeom>
          <a:noFill/>
          <a:ln/>
        </p:spPr>
        <p:txBody>
          <a:bodyPr wrap="square" lIns="0" tIns="0" rIns="0" bIns="0" rtlCol="0" anchor="ctr"/>
          <a:lstStyle/>
          <a:p>
            <a:pPr marL="0" indent="0">
              <a:lnSpc>
                <a:spcPct val="120000"/>
              </a:lnSpc>
              <a:buNone/>
            </a:pPr>
            <a:r>
              <a:rPr lang="en-US" sz="1000" dirty="0">
                <a:solidFill>
                  <a:srgbClr val="D8E8C8"/>
                </a:solidFill>
                <a:latin typeface="Calibri" pitchFamily="34" charset="0"/>
                <a:ea typeface="Calibri" pitchFamily="34" charset="-122"/>
                <a:cs typeface="Calibri" pitchFamily="34" charset="-120"/>
              </a:rPr>
              <a:t>Menyusun WBS untuk studi kasus sistem reservasi ruang kelas online</a:t>
            </a:r>
            <a:endParaRPr lang="en-US" sz="1000" dirty="0"/>
          </a:p>
        </p:txBody>
      </p:sp>
      <p:sp>
        <p:nvSpPr>
          <p:cNvPr id="14" name="Shape 12"/>
          <p:cNvSpPr/>
          <p:nvPr/>
        </p:nvSpPr>
        <p:spPr>
          <a:xfrm>
            <a:off x="1677084" y="4588795"/>
            <a:ext cx="8715911" cy="1080484"/>
          </a:xfrm>
          <a:prstGeom prst="roundRect">
            <a:avLst>
              <a:gd name="adj" fmla="val 8000"/>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5" name="Shape 13"/>
          <p:cNvSpPr/>
          <p:nvPr/>
        </p:nvSpPr>
        <p:spPr>
          <a:xfrm>
            <a:off x="1929197" y="4840908"/>
            <a:ext cx="576258" cy="576258"/>
          </a:xfrm>
          <a:prstGeom prst="ellipse">
            <a:avLst/>
          </a:prstGeom>
          <a:solidFill>
            <a:srgbClr val="9FC41D"/>
          </a:solidFill>
          <a:ln/>
        </p:spPr>
        <p:txBody>
          <a:bodyPr/>
          <a:lstStyle/>
          <a:p>
            <a:endParaRPr/>
          </a:p>
        </p:txBody>
      </p:sp>
      <p:sp>
        <p:nvSpPr>
          <p:cNvPr id="16" name="Text 14"/>
          <p:cNvSpPr/>
          <p:nvPr/>
        </p:nvSpPr>
        <p:spPr>
          <a:xfrm>
            <a:off x="1929197" y="4840908"/>
            <a:ext cx="576258" cy="57625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±10'</a:t>
            </a:r>
            <a:endParaRPr lang="en-US" sz="1200" dirty="0"/>
          </a:p>
        </p:txBody>
      </p:sp>
      <p:sp>
        <p:nvSpPr>
          <p:cNvPr id="17" name="Text 15"/>
          <p:cNvSpPr/>
          <p:nvPr/>
        </p:nvSpPr>
        <p:spPr>
          <a:xfrm>
            <a:off x="2757569" y="4732859"/>
            <a:ext cx="6987135" cy="288129"/>
          </a:xfrm>
          <a:prstGeom prst="rect">
            <a:avLst/>
          </a:prstGeom>
          <a:noFill/>
          <a:ln/>
        </p:spPr>
        <p:txBody>
          <a:bodyPr wrap="square" lIns="0" tIns="0" rIns="0" bIns="0" rtlCol="0" anchor="ctr"/>
          <a:lstStyle/>
          <a:p>
            <a:pPr marL="0" indent="0">
              <a:buNone/>
            </a:pPr>
            <a:r>
              <a:rPr lang="en-US" sz="1300" b="1" dirty="0">
                <a:solidFill>
                  <a:srgbClr val="006633"/>
                </a:solidFill>
                <a:latin typeface="Cambria" pitchFamily="34" charset="0"/>
                <a:ea typeface="Cambria" pitchFamily="34" charset="-122"/>
                <a:cs typeface="Cambria" pitchFamily="34" charset="-120"/>
              </a:rPr>
              <a:t>Refleksi &amp; Penutup</a:t>
            </a:r>
            <a:endParaRPr lang="en-US" sz="1300" dirty="0"/>
          </a:p>
        </p:txBody>
      </p:sp>
      <p:sp>
        <p:nvSpPr>
          <p:cNvPr id="18" name="Text 16"/>
          <p:cNvSpPr/>
          <p:nvPr/>
        </p:nvSpPr>
        <p:spPr>
          <a:xfrm>
            <a:off x="2757569" y="5035395"/>
            <a:ext cx="6987135" cy="540242"/>
          </a:xfrm>
          <a:prstGeom prst="rect">
            <a:avLst/>
          </a:prstGeom>
          <a:noFill/>
          <a:ln/>
        </p:spPr>
        <p:txBody>
          <a:bodyPr wrap="square" lIns="0" tIns="0" rIns="0" bIns="0" rtlCol="0" anchor="ctr"/>
          <a:lstStyle/>
          <a:p>
            <a:pPr marL="0" indent="0">
              <a:lnSpc>
                <a:spcPct val="120000"/>
              </a:lnSpc>
              <a:buNone/>
            </a:pPr>
            <a:r>
              <a:rPr lang="en-US" sz="1000" dirty="0">
                <a:solidFill>
                  <a:srgbClr val="1F7A34"/>
                </a:solidFill>
                <a:latin typeface="Calibri" pitchFamily="34" charset="0"/>
                <a:ea typeface="Calibri" pitchFamily="34" charset="-122"/>
                <a:cs typeface="Calibri" pitchFamily="34" charset="-120"/>
              </a:rPr>
              <a:t>Rangkuman materi dan penjelasan Tugas Individu 3</a:t>
            </a:r>
            <a:endParaRPr lang="en-US" sz="1000" dirty="0"/>
          </a:p>
        </p:txBody>
      </p:sp>
      <p:sp>
        <p:nvSpPr>
          <p:cNvPr id="19" name="TextBox 18"/>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4  •  19/22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PENUTUP</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Referensi</a:t>
            </a:r>
            <a:endParaRPr lang="en-US" sz="3200" dirty="0"/>
          </a:p>
        </p:txBody>
      </p:sp>
      <p:sp>
        <p:nvSpPr>
          <p:cNvPr id="4" name="Shape 2"/>
          <p:cNvSpPr/>
          <p:nvPr/>
        </p:nvSpPr>
        <p:spPr>
          <a:xfrm>
            <a:off x="822960" y="2208902"/>
            <a:ext cx="432537" cy="432537"/>
          </a:xfrm>
          <a:prstGeom prst="ellipse">
            <a:avLst/>
          </a:prstGeom>
          <a:solidFill>
            <a:srgbClr val="006633"/>
          </a:solidFill>
          <a:ln/>
        </p:spPr>
        <p:txBody>
          <a:bodyPr/>
          <a:lstStyle/>
          <a:p>
            <a:endParaRPr/>
          </a:p>
        </p:txBody>
      </p:sp>
      <p:sp>
        <p:nvSpPr>
          <p:cNvPr id="5" name="Text 3"/>
          <p:cNvSpPr/>
          <p:nvPr/>
        </p:nvSpPr>
        <p:spPr>
          <a:xfrm>
            <a:off x="822960" y="2208902"/>
            <a:ext cx="432537" cy="432537"/>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p:nvPr/>
        </p:nvSpPr>
        <p:spPr>
          <a:xfrm>
            <a:off x="1471766" y="2139696"/>
            <a:ext cx="9775353" cy="778567"/>
          </a:xfrm>
          <a:prstGeom prst="rect">
            <a:avLst/>
          </a:prstGeom>
          <a:noFill/>
          <a:ln/>
        </p:spPr>
        <p:txBody>
          <a:bodyPr wrap="square" lIns="0" tIns="0" rIns="0" bIns="0" rtlCol="0" anchor="ctr"/>
          <a:lstStyle/>
          <a:p>
            <a:pPr marL="0" indent="0">
              <a:lnSpc>
                <a:spcPct val="120000"/>
              </a:lnSpc>
              <a:buNone/>
            </a:pPr>
            <a:r>
              <a:rPr lang="en-US" sz="1300" dirty="0">
                <a:solidFill>
                  <a:srgbClr val="1F7A34"/>
                </a:solidFill>
                <a:latin typeface="Calibri" pitchFamily="34" charset="0"/>
                <a:ea typeface="Calibri" pitchFamily="34" charset="-122"/>
                <a:cs typeface="Calibri" pitchFamily="34" charset="-120"/>
              </a:rPr>
              <a:t>Project Management Institute. A Guide to the Project Management Body of Knowledge (PMBOK® Guide), 7th Edition. PMI, 2021.</a:t>
            </a:r>
            <a:endParaRPr lang="en-US" sz="1300" dirty="0"/>
          </a:p>
        </p:txBody>
      </p:sp>
      <p:sp>
        <p:nvSpPr>
          <p:cNvPr id="7" name="Shape 5"/>
          <p:cNvSpPr/>
          <p:nvPr/>
        </p:nvSpPr>
        <p:spPr>
          <a:xfrm>
            <a:off x="822960" y="3117231"/>
            <a:ext cx="432537" cy="432537"/>
          </a:xfrm>
          <a:prstGeom prst="ellipse">
            <a:avLst/>
          </a:prstGeom>
          <a:solidFill>
            <a:srgbClr val="006633"/>
          </a:solidFill>
          <a:ln/>
        </p:spPr>
        <p:txBody>
          <a:bodyPr/>
          <a:lstStyle/>
          <a:p>
            <a:endParaRPr/>
          </a:p>
        </p:txBody>
      </p:sp>
      <p:sp>
        <p:nvSpPr>
          <p:cNvPr id="8" name="Text 6"/>
          <p:cNvSpPr/>
          <p:nvPr/>
        </p:nvSpPr>
        <p:spPr>
          <a:xfrm>
            <a:off x="822960" y="3117231"/>
            <a:ext cx="432537" cy="432537"/>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9" name="Text 7"/>
          <p:cNvSpPr/>
          <p:nvPr/>
        </p:nvSpPr>
        <p:spPr>
          <a:xfrm>
            <a:off x="1471766" y="3048025"/>
            <a:ext cx="9775353" cy="778567"/>
          </a:xfrm>
          <a:prstGeom prst="rect">
            <a:avLst/>
          </a:prstGeom>
          <a:noFill/>
          <a:ln/>
        </p:spPr>
        <p:txBody>
          <a:bodyPr wrap="square" lIns="0" tIns="0" rIns="0" bIns="0" rtlCol="0" anchor="ctr"/>
          <a:lstStyle/>
          <a:p>
            <a:pPr marL="0" indent="0">
              <a:lnSpc>
                <a:spcPct val="120000"/>
              </a:lnSpc>
              <a:buNone/>
            </a:pPr>
            <a:r>
              <a:rPr lang="en-US" sz="1300" dirty="0">
                <a:solidFill>
                  <a:srgbClr val="1F7A34"/>
                </a:solidFill>
                <a:latin typeface="Calibri" pitchFamily="34" charset="0"/>
                <a:ea typeface="Calibri" pitchFamily="34" charset="-122"/>
                <a:cs typeface="Calibri" pitchFamily="34" charset="-120"/>
              </a:rPr>
              <a:t>Schwalbe, K. Information Technology Project Management. Cengage Learning.</a:t>
            </a:r>
            <a:endParaRPr lang="en-US" sz="1300" dirty="0"/>
          </a:p>
        </p:txBody>
      </p:sp>
      <p:sp>
        <p:nvSpPr>
          <p:cNvPr id="10" name="Shape 8"/>
          <p:cNvSpPr/>
          <p:nvPr/>
        </p:nvSpPr>
        <p:spPr>
          <a:xfrm>
            <a:off x="822960" y="4025560"/>
            <a:ext cx="432537" cy="432537"/>
          </a:xfrm>
          <a:prstGeom prst="ellipse">
            <a:avLst/>
          </a:prstGeom>
          <a:solidFill>
            <a:srgbClr val="006633"/>
          </a:solidFill>
          <a:ln/>
        </p:spPr>
        <p:txBody>
          <a:bodyPr/>
          <a:lstStyle/>
          <a:p>
            <a:endParaRPr/>
          </a:p>
        </p:txBody>
      </p:sp>
      <p:sp>
        <p:nvSpPr>
          <p:cNvPr id="11" name="Text 9"/>
          <p:cNvSpPr/>
          <p:nvPr/>
        </p:nvSpPr>
        <p:spPr>
          <a:xfrm>
            <a:off x="822960" y="4025560"/>
            <a:ext cx="432537" cy="432537"/>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2" name="Text 10"/>
          <p:cNvSpPr/>
          <p:nvPr/>
        </p:nvSpPr>
        <p:spPr>
          <a:xfrm>
            <a:off x="1471766" y="3956354"/>
            <a:ext cx="9775353" cy="778567"/>
          </a:xfrm>
          <a:prstGeom prst="rect">
            <a:avLst/>
          </a:prstGeom>
          <a:noFill/>
          <a:ln/>
        </p:spPr>
        <p:txBody>
          <a:bodyPr wrap="square" lIns="0" tIns="0" rIns="0" bIns="0" rtlCol="0" anchor="ctr"/>
          <a:lstStyle/>
          <a:p>
            <a:pPr marL="0" indent="0">
              <a:lnSpc>
                <a:spcPct val="120000"/>
              </a:lnSpc>
              <a:buNone/>
            </a:pPr>
            <a:r>
              <a:rPr lang="en-US" sz="1300" dirty="0">
                <a:solidFill>
                  <a:srgbClr val="1F7A34"/>
                </a:solidFill>
                <a:latin typeface="Calibri" pitchFamily="34" charset="0"/>
                <a:ea typeface="Calibri" pitchFamily="34" charset="-122"/>
                <a:cs typeface="Calibri" pitchFamily="34" charset="-120"/>
              </a:rPr>
              <a:t>Project Management Institute. Practice Standard for Work Breakdown Structures, 3rd Edition. PMI.</a:t>
            </a:r>
            <a:endParaRPr lang="en-US" sz="1300" dirty="0"/>
          </a:p>
        </p:txBody>
      </p:sp>
      <p:sp>
        <p:nvSpPr>
          <p:cNvPr id="13" name="TextBox 12"/>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4  •  21/22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a:p>
        </p:txBody>
      </p:sp>
      <p:sp>
        <p:nvSpPr>
          <p:cNvPr id="3" name="Subtitle 2"/>
          <p:cNvSpPr>
            <a:spLocks noGrp="1"/>
          </p:cNvSpPr>
          <p:nvPr>
            <p:ph type="subTitle" idx="1"/>
          </p:nvPr>
        </p:nvSpPr>
        <p:spPr/>
        <p:txBody>
          <a:bodyPr/>
          <a:lstStyle/>
          <a:p>
            <a:endParaRPr/>
          </a:p>
        </p:txBody>
      </p:sp>
      <p:sp>
        <p:nvSpPr>
          <p:cNvPr id="4" name="Text 1"/>
          <p:cNvSpPr/>
          <p:nvPr/>
        </p:nvSpPr>
        <p:spPr>
          <a:xfrm>
            <a:off x="1874519" y="1691640"/>
            <a:ext cx="6446520" cy="822960"/>
          </a:xfrm>
          <a:prstGeom prst="rect">
            <a:avLst/>
          </a:prstGeom>
          <a:noFill/>
          <a:ln/>
        </p:spPr>
        <p:txBody>
          <a:bodyPr wrap="square" lIns="0" tIns="0" rIns="0" bIns="0" rtlCol="0" anchor="t"/>
          <a:lstStyle/>
          <a:p>
            <a:pPr marL="0" indent="0">
              <a:buNone/>
            </a:pPr>
            <a:r>
              <a:rPr lang="en-US" sz="2700" b="1" dirty="0">
                <a:latin typeface="Cambria" pitchFamily="34" charset="0"/>
                <a:ea typeface="Cambria" pitchFamily="34" charset="-122"/>
                <a:cs typeface="Cambria" pitchFamily="34" charset="-120"/>
              </a:rPr>
              <a:t>Terima Kasih</a:t>
            </a:r>
            <a:endParaRPr lang="en-US" sz="4800" dirty="0"/>
          </a:p>
        </p:txBody>
      </p:sp>
      <p:sp>
        <p:nvSpPr>
          <p:cNvPr id="5" name="Text 2"/>
          <p:cNvSpPr/>
          <p:nvPr/>
        </p:nvSpPr>
        <p:spPr>
          <a:xfrm>
            <a:off x="1874519" y="2560320"/>
            <a:ext cx="6446520" cy="386791"/>
          </a:xfrm>
          <a:prstGeom prst="rect">
            <a:avLst/>
          </a:prstGeom>
          <a:noFill/>
          <a:ln/>
        </p:spPr>
        <p:txBody>
          <a:bodyPr wrap="square" lIns="0" tIns="0" rIns="0" bIns="0" rtlCol="0" anchor="ctr"/>
          <a:lstStyle/>
          <a:p>
            <a:pPr marL="0" indent="0">
              <a:buNone/>
            </a:pPr>
            <a:r>
              <a:rPr lang="en-US" sz="1400" dirty="0">
                <a:solidFill>
                  <a:srgbClr val="9FC41D"/>
                </a:solidFill>
                <a:latin typeface="Calibri" pitchFamily="34" charset="0"/>
                <a:ea typeface="Calibri" pitchFamily="34" charset="-122"/>
                <a:cs typeface="Calibri" pitchFamily="34" charset="-120"/>
              </a:rPr>
              <a:t>Pertanyaan &amp; Diskusi</a:t>
            </a:r>
            <a:endParaRPr lang="en-US" sz="1400" dirty="0"/>
          </a:p>
        </p:txBody>
      </p:sp>
      <p:sp>
        <p:nvSpPr>
          <p:cNvPr id="6" name="Text 4"/>
          <p:cNvSpPr/>
          <p:nvPr/>
        </p:nvSpPr>
        <p:spPr>
          <a:xfrm>
            <a:off x="1874519" y="3301669"/>
            <a:ext cx="6253124" cy="322326"/>
          </a:xfrm>
          <a:prstGeom prst="rect">
            <a:avLst/>
          </a:prstGeom>
          <a:noFill/>
          <a:ln/>
        </p:spPr>
        <p:txBody>
          <a:bodyPr wrap="square" lIns="0" tIns="0" rIns="0" bIns="0" rtlCol="0" anchor="ctr"/>
          <a:lstStyle/>
          <a:p>
            <a:pPr marL="0" indent="0">
              <a:buNone/>
            </a:pPr>
            <a:r>
              <a:rPr lang="en-US" sz="900" i="1" dirty="0">
                <a:solidFill>
                  <a:srgbClr val="DCE8D0"/>
                </a:solidFill>
                <a:latin typeface="Calibri" pitchFamily="34" charset="0"/>
                <a:ea typeface="Calibri" pitchFamily="34" charset="-122"/>
                <a:cs typeface="Calibri" pitchFamily="34" charset="-120"/>
              </a:rPr>
              <a:t>Pertemuan berikutnya: Manajemen Waktu dan Penjadwalan Proyek (Gantt Chart)</a:t>
            </a:r>
            <a:endParaRPr lang="en-US" sz="900" dirty="0"/>
          </a:p>
        </p:txBody>
      </p:sp>
      <p:sp>
        <p:nvSpPr>
          <p:cNvPr id="7" name="TextBox 6"/>
          <p:cNvSpPr txBox="1"/>
          <p:nvPr/>
        </p:nvSpPr>
        <p:spPr>
          <a:xfrm>
            <a:off x="3017520" y="6446520"/>
            <a:ext cx="6126480" cy="274320"/>
          </a:xfrm>
          <a:prstGeom prst="rect">
            <a:avLst/>
          </a:prstGeom>
          <a:noFill/>
        </p:spPr>
        <p:txBody>
          <a:bodyPr wrap="square">
            <a:spAutoFit/>
          </a:bodyPr>
          <a:lstStyle/>
          <a:p>
            <a:pPr algn="ctr"/>
            <a:r>
              <a:rPr sz="900" b="0">
                <a:solidFill>
                  <a:srgbClr val="FFFFFF"/>
                </a:solidFill>
              </a:rPr>
              <a:t>TIK2111 • Manajemen Proyek TI • Pertemuan 4  •  22/22</a:t>
            </a:r>
          </a:p>
        </p:txBody>
      </p:sp>
    </p:spTree>
  </p:cSld>
  <p:clrMapOvr>
    <a:masterClrMapping/>
  </p:clrMapOvr>
</p:sld>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TotalTime>
  <Words>1306</Words>
  <Application>Microsoft Macintosh PowerPoint</Application>
  <PresentationFormat>Widescreen</PresentationFormat>
  <Paragraphs>233</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6</cp:revision>
  <dcterms:created xsi:type="dcterms:W3CDTF">2021-10-17T13:14:05Z</dcterms:created>
  <dcterms:modified xsi:type="dcterms:W3CDTF">2026-09-16T07:36:46Z</dcterms:modified>
</cp:coreProperties>
</file>