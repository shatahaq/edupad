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2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7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7993" y="1819982"/>
            <a:ext cx="6735380" cy="1815465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7993" y="3899531"/>
            <a:ext cx="6735380" cy="83322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9224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201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586" y="1178415"/>
            <a:ext cx="10296863" cy="106264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0587" y="2519464"/>
            <a:ext cx="10296863" cy="32879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0" y="5926921"/>
            <a:ext cx="2387600" cy="317794"/>
          </a:xfrm>
          <a:prstGeom prst="rect">
            <a:avLst/>
          </a:prstGeom>
        </p:spPr>
        <p:txBody>
          <a:bodyPr/>
          <a:lstStyle/>
          <a:p>
            <a:fld id="{CB16C0DE-2CE3-D544-94DC-617B67A94695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0" y="6356351"/>
            <a:ext cx="3581400" cy="31779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0361" y="6356351"/>
            <a:ext cx="2387600" cy="317794"/>
          </a:xfrm>
          <a:prstGeom prst="rect">
            <a:avLst/>
          </a:prstGeom>
        </p:spPr>
        <p:txBody>
          <a:bodyPr/>
          <a:lstStyle/>
          <a:p>
            <a:fld id="{4259B9FA-38A6-B646-AFC0-A8E2C63F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40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318" y="999858"/>
            <a:ext cx="10186482" cy="690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67318" y="1825625"/>
            <a:ext cx="4852481" cy="39331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38226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16C0DE-2CE3-D544-94DC-617B67A94695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56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7591" y="943584"/>
            <a:ext cx="6293795" cy="68499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7591" y="1790899"/>
            <a:ext cx="4839984" cy="60818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591" y="2505075"/>
            <a:ext cx="4839984" cy="3312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1568" y="1790899"/>
            <a:ext cx="4863820" cy="60818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91568" y="2505075"/>
            <a:ext cx="4863820" cy="3312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785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1877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16C0DE-2CE3-D544-94DC-617B67A94695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59B9FA-38A6-B646-AFC0-A8E2C63F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7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537" y="1361872"/>
            <a:ext cx="3932237" cy="924128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952" y="1361872"/>
            <a:ext cx="5674435" cy="449917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537" y="2422186"/>
            <a:ext cx="3932237" cy="34468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59B9FA-38A6-B646-AFC0-A8E2C63F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51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177047"/>
            <a:ext cx="6172200" cy="45202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502" y="1170418"/>
            <a:ext cx="3793787" cy="45202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83188" y="599122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766" y="1466784"/>
            <a:ext cx="10690698" cy="25604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48264" y="427672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20264" y="4276728"/>
            <a:ext cx="2743200" cy="365125"/>
          </a:xfrm>
          <a:prstGeom prst="rect">
            <a:avLst/>
          </a:prstGeom>
        </p:spPr>
        <p:txBody>
          <a:bodyPr/>
          <a:lstStyle/>
          <a:p>
            <a:fld id="{4259B9FA-38A6-B646-AFC0-A8E2C63F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12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3175" y="1786"/>
            <a:ext cx="12185649" cy="685442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2766" y="1257615"/>
            <a:ext cx="10690698" cy="69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766" y="2086252"/>
            <a:ext cx="10690698" cy="3835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204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874519" y="1417320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D8E8C8"/>
                </a:solidFill>
              </a:rPr>
              <a:t>TIK2111 • MANAJEMEN PROYEK TI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74519" y="1691640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FFFFFF"/>
                </a:solidFill>
              </a:rPr>
              <a:t>Manajemen Waktu &amp;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FFFFFF"/>
                </a:solidFill>
              </a:rPr>
              <a:t>Penjadwalan Proyek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874519" y="2560320"/>
            <a:ext cx="57302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C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74519" y="2954274"/>
            <a:ext cx="5730240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  •  Sub-CPMK 4</a:t>
            </a:r>
            <a:endParaRPr lang="en-US" sz="1300" dirty="0"/>
          </a:p>
        </p:txBody>
      </p:sp>
      <p:sp>
        <p:nvSpPr>
          <p:cNvPr id="8" name="Text 7"/>
          <p:cNvSpPr/>
          <p:nvPr/>
        </p:nvSpPr>
        <p:spPr>
          <a:xfrm>
            <a:off x="1874519" y="3992880"/>
            <a:ext cx="6446520" cy="250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D3 Teknik Informatika — Fakultas Vokasi USU</a:t>
            </a:r>
            <a:endParaRPr lang="en-US" sz="1000" dirty="0"/>
          </a:p>
        </p:txBody>
      </p:sp>
      <p:sp>
        <p:nvSpPr>
          <p:cNvPr id="9" name="Text 8"/>
          <p:cNvSpPr/>
          <p:nvPr/>
        </p:nvSpPr>
        <p:spPr>
          <a:xfrm>
            <a:off x="1874519" y="4243578"/>
            <a:ext cx="6446520" cy="250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Zulhamsyah Fachrurrazi Nasution, S.Kom., M.MSI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RECAP PERTEMUAN SEBELUMNYA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Sebelumnya Kita Sudah Belajar…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3303128" cy="3088640"/>
          </a:xfrm>
          <a:prstGeom prst="roundRect">
            <a:avLst>
              <a:gd name="adj" fmla="val 3333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80346" y="2397082"/>
            <a:ext cx="471875" cy="471875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80346" y="2397082"/>
            <a:ext cx="471875" cy="471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0346" y="3040549"/>
            <a:ext cx="2788355" cy="51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Ruang Lingkup Proyek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80346" y="3598220"/>
            <a:ext cx="2788355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Batasan pekerjaan yang harus dan tidak harus dikerjakan dalam proyek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3475" y="2139696"/>
            <a:ext cx="3303128" cy="3088640"/>
          </a:xfrm>
          <a:prstGeom prst="roundRect">
            <a:avLst>
              <a:gd name="adj" fmla="val 3333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40862" y="2397082"/>
            <a:ext cx="471875" cy="471875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40862" y="2397082"/>
            <a:ext cx="471875" cy="471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0862" y="3040549"/>
            <a:ext cx="2788355" cy="51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Creep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0862" y="3598220"/>
            <a:ext cx="2788355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pembengkakan ruang lingkup yang dapat dicegah dengan change control formal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43991" y="2139696"/>
            <a:ext cx="3303128" cy="3088640"/>
          </a:xfrm>
          <a:prstGeom prst="roundRect">
            <a:avLst>
              <a:gd name="adj" fmla="val 3333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01377" y="2397082"/>
            <a:ext cx="471875" cy="471875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01377" y="2397082"/>
            <a:ext cx="471875" cy="471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01377" y="3040549"/>
            <a:ext cx="2788355" cy="51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Breakdown Structure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01377" y="3598220"/>
            <a:ext cx="2788355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Dekomposisi proyek menjadi work package melalui top-down decomposition</a:t>
            </a:r>
            <a:endParaRPr 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PETA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Agenda Hari Ini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010654" y="2139696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208575" y="2416784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208575" y="2416784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02336" y="2139696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manajemen waktu proyek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9973" y="2139696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397894" y="2416784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97894" y="2416784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91656" y="2139696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WBS ke daftar aktivitas &amp; dependensi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0654" y="3393193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208575" y="3670281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08575" y="3670281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02336" y="3393193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estimasi durasi aktivitas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973" y="3393193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97894" y="3670281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97894" y="3670281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1656" y="3393193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Gantt Chart &amp; anatominya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0654" y="4646690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208575" y="4923779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208575" y="4923779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02336" y="4646690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Kelebihan, keterbatasan, dan tools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973" y="4646690"/>
            <a:ext cx="3859451" cy="1022589"/>
          </a:xfrm>
          <a:prstGeom prst="roundRect">
            <a:avLst>
              <a:gd name="adj" fmla="val 7742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397894" y="4923779"/>
            <a:ext cx="461814" cy="461814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97894" y="4923779"/>
            <a:ext cx="461814" cy="461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1656" y="4646690"/>
            <a:ext cx="2869848" cy="102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diskusi kelompok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CAPAIAN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Kemampuan Akhir yang Diharapkan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39464" y="2139696"/>
            <a:ext cx="8991150" cy="965991"/>
          </a:xfrm>
          <a:prstGeom prst="roundRect">
            <a:avLst>
              <a:gd name="adj" fmla="val 9231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799539" y="2273448"/>
            <a:ext cx="2229210" cy="260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C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99539" y="2511231"/>
            <a:ext cx="8471001" cy="52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mampu menyusun penjadwalan proyek menggunakan Gantt Chart.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39464" y="3328608"/>
            <a:ext cx="7430703" cy="29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Fokus Pertemuan Ini — Indikator Pencapaian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39464" y="3737297"/>
            <a:ext cx="8619615" cy="193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proses manajemen waktu proyek dan hubungan antaraktivitas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teknik estimasi durasi aktivitas proyek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Gantt Chart untuk studi kasus proyek TI</a:t>
            </a:r>
            <a:endParaRPr lang="en-US" sz="1300" dirty="0"/>
          </a:p>
        </p:txBody>
      </p:sp>
      <p:sp>
        <p:nvSpPr>
          <p:cNvPr id="9" name="TextBox 8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1"/>
          <p:cNvSpPr/>
          <p:nvPr/>
        </p:nvSpPr>
        <p:spPr>
          <a:xfrm>
            <a:off x="1874519" y="1417320"/>
            <a:ext cx="6446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D8E8C8"/>
                </a:solidFill>
              </a:rPr>
              <a:t>PEMANTIK DISKUSI</a:t>
            </a:r>
            <a:endParaRPr lang="en-US" sz="1200" dirty="0"/>
          </a:p>
        </p:txBody>
      </p:sp>
      <p:sp>
        <p:nvSpPr>
          <p:cNvPr id="5" name="Text 4"/>
          <p:cNvSpPr/>
          <p:nvPr/>
        </p:nvSpPr>
        <p:spPr>
          <a:xfrm>
            <a:off x="1874519" y="1691640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FFFFFF"/>
                </a:solidFill>
              </a:rPr>
              <a:t>Sebelum Kita Mulai…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874519" y="2560320"/>
            <a:ext cx="495886" cy="495886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874519" y="2560320"/>
            <a:ext cx="495886" cy="49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74519" y="3524543"/>
            <a:ext cx="6446520" cy="1101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“Mengapa penjadwalan yang realistis lebih penting daripada penjadwalan yang terlihat cepat di atas kertas?”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74519" y="4736709"/>
            <a:ext cx="5509846" cy="220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singkat 3–5 menit — beberapa mahasiswa berbagi pendapat</a:t>
            </a:r>
            <a:endParaRPr lang="en-US" sz="900" dirty="0"/>
          </a:p>
        </p:txBody>
      </p:sp>
      <p:sp>
        <p:nvSpPr>
          <p:cNvPr id="10" name="TextBox 9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TIK2111 • Manajemen Proyek TI • Pertemuan 5  •  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MANAJEMEN WAKTU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Apa Itu Manajemen Waktu Proyek?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10424160" cy="1636851"/>
          </a:xfrm>
          <a:prstGeom prst="roundRect">
            <a:avLst>
              <a:gd name="adj" fmla="val 6316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67560" y="2311996"/>
            <a:ext cx="9734959" cy="129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“Proses yang dibutuhkan untuk mengelola penyelesaian proyek secara tepat waktu, meliputi perencanaan, penyusunan, dan pengendalian jadwal.”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034997"/>
            <a:ext cx="9993409" cy="86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proyek yang baik menjadi acuan bersama bagi tim untuk memantau kemajuan pekerjaan dari waktu ke waktu.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MANAJEMEN WAKTU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Lima Proses Manajemen Waktu Proyek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36144" y="4073209"/>
            <a:ext cx="966756" cy="0"/>
          </a:xfrm>
          <a:prstGeom prst="line">
            <a:avLst/>
          </a:prstGeom>
          <a:noFill/>
          <a:ln w="31750">
            <a:solidFill>
              <a:srgbClr val="9FC41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479822" y="4073209"/>
            <a:ext cx="966756" cy="0"/>
          </a:xfrm>
          <a:prstGeom prst="line">
            <a:avLst/>
          </a:prstGeom>
          <a:noFill/>
          <a:ln w="31750">
            <a:solidFill>
              <a:srgbClr val="9FC41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623500" y="4073209"/>
            <a:ext cx="966756" cy="0"/>
          </a:xfrm>
          <a:prstGeom prst="line">
            <a:avLst/>
          </a:prstGeom>
          <a:noFill/>
          <a:ln w="31750">
            <a:solidFill>
              <a:srgbClr val="9FC41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767178" y="4073209"/>
            <a:ext cx="966756" cy="0"/>
          </a:xfrm>
          <a:prstGeom prst="line">
            <a:avLst/>
          </a:prstGeom>
          <a:noFill/>
          <a:ln w="31750">
            <a:solidFill>
              <a:srgbClr val="9FC41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59223" y="3484748"/>
            <a:ext cx="1176921" cy="1176921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59223" y="3484748"/>
            <a:ext cx="1176921" cy="117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787768"/>
            <a:ext cx="1849447" cy="714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Definisikan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02901" y="3484748"/>
            <a:ext cx="1176921" cy="1176921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02901" y="3484748"/>
            <a:ext cx="1176921" cy="117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66638" y="4787768"/>
            <a:ext cx="1849447" cy="714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Urutkan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6579" y="3484748"/>
            <a:ext cx="1176921" cy="1176921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46579" y="3484748"/>
            <a:ext cx="1176921" cy="117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10316" y="4787768"/>
            <a:ext cx="1849447" cy="714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Durasi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90257" y="3484748"/>
            <a:ext cx="1176921" cy="117692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590257" y="3484748"/>
            <a:ext cx="1176921" cy="117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53994" y="4787768"/>
            <a:ext cx="1849447" cy="714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33935" y="3484748"/>
            <a:ext cx="1176921" cy="1176921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733935" y="3484748"/>
            <a:ext cx="1176921" cy="117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97672" y="4787768"/>
            <a:ext cx="1849447" cy="714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Kendalikan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9058" y="2139696"/>
            <a:ext cx="10087896" cy="588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ini berjalan berulang (iteratif) sepanjang siklus hidup proyek, terutama saat terjadi perubahan.</a:t>
            </a:r>
            <a:endParaRPr lang="en-US" sz="1300" dirty="0"/>
          </a:p>
        </p:txBody>
      </p:sp>
      <p:sp>
        <p:nvSpPr>
          <p:cNvPr id="24" name="TextBox 23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MANAJEMEN WAKTU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Dari Work Package ke Daftar Aktivitas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9710" y="2139696"/>
            <a:ext cx="9490659" cy="1176528"/>
          </a:xfrm>
          <a:prstGeom prst="roundRect">
            <a:avLst>
              <a:gd name="adj" fmla="val 8000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603451" y="2296566"/>
            <a:ext cx="8863177" cy="902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Setiap work package pada WBS diuraikan lebih lanjut menjadi aktivitas-aktivitas spesifik yang dapat dijadwalkan dan diberi durasi.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9710" y="3512312"/>
            <a:ext cx="7843520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Contoh: Work Package “Modul Login”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9710" y="3865270"/>
            <a:ext cx="9098483" cy="180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Aktivitas: Merancang basis data pengguna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Aktivitas: Membuat tampilan (UI) halaman login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Aktivitas: Mengembangkan logika autentikasi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Aktivitas: Menguji modul login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MANAJEMEN WAKTU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Jenis Dependensi Antaraktivitas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48536" y="2139696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66189" y="2257348"/>
            <a:ext cx="4353153" cy="1411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Finish-to-Start (FS)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B baru dapat dimulai setelah Aktivitas A selesai (paling umum)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33084" y="2139696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50736" y="2257348"/>
            <a:ext cx="4353153" cy="1411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Start-to-Start (SS)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B dapat dimulai bersamaan dengan dimulainya Aktivitas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48536" y="4022140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466189" y="4139793"/>
            <a:ext cx="4353153" cy="1411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Finish-to-Finish (FF)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B harus selesai bersamaan dengan selesainya Aktivitas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33084" y="4022140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50736" y="4139793"/>
            <a:ext cx="4353153" cy="1411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Start-to-Finish (SF)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B harus selesai sebelum Aktivitas A dimulai (jarang digunakan)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MANAJEMEN WAKTU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Teknik Estimasi Durasi Aktivitas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28928" y="2139696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64233" y="2414219"/>
            <a:ext cx="470611" cy="47061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564233" y="2414219"/>
            <a:ext cx="470611" cy="47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30932" y="2312253"/>
            <a:ext cx="3490366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Judgment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30932" y="2673055"/>
            <a:ext cx="3490366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berdasarkan penilaian dan pengalaman ahli/praktisi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52692" y="2139696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87998" y="2414219"/>
            <a:ext cx="470611" cy="47061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87998" y="2414219"/>
            <a:ext cx="470611" cy="47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54697" y="2312253"/>
            <a:ext cx="3490366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Analogous Estimating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4697" y="2673055"/>
            <a:ext cx="3490366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berdasarkan durasi aktivitas serupa pada proyek sebelumnya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28928" y="4022140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564233" y="4296664"/>
            <a:ext cx="470611" cy="47061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564233" y="4296664"/>
            <a:ext cx="470611" cy="47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30932" y="4194698"/>
            <a:ext cx="3490366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 Estimating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30932" y="4555500"/>
            <a:ext cx="3490366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menggunakan hubungan statistik antara data historis dan variabel lain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52692" y="4022140"/>
            <a:ext cx="4588459" cy="1647139"/>
          </a:xfrm>
          <a:prstGeom prst="roundRect">
            <a:avLst>
              <a:gd name="adj" fmla="val 571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387998" y="4296664"/>
            <a:ext cx="470611" cy="470611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7998" y="4296664"/>
            <a:ext cx="470611" cy="47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54697" y="4194698"/>
            <a:ext cx="3490366" cy="313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Three-Point Estimating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4697" y="4555500"/>
            <a:ext cx="3490366" cy="98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berdasarkan skenario optimis, pesimis, dan paling mungkin (PERT)</a:t>
            </a:r>
            <a:endParaRPr 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GANTT 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Apa Itu Gantt Chart?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10424160" cy="1636851"/>
          </a:xfrm>
          <a:prstGeom prst="roundRect">
            <a:avLst>
              <a:gd name="adj" fmla="val 6316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67560" y="2311996"/>
            <a:ext cx="9734959" cy="129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“Diagram batang yang menampilkan jadwal proyek, memperlihatkan tanggal mulai dan selesai setiap aktivitas sepanjang garis waktu.”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034997"/>
            <a:ext cx="9993409" cy="86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Diperkenalkan oleh Henry Gantt pada awal abad ke-20, dan hingga kini tetap menjadi salah satu alat visualisasi jadwal proyek paling populer.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GANTT 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Anatomi Sebuah Gantt 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2445173" cy="3346026"/>
          </a:xfrm>
          <a:prstGeom prst="roundRect">
            <a:avLst>
              <a:gd name="adj" fmla="val 4211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1653" y="2268389"/>
            <a:ext cx="2187786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aktivitas yang tersusun di kolom kiri diagram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82622" y="2139696"/>
            <a:ext cx="2445173" cy="3346026"/>
          </a:xfrm>
          <a:prstGeom prst="roundRect">
            <a:avLst>
              <a:gd name="adj" fmla="val 4211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11315" y="2268389"/>
            <a:ext cx="2187786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Bar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Batang horizontal yang menunjukkan durasi &amp; posisi aktivitas pada garis waktu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42284" y="2139696"/>
            <a:ext cx="2445173" cy="3346026"/>
          </a:xfrm>
          <a:prstGeom prst="roundRect">
            <a:avLst>
              <a:gd name="adj" fmla="val 4211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70977" y="2268389"/>
            <a:ext cx="2187786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 titik pencapaian penting (biasanya berbentuk berlian)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01946" y="2139696"/>
            <a:ext cx="2445173" cy="3346026"/>
          </a:xfrm>
          <a:prstGeom prst="roundRect">
            <a:avLst>
              <a:gd name="adj" fmla="val 4211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30640" y="2268389"/>
            <a:ext cx="2187786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Arrow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Garis/panah yang menunjukkan keterkaitan antaraktivitas</a:t>
            </a:r>
            <a:endParaRPr 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GANTT 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Contoh Gantt Chart Sederhana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02903" y="2515183"/>
            <a:ext cx="1764792" cy="510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Kebutuhan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2903" y="3025846"/>
            <a:ext cx="1764792" cy="510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02903" y="3536510"/>
            <a:ext cx="1764792" cy="510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02903" y="4047173"/>
            <a:ext cx="1764792" cy="510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2903" y="4557836"/>
            <a:ext cx="1764792" cy="510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Peluncuran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42793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61973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81155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335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19516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38697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457878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42793" y="2139696"/>
            <a:ext cx="7134265" cy="375487"/>
          </a:xfrm>
          <a:prstGeom prst="roundRect">
            <a:avLst>
              <a:gd name="adj" fmla="val 12000"/>
            </a:avLst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42793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61973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81155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335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19516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38697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57878" y="2139696"/>
            <a:ext cx="1019180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42793" y="2515183"/>
            <a:ext cx="7134265" cy="510663"/>
          </a:xfrm>
          <a:prstGeom prst="rect">
            <a:avLst/>
          </a:prstGeom>
          <a:solidFill>
            <a:srgbClr val="F1F7EC"/>
          </a:solidFill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342793" y="3025846"/>
            <a:ext cx="7134265" cy="510663"/>
          </a:xfrm>
          <a:prstGeom prst="rect">
            <a:avLst/>
          </a:prstGeom>
          <a:solidFill>
            <a:srgbClr val="FFFFFF"/>
          </a:solidFill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342793" y="3536510"/>
            <a:ext cx="7134265" cy="510663"/>
          </a:xfrm>
          <a:prstGeom prst="rect">
            <a:avLst/>
          </a:prstGeom>
          <a:solidFill>
            <a:srgbClr val="F1F7EC"/>
          </a:solidFill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342793" y="4047173"/>
            <a:ext cx="7134265" cy="510663"/>
          </a:xfrm>
          <a:prstGeom prst="rect">
            <a:avLst/>
          </a:prstGeom>
          <a:solidFill>
            <a:srgbClr val="FFFFFF"/>
          </a:solidFill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342793" y="4557836"/>
            <a:ext cx="7134265" cy="510663"/>
          </a:xfrm>
          <a:prstGeom prst="rect">
            <a:avLst/>
          </a:prstGeom>
          <a:solidFill>
            <a:srgbClr val="F1F7EC"/>
          </a:solidFill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342793" y="2139696"/>
            <a:ext cx="0" cy="2928803"/>
          </a:xfrm>
          <a:prstGeom prst="line">
            <a:avLst/>
          </a:prstGeom>
          <a:noFill/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361973" y="2139696"/>
            <a:ext cx="0" cy="2928803"/>
          </a:xfrm>
          <a:prstGeom prst="line">
            <a:avLst/>
          </a:prstGeom>
          <a:noFill/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381155" y="2139696"/>
            <a:ext cx="0" cy="2928803"/>
          </a:xfrm>
          <a:prstGeom prst="line">
            <a:avLst/>
          </a:prstGeom>
          <a:noFill/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00335" y="2139696"/>
            <a:ext cx="0" cy="2928803"/>
          </a:xfrm>
          <a:prstGeom prst="line">
            <a:avLst/>
          </a:prstGeom>
          <a:noFill/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419516" y="2139696"/>
            <a:ext cx="0" cy="2928803"/>
          </a:xfrm>
          <a:prstGeom prst="line">
            <a:avLst/>
          </a:prstGeom>
          <a:noFill/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438697" y="2139696"/>
            <a:ext cx="0" cy="2928803"/>
          </a:xfrm>
          <a:prstGeom prst="line">
            <a:avLst/>
          </a:prstGeom>
          <a:noFill/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457878" y="2139696"/>
            <a:ext cx="0" cy="2928803"/>
          </a:xfrm>
          <a:prstGeom prst="line">
            <a:avLst/>
          </a:prstGeom>
          <a:noFill/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77059" y="2139696"/>
            <a:ext cx="0" cy="2928803"/>
          </a:xfrm>
          <a:prstGeom prst="line">
            <a:avLst/>
          </a:prstGeom>
          <a:noFill/>
          <a:ln w="9525">
            <a:solidFill>
              <a:srgbClr val="E4EFD9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3380342" y="2627529"/>
            <a:ext cx="944082" cy="285971"/>
          </a:xfrm>
          <a:prstGeom prst="roundRect">
            <a:avLst>
              <a:gd name="adj" fmla="val 15756"/>
            </a:avLst>
          </a:prstGeom>
          <a:solidFill>
            <a:srgbClr val="1F7A34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399522" y="3138192"/>
            <a:ext cx="944082" cy="285971"/>
          </a:xfrm>
          <a:prstGeom prst="roundRect">
            <a:avLst>
              <a:gd name="adj" fmla="val 15756"/>
            </a:avLst>
          </a:prstGeom>
          <a:solidFill>
            <a:srgbClr val="1F7A34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418703" y="3648855"/>
            <a:ext cx="2982444" cy="285971"/>
          </a:xfrm>
          <a:prstGeom prst="roundRect">
            <a:avLst>
              <a:gd name="adj" fmla="val 15756"/>
            </a:avLst>
          </a:prstGeom>
          <a:solidFill>
            <a:srgbClr val="1F7A34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457065" y="4159519"/>
            <a:ext cx="1963264" cy="285971"/>
          </a:xfrm>
          <a:prstGeom prst="roundRect">
            <a:avLst>
              <a:gd name="adj" fmla="val 15756"/>
            </a:avLst>
          </a:prstGeom>
          <a:solidFill>
            <a:srgbClr val="1F7A34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495427" y="4670182"/>
            <a:ext cx="944082" cy="285971"/>
          </a:xfrm>
          <a:prstGeom prst="roundRect">
            <a:avLst>
              <a:gd name="adj" fmla="val 15756"/>
            </a:avLst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386941" y="4723051"/>
            <a:ext cx="180234" cy="180234"/>
          </a:xfrm>
          <a:prstGeom prst="diamond">
            <a:avLst/>
          </a:prstGeom>
          <a:solidFill>
            <a:srgbClr val="39A935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540452" y="5293792"/>
            <a:ext cx="9011703" cy="3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proyek pengembangan modul akademik selama 7 minggu. Bar hijau menandai milestone peluncuran.</a:t>
            </a:r>
            <a:endParaRPr lang="en-US" sz="1000" dirty="0"/>
          </a:p>
        </p:txBody>
      </p:sp>
      <p:sp>
        <p:nvSpPr>
          <p:cNvPr id="44" name="TextBox 43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GANTT 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Milestone dalam Gantt 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0573" y="2139696"/>
            <a:ext cx="10048933" cy="1245735"/>
          </a:xfrm>
          <a:prstGeom prst="roundRect">
            <a:avLst>
              <a:gd name="adj" fmla="val 8000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42769" y="2305794"/>
            <a:ext cx="9384540" cy="955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Titik pencapaian penting dalam proyek yang menandai selesainya suatu fase atau deliverable utama — biasanya tidak memiliki durasi.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0573" y="3593054"/>
            <a:ext cx="9633688" cy="20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 tim dan stakeholder memantau kemajuan proyek secara ringkas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sebagai titik evaluasi (checkpoint) sebelum melanjutkan ke fase berikutnya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selesainya desain sistem, peluncuran versi beta, serah terima akhir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GANTT 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Kelebihan &amp; Keterbatasan Gantt 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5081778" cy="3474720"/>
          </a:xfrm>
          <a:prstGeom prst="roundRect">
            <a:avLst>
              <a:gd name="adj" fmla="val 3000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83564" y="2356866"/>
            <a:ext cx="45605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KELEBIHAN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83564" y="2834640"/>
            <a:ext cx="456057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dipahami secara visual oleh berbagai pihak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Memperlihatkan jadwal keseluruhan proyek secara ringkas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memantau progres terhadap rencana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65342" y="2139696"/>
            <a:ext cx="5081778" cy="3474720"/>
          </a:xfrm>
          <a:prstGeom prst="roundRect">
            <a:avLst>
              <a:gd name="adj" fmla="val 3000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25946" y="2356866"/>
            <a:ext cx="45605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9FC4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KETERBATASAN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25946" y="2834640"/>
            <a:ext cx="456057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efektif menampilkan jalur kritis pada proyek kompleks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menampilkan dependensi rumit antaraktivitas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diperbarui rutin agar tetap akurat</a:t>
            </a:r>
            <a:endParaRPr lang="en-US" sz="1300" dirty="0"/>
          </a:p>
        </p:txBody>
      </p:sp>
      <p:sp>
        <p:nvSpPr>
          <p:cNvPr id="10" name="TextBox 9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GANTT 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Tools untuk Membuat Gantt 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3334043" cy="1477107"/>
          </a:xfrm>
          <a:prstGeom prst="roundRect">
            <a:avLst>
              <a:gd name="adj" fmla="val 6857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49569" y="2266305"/>
            <a:ext cx="3080824" cy="1223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68018" y="2139696"/>
            <a:ext cx="3334043" cy="1477107"/>
          </a:xfrm>
          <a:prstGeom prst="roundRect">
            <a:avLst>
              <a:gd name="adj" fmla="val 6857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494627" y="2266305"/>
            <a:ext cx="3080824" cy="1223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Sheets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13076" y="2139696"/>
            <a:ext cx="3334043" cy="1477107"/>
          </a:xfrm>
          <a:prstGeom prst="roundRect">
            <a:avLst>
              <a:gd name="adj" fmla="val 6857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39686" y="2266305"/>
            <a:ext cx="3080824" cy="1223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(Timeline View)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870022"/>
            <a:ext cx="3334043" cy="1477107"/>
          </a:xfrm>
          <a:prstGeom prst="roundRect">
            <a:avLst>
              <a:gd name="adj" fmla="val 6857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49569" y="3996631"/>
            <a:ext cx="3080824" cy="1223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GanttProject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(gratis)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8018" y="3870022"/>
            <a:ext cx="3334043" cy="1477107"/>
          </a:xfrm>
          <a:prstGeom prst="roundRect">
            <a:avLst>
              <a:gd name="adj" fmla="val 6857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94627" y="3996631"/>
            <a:ext cx="3080824" cy="1223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 /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13076" y="3870022"/>
            <a:ext cx="3334043" cy="1477107"/>
          </a:xfrm>
          <a:prstGeom prst="roundRect">
            <a:avLst>
              <a:gd name="adj" fmla="val 6857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39686" y="3996631"/>
            <a:ext cx="3080824" cy="1223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(Roadmap)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STUDI KASUS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Proyek Pengembangan Portal Berita Kampus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10424160" cy="2584502"/>
          </a:xfrm>
          <a:prstGeom prst="roundRect">
            <a:avLst>
              <a:gd name="adj" fmla="val 4000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67560" y="2355071"/>
            <a:ext cx="3446003" cy="258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C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67560" y="2699671"/>
            <a:ext cx="9734959" cy="1895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TI kampus akan membangun portal berita mahasiswa dalam waktu 8 minggu. Aktivitas utama meliputi: analisis kebutuhan (1 minggu), desain (2 minggu), pengembangan front-end &amp; back-end (3 minggu, dapat paralel), pengujian (1 minggu), dan peluncuran (1 minggu).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Susunlah Gantt Chart sederhana untuk proyek ini.</a:t>
            </a:r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STUDI KASUS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Diskusi: Susun Gantt Chart untuk Studi Kasus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39696"/>
            <a:ext cx="10424160" cy="2326052"/>
          </a:xfrm>
          <a:prstGeom prst="roundRect">
            <a:avLst>
              <a:gd name="adj" fmla="val 4444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67560" y="2398146"/>
            <a:ext cx="9734959" cy="1723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minggu mulai dan selesai setiap aktivitas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aktivitas mana yang dapat berjalan paralel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satu milestone penting dalam jadwal tersebut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638048"/>
            <a:ext cx="10424160" cy="3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Diskusikan dalam kelompok kecil (±5 menit), lalu sampaikan hasilnya secara singkat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RANGKUMAN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Poin-Poin Penting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82771"/>
            <a:ext cx="516900" cy="516900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182771"/>
            <a:ext cx="516900" cy="51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512160" y="2139696"/>
            <a:ext cx="9734959" cy="732275"/>
          </a:xfrm>
          <a:prstGeom prst="roundRect">
            <a:avLst>
              <a:gd name="adj" fmla="val 14118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770610" y="2139696"/>
            <a:ext cx="9304208" cy="73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waktu proyek meliputi definisi, urutan, estimasi, penyusunan, dan pengendalian jadwal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61501"/>
            <a:ext cx="516900" cy="516900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3061501"/>
            <a:ext cx="516900" cy="51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512160" y="3018426"/>
            <a:ext cx="9734959" cy="732275"/>
          </a:xfrm>
          <a:prstGeom prst="roundRect">
            <a:avLst>
              <a:gd name="adj" fmla="val 14118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70610" y="3018426"/>
            <a:ext cx="9304208" cy="73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proyek diturunkan dari work package pada WBS, lalu dihubungkan melalui dependensi (FS, SS, FF, SF)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940232"/>
            <a:ext cx="516900" cy="516900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940232"/>
            <a:ext cx="516900" cy="51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512160" y="3897157"/>
            <a:ext cx="9734959" cy="732275"/>
          </a:xfrm>
          <a:prstGeom prst="roundRect">
            <a:avLst>
              <a:gd name="adj" fmla="val 14118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770610" y="3897157"/>
            <a:ext cx="9304208" cy="73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memvisualisasikan jadwal proyek dalam bentuk diagram batang beserta milestone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818963"/>
            <a:ext cx="516900" cy="516900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818963"/>
            <a:ext cx="516900" cy="51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12160" y="4775888"/>
            <a:ext cx="9734959" cy="732275"/>
          </a:xfrm>
          <a:prstGeom prst="roundRect">
            <a:avLst>
              <a:gd name="adj" fmla="val 14118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770610" y="4775888"/>
            <a:ext cx="9304208" cy="73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mudah dipahami, namun kurang efektif untuk memetakan jalur kritis pada proyek kompleks</a:t>
            </a:r>
            <a:endParaRPr lang="en-US" sz="1300" dirty="0"/>
          </a:p>
        </p:txBody>
      </p:sp>
      <p:sp>
        <p:nvSpPr>
          <p:cNvPr id="20" name="TextBox 19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SESI PERKULIAHAN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Rencana Kegiatan Pertemuan Ini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77084" y="2139696"/>
            <a:ext cx="8715911" cy="1080484"/>
          </a:xfrm>
          <a:prstGeom prst="roundRect">
            <a:avLst>
              <a:gd name="adj" fmla="val 8000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929197" y="2391809"/>
            <a:ext cx="576258" cy="576258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929197" y="2391809"/>
            <a:ext cx="576258" cy="57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±60'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57569" y="2283760"/>
            <a:ext cx="6987135" cy="288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Ceramah &amp; Diskusi Konsep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57569" y="2586296"/>
            <a:ext cx="6987135" cy="540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Penjelasan manajemen waktu, dependensi aktivitas, dan Gantt Chart, disertai tanya jawab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77084" y="3364245"/>
            <a:ext cx="8715911" cy="1080484"/>
          </a:xfrm>
          <a:prstGeom prst="roundRect">
            <a:avLst>
              <a:gd name="adj" fmla="val 8000"/>
            </a:avLst>
          </a:prstGeom>
          <a:solidFill>
            <a:srgbClr val="006633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929197" y="3616358"/>
            <a:ext cx="576258" cy="576258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29197" y="3616358"/>
            <a:ext cx="576258" cy="57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±30'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57569" y="3508310"/>
            <a:ext cx="6987135" cy="288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&amp; Diskusi Kelompok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57569" y="3810845"/>
            <a:ext cx="6987135" cy="540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8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Gantt Chart untuk studi kasus proyek portal berita kampus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77084" y="4588795"/>
            <a:ext cx="8715911" cy="1080484"/>
          </a:xfrm>
          <a:prstGeom prst="roundRect">
            <a:avLst>
              <a:gd name="adj" fmla="val 8000"/>
            </a:avLst>
          </a:prstGeom>
          <a:solidFill>
            <a:srgbClr val="F1F7EC"/>
          </a:solidFill>
          <a:ln/>
          <a:effectLst>
            <a:outerShdw blurRad="101600" dist="38100" dir="5400000" algn="bl" rotWithShape="0">
              <a:srgbClr val="006633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929197" y="4840908"/>
            <a:ext cx="576258" cy="576258"/>
          </a:xfrm>
          <a:prstGeom prst="ellipse">
            <a:avLst/>
          </a:prstGeom>
          <a:solidFill>
            <a:srgbClr val="9FC41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929197" y="4840908"/>
            <a:ext cx="576258" cy="576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±10'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57569" y="4732859"/>
            <a:ext cx="6987135" cy="288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Refleksi &amp; Penutup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57569" y="5035395"/>
            <a:ext cx="6987135" cy="540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 materi dan penjelasan Tugas Individu 4</a:t>
            </a:r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22960" y="118872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  <a:solidFill>
                  <a:srgbClr val="1F7A34"/>
                </a:solidFill>
              </a:rPr>
              <a:t>PENUTUP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42646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00381D"/>
                </a:solidFill>
              </a:rPr>
              <a:t>Referensi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08902"/>
            <a:ext cx="432537" cy="432537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208902"/>
            <a:ext cx="432537" cy="43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71766" y="2139696"/>
            <a:ext cx="9775353" cy="778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Institute. A Guide to the Project Management Body of Knowledge (PMBOK® Guide), 7th Edition. PMI, 2021.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117231"/>
            <a:ext cx="432537" cy="432537"/>
          </a:xfrm>
          <a:prstGeom prst="ellipse">
            <a:avLst/>
          </a:prstGeom>
          <a:solidFill>
            <a:srgbClr val="00663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3117231"/>
            <a:ext cx="432537" cy="43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71766" y="3048025"/>
            <a:ext cx="9775353" cy="778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Schwalbe, K. Information Technology Project Management. Cengage Learning.</a:t>
            </a:r>
            <a:endParaRPr lang="en-US" sz="1300" dirty="0"/>
          </a:p>
        </p:txBody>
      </p:sp>
      <p:sp>
        <p:nvSpPr>
          <p:cNvPr id="10" name="TextBox 9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E9B7C"/>
                </a:solidFill>
              </a:rPr>
              <a:t>TIK2111 • Manajemen Proyek TI • Pertemuan 5  •  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1"/>
          <p:cNvSpPr/>
          <p:nvPr/>
        </p:nvSpPr>
        <p:spPr>
          <a:xfrm>
            <a:off x="1874519" y="1691640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  <a:solidFill>
                  <a:srgbClr val="FFFFFF"/>
                </a:solidFill>
              </a:rPr>
              <a:t>Terima Kasih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874519" y="2560320"/>
            <a:ext cx="6446520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&amp; Diskusi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74519" y="3301669"/>
            <a:ext cx="6253124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C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berikutnya: Manajemen Waktu dan Penjadwalan Proyek (CPM/PERT)</a:t>
            </a:r>
            <a:endParaRPr lang="en-US" sz="900" dirty="0"/>
          </a:p>
        </p:txBody>
      </p:sp>
      <p:sp>
        <p:nvSpPr>
          <p:cNvPr id="7" name="TextBox 6"/>
          <p:cNvSpPr txBox="1"/>
          <p:nvPr/>
        </p:nvSpPr>
        <p:spPr>
          <a:xfrm>
            <a:off x="3017520" y="64465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TIK2111 • Manajemen Proyek TI • Pertemuan 5  •  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Fadhil Muhammad Alisyah</cp:lastModifiedBy>
  <cp:revision>5</cp:revision>
  <dcterms:created xsi:type="dcterms:W3CDTF">2021-10-17T13:14:05Z</dcterms:created>
  <dcterms:modified xsi:type="dcterms:W3CDTF">2026-03-09T07:03:36Z</dcterms:modified>
</cp:coreProperties>
</file>