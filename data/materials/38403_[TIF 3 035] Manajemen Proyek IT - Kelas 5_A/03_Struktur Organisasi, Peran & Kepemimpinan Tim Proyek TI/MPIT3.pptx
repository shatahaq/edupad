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1"/>
    <p:restoredTop sz="94714"/>
  </p:normalViewPr>
  <p:slideViewPr>
    <p:cSldViewPr snapToGrid="0" snapToObjects="1">
      <p:cViewPr varScale="1">
        <p:scale>
          <a:sx n="115" d="100"/>
          <a:sy n="115"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rcRect/>
          <a:stretch/>
        </p:blipFill>
        <p:spPr>
          <a:xfrm>
            <a:off x="1" y="0"/>
            <a:ext cx="12191998" cy="6857999"/>
          </a:xfrm>
          <a:prstGeom prst="rect">
            <a:avLst/>
          </a:prstGeom>
        </p:spPr>
      </p:pic>
      <p:sp>
        <p:nvSpPr>
          <p:cNvPr id="2" name="Title 1"/>
          <p:cNvSpPr>
            <a:spLocks noGrp="1"/>
          </p:cNvSpPr>
          <p:nvPr>
            <p:ph type="ctrTitle"/>
          </p:nvPr>
        </p:nvSpPr>
        <p:spPr>
          <a:xfrm>
            <a:off x="2407993" y="1819982"/>
            <a:ext cx="6735380" cy="1815465"/>
          </a:xfrm>
        </p:spPr>
        <p:txBody>
          <a:bodyPr anchor="b"/>
          <a:lstStyle>
            <a:lvl1pPr algn="l">
              <a:defRPr sz="6000" b="1">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407993" y="3899531"/>
            <a:ext cx="6735380" cy="833229"/>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19224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201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50586" y="1178415"/>
            <a:ext cx="10296863" cy="1062645"/>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1050587" y="2519464"/>
            <a:ext cx="10296863" cy="32879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0" y="5926921"/>
            <a:ext cx="2387600" cy="317794"/>
          </a:xfrm>
          <a:prstGeom prst="rect">
            <a:avLst/>
          </a:prstGeom>
        </p:spPr>
        <p:txBody>
          <a:bodyPr/>
          <a:lstStyle/>
          <a:p>
            <a:fld id="{CB16C0DE-2CE3-D544-94DC-617B67A94695}" type="datetimeFigureOut">
              <a:rPr lang="en-US" smtClean="0"/>
              <a:t>9/8/26</a:t>
            </a:fld>
            <a:endParaRPr lang="en-US"/>
          </a:p>
        </p:txBody>
      </p:sp>
      <p:sp>
        <p:nvSpPr>
          <p:cNvPr id="5" name="Footer Placeholder 4"/>
          <p:cNvSpPr>
            <a:spLocks noGrp="1"/>
          </p:cNvSpPr>
          <p:nvPr>
            <p:ph type="ftr" sz="quarter" idx="11"/>
          </p:nvPr>
        </p:nvSpPr>
        <p:spPr>
          <a:xfrm>
            <a:off x="4572000" y="6356351"/>
            <a:ext cx="3581400" cy="317794"/>
          </a:xfrm>
          <a:prstGeom prst="rect">
            <a:avLst/>
          </a:prstGeom>
        </p:spPr>
        <p:txBody>
          <a:bodyPr/>
          <a:lstStyle/>
          <a:p>
            <a:endParaRPr lang="en-US"/>
          </a:p>
        </p:txBody>
      </p:sp>
      <p:sp>
        <p:nvSpPr>
          <p:cNvPr id="6" name="Slide Number Placeholder 5"/>
          <p:cNvSpPr>
            <a:spLocks noGrp="1"/>
          </p:cNvSpPr>
          <p:nvPr>
            <p:ph type="sldNum" sz="quarter" idx="12"/>
          </p:nvPr>
        </p:nvSpPr>
        <p:spPr>
          <a:xfrm>
            <a:off x="8460361" y="6356351"/>
            <a:ext cx="2387600" cy="317794"/>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583404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318" y="999858"/>
            <a:ext cx="10186482" cy="690830"/>
          </a:xfrm>
        </p:spPr>
        <p:txBody>
          <a:bodyPr/>
          <a:lstStyle/>
          <a:p>
            <a:r>
              <a:rPr lang="en-US" dirty="0"/>
              <a:t>Click to edit Master title style</a:t>
            </a:r>
          </a:p>
        </p:txBody>
      </p:sp>
      <p:sp>
        <p:nvSpPr>
          <p:cNvPr id="3" name="Content Placeholder 2"/>
          <p:cNvSpPr>
            <a:spLocks noGrp="1"/>
          </p:cNvSpPr>
          <p:nvPr>
            <p:ph sz="half" idx="1"/>
          </p:nvPr>
        </p:nvSpPr>
        <p:spPr>
          <a:xfrm>
            <a:off x="1167318" y="1825625"/>
            <a:ext cx="4852481" cy="3933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38226" y="6356350"/>
            <a:ext cx="2743200" cy="365125"/>
          </a:xfrm>
          <a:prstGeom prst="rect">
            <a:avLst/>
          </a:prstGeom>
        </p:spPr>
        <p:txBody>
          <a:bodyPr/>
          <a:lstStyle/>
          <a:p>
            <a:fld id="{CB16C0DE-2CE3-D544-94DC-617B67A94695}" type="datetimeFigureOut">
              <a:rPr lang="en-US" smtClean="0"/>
              <a:t>9/8/26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66745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7591" y="943584"/>
            <a:ext cx="6293795" cy="684990"/>
          </a:xfrm>
        </p:spPr>
        <p:txBody>
          <a:bodyPr>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57591" y="1790899"/>
            <a:ext cx="4839984" cy="60818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7591" y="2505075"/>
            <a:ext cx="4839984" cy="3312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91568" y="1790899"/>
            <a:ext cx="4863820" cy="60818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91568" y="2505075"/>
            <a:ext cx="4863820" cy="3312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7853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18770" y="6356350"/>
            <a:ext cx="2743200" cy="365125"/>
          </a:xfrm>
          <a:prstGeom prst="rect">
            <a:avLst/>
          </a:prstGeom>
        </p:spPr>
        <p:txBody>
          <a:bodyPr/>
          <a:lstStyle/>
          <a:p>
            <a:fld id="{CB16C0DE-2CE3-D544-94DC-617B67A94695}" type="datetimeFigureOut">
              <a:rPr lang="en-US" smtClean="0"/>
              <a:t>9/8/26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892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248172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4537" y="1361872"/>
            <a:ext cx="3932237" cy="924128"/>
          </a:xfrm>
        </p:spPr>
        <p:txBody>
          <a:bodyPr anchor="b">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5680952" y="1361872"/>
            <a:ext cx="5674435" cy="449917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384537" y="2422186"/>
            <a:ext cx="3932237" cy="34468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409851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1177047"/>
            <a:ext cx="6172200" cy="45202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196502" y="1170418"/>
            <a:ext cx="3793787" cy="45202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a:xfrm>
            <a:off x="5183188" y="5991224"/>
            <a:ext cx="4114800" cy="365125"/>
          </a:xfrm>
          <a:prstGeom prst="rect">
            <a:avLst/>
          </a:prstGeom>
        </p:spPr>
        <p:txBody>
          <a:bodyPr/>
          <a:lstStyle/>
          <a:p>
            <a:endParaRPr lang="en-US" dirty="0"/>
          </a:p>
        </p:txBody>
      </p:sp>
    </p:spTree>
    <p:extLst>
      <p:ext uri="{BB962C8B-B14F-4D97-AF65-F5344CB8AC3E}">
        <p14:creationId xmlns:p14="http://schemas.microsoft.com/office/powerpoint/2010/main" val="32590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72766" y="1466784"/>
            <a:ext cx="10690698" cy="2560465"/>
          </a:xfrm>
        </p:spPr>
        <p:txBody>
          <a:bodyPr/>
          <a:lstStyle/>
          <a:p>
            <a:r>
              <a:rPr lang="en-US"/>
              <a:t>Click to edit Master title style</a:t>
            </a:r>
          </a:p>
        </p:txBody>
      </p:sp>
      <p:sp>
        <p:nvSpPr>
          <p:cNvPr id="5" name="Footer Placeholder 4"/>
          <p:cNvSpPr>
            <a:spLocks noGrp="1"/>
          </p:cNvSpPr>
          <p:nvPr>
            <p:ph type="ftr" sz="quarter" idx="11"/>
          </p:nvPr>
        </p:nvSpPr>
        <p:spPr>
          <a:xfrm>
            <a:off x="4348264" y="4276728"/>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920264" y="4276728"/>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48321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12"/>
          <a:srcRect/>
          <a:stretch/>
        </p:blipFill>
        <p:spPr>
          <a:xfrm>
            <a:off x="3175" y="1786"/>
            <a:ext cx="12185649" cy="6854427"/>
          </a:xfrm>
          <a:prstGeom prst="rect">
            <a:avLst/>
          </a:prstGeom>
        </p:spPr>
      </p:pic>
      <p:sp>
        <p:nvSpPr>
          <p:cNvPr id="2" name="Title Placeholder 1"/>
          <p:cNvSpPr>
            <a:spLocks noGrp="1"/>
          </p:cNvSpPr>
          <p:nvPr>
            <p:ph type="title"/>
          </p:nvPr>
        </p:nvSpPr>
        <p:spPr>
          <a:xfrm>
            <a:off x="972766" y="1257615"/>
            <a:ext cx="10690698" cy="69083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72766" y="2086252"/>
            <a:ext cx="10690698" cy="3835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6204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874519" y="1417320"/>
            <a:ext cx="6446520" cy="219456"/>
          </a:xfrm>
          <a:prstGeom prst="rect">
            <a:avLst/>
          </a:prstGeom>
          <a:noFill/>
          <a:ln/>
        </p:spPr>
        <p:txBody>
          <a:bodyPr wrap="square" lIns="0" tIns="0" rIns="0" bIns="0" rtlCol="0" anchor="ctr"/>
          <a:lstStyle/>
          <a:p>
            <a:pPr marL="0" indent="0">
              <a:buNone/>
            </a:pPr>
            <a:r>
              <a:rPr lang="en-US" sz="1100" b="1" kern="0" spc="200" dirty="0">
                <a:latin typeface="Calibri" pitchFamily="34" charset="0"/>
                <a:ea typeface="Calibri" pitchFamily="34" charset="-122"/>
                <a:cs typeface="Calibri" pitchFamily="34" charset="-120"/>
              </a:rPr>
              <a:t>TIK2111 • MANAJEMEN PROYEK TI</a:t>
            </a:r>
            <a:endParaRPr lang="en-US" sz="1400" dirty="0"/>
          </a:p>
        </p:txBody>
      </p:sp>
      <p:sp>
        <p:nvSpPr>
          <p:cNvPr id="5" name="Text 3"/>
          <p:cNvSpPr/>
          <p:nvPr/>
        </p:nvSpPr>
        <p:spPr>
          <a:xfrm>
            <a:off x="1874519" y="1691640"/>
            <a:ext cx="6446520" cy="822960"/>
          </a:xfrm>
          <a:prstGeom prst="rect">
            <a:avLst/>
          </a:prstGeom>
          <a:noFill/>
          <a:ln/>
        </p:spPr>
        <p:txBody>
          <a:bodyPr wrap="square" lIns="0" tIns="0" rIns="0" bIns="0" rtlCol="0" anchor="t"/>
          <a:lstStyle/>
          <a:p>
            <a:pPr marL="0" indent="0">
              <a:lnSpc>
                <a:spcPct val="108000"/>
              </a:lnSpc>
              <a:buNone/>
            </a:pPr>
            <a:r>
              <a:rPr lang="en-US" sz="2700" b="1" dirty="0">
                <a:latin typeface="Cambria" pitchFamily="34" charset="0"/>
                <a:ea typeface="Cambria" pitchFamily="34" charset="-122"/>
                <a:cs typeface="Cambria" pitchFamily="34" charset="-120"/>
              </a:rPr>
              <a:t>Struktur Organisasi, Peran &amp;</a:t>
            </a:r>
            <a:endParaRPr lang="en-US" sz="4000" dirty="0"/>
          </a:p>
          <a:p>
            <a:pPr marL="0" indent="0">
              <a:lnSpc>
                <a:spcPct val="108000"/>
              </a:lnSpc>
              <a:buNone/>
            </a:pPr>
            <a:r>
              <a:rPr lang="en-US" sz="2700" b="1" dirty="0">
                <a:latin typeface="Cambria" pitchFamily="34" charset="0"/>
                <a:ea typeface="Cambria" pitchFamily="34" charset="-122"/>
                <a:cs typeface="Cambria" pitchFamily="34" charset="-120"/>
              </a:rPr>
              <a:t>Kepemimpinan Tim Proyek TI</a:t>
            </a:r>
            <a:endParaRPr lang="en-US" sz="4000" dirty="0"/>
          </a:p>
        </p:txBody>
      </p:sp>
      <p:sp>
        <p:nvSpPr>
          <p:cNvPr id="6" name="Text 4"/>
          <p:cNvSpPr/>
          <p:nvPr/>
        </p:nvSpPr>
        <p:spPr>
          <a:xfrm>
            <a:off x="1874519" y="2560320"/>
            <a:ext cx="6446519" cy="306977"/>
          </a:xfrm>
          <a:prstGeom prst="rect">
            <a:avLst/>
          </a:prstGeom>
          <a:noFill/>
          <a:ln/>
        </p:spPr>
        <p:txBody>
          <a:bodyPr wrap="square" lIns="0" tIns="0" rIns="0" bIns="0" rtlCol="0" anchor="ctr"/>
          <a:lstStyle/>
          <a:p>
            <a:pPr marL="0" indent="0">
              <a:buNone/>
            </a:pPr>
            <a:r>
              <a:rPr lang="en-US" sz="1100" i="1" dirty="0">
                <a:solidFill>
                  <a:srgbClr val="9FC41D"/>
                </a:solidFill>
                <a:latin typeface="Calibri" pitchFamily="34" charset="0"/>
                <a:ea typeface="Calibri" pitchFamily="34" charset="-122"/>
                <a:cs typeface="Calibri" pitchFamily="34" charset="-120"/>
              </a:rPr>
              <a:t>Komunikasi &amp; Etika Profesional dalam Tim Proyek</a:t>
            </a:r>
            <a:endParaRPr lang="en-US" sz="1100" dirty="0"/>
          </a:p>
        </p:txBody>
      </p:sp>
      <p:sp>
        <p:nvSpPr>
          <p:cNvPr id="7" name="Text 5"/>
          <p:cNvSpPr/>
          <p:nvPr/>
        </p:nvSpPr>
        <p:spPr>
          <a:xfrm>
            <a:off x="1874519" y="2897994"/>
            <a:ext cx="4911634" cy="306977"/>
          </a:xfrm>
          <a:prstGeom prst="rect">
            <a:avLst/>
          </a:prstGeom>
          <a:noFill/>
          <a:ln/>
        </p:spPr>
        <p:txBody>
          <a:bodyPr wrap="square" lIns="0" tIns="0" rIns="0" bIns="0" rtlCol="0" anchor="ctr"/>
          <a:lstStyle/>
          <a:p>
            <a:pPr marL="0" indent="0">
              <a:buNone/>
            </a:pPr>
            <a:r>
              <a:rPr lang="en-US" sz="1100" dirty="0">
                <a:solidFill>
                  <a:srgbClr val="D8E8C8"/>
                </a:solidFill>
                <a:latin typeface="Calibri" pitchFamily="34" charset="0"/>
                <a:ea typeface="Calibri" pitchFamily="34" charset="-122"/>
                <a:cs typeface="Calibri" pitchFamily="34" charset="-120"/>
              </a:rPr>
              <a:t>Pertemuan 3  •  Sub-CPMK 2</a:t>
            </a:r>
            <a:endParaRPr lang="en-US" sz="1100" dirty="0"/>
          </a:p>
        </p:txBody>
      </p:sp>
      <p:sp>
        <p:nvSpPr>
          <p:cNvPr id="8" name="Text 7"/>
          <p:cNvSpPr/>
          <p:nvPr/>
        </p:nvSpPr>
        <p:spPr>
          <a:xfrm>
            <a:off x="1874519" y="3911019"/>
            <a:ext cx="5525588" cy="214883"/>
          </a:xfrm>
          <a:prstGeom prst="rect">
            <a:avLst/>
          </a:prstGeom>
          <a:noFill/>
          <a:ln/>
        </p:spPr>
        <p:txBody>
          <a:bodyPr wrap="square" lIns="0" tIns="0" rIns="0" bIns="0" rtlCol="0" anchor="ctr"/>
          <a:lstStyle/>
          <a:p>
            <a:pPr marL="0" indent="0">
              <a:buNone/>
            </a:pPr>
            <a:r>
              <a:rPr lang="en-US" sz="1200" dirty="0">
                <a:solidFill>
                  <a:srgbClr val="DCE8D0"/>
                </a:solidFill>
                <a:latin typeface="Calibri" pitchFamily="34" charset="0"/>
                <a:ea typeface="Calibri" pitchFamily="34" charset="-122"/>
                <a:cs typeface="Calibri" pitchFamily="34" charset="-120"/>
              </a:rPr>
              <a:t>Program Studi D3 Teknik Informatika — Fakultas Vokasi USU</a:t>
            </a:r>
            <a:endParaRPr lang="en-US" sz="1200" dirty="0"/>
          </a:p>
        </p:txBody>
      </p:sp>
      <p:sp>
        <p:nvSpPr>
          <p:cNvPr id="9" name="Text 8"/>
          <p:cNvSpPr/>
          <p:nvPr/>
        </p:nvSpPr>
        <p:spPr>
          <a:xfrm>
            <a:off x="1874519" y="4125903"/>
            <a:ext cx="5525588" cy="214883"/>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Zulhamsyah Fachrurrazi Nasution, S.Kom., M.MSI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RECAP PERTEMUAN SEBELUMNYA</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Sebelumnya Kita Sudah Belajar…</a:t>
            </a:r>
            <a:endParaRPr lang="en-US" sz="3200" dirty="0"/>
          </a:p>
        </p:txBody>
      </p:sp>
      <p:sp>
        <p:nvSpPr>
          <p:cNvPr id="4" name="Shape 2"/>
          <p:cNvSpPr/>
          <p:nvPr/>
        </p:nvSpPr>
        <p:spPr>
          <a:xfrm>
            <a:off x="822960" y="2139696"/>
            <a:ext cx="3303128" cy="3088640"/>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080346" y="2397082"/>
            <a:ext cx="471875" cy="471875"/>
          </a:xfrm>
          <a:prstGeom prst="ellipse">
            <a:avLst/>
          </a:prstGeom>
          <a:solidFill>
            <a:srgbClr val="006633"/>
          </a:solidFill>
          <a:ln/>
        </p:spPr>
        <p:txBody>
          <a:bodyPr/>
          <a:lstStyle/>
          <a:p>
            <a:endParaRPr/>
          </a:p>
        </p:txBody>
      </p:sp>
      <p:sp>
        <p:nvSpPr>
          <p:cNvPr id="6" name="Text 4"/>
          <p:cNvSpPr/>
          <p:nvPr/>
        </p:nvSpPr>
        <p:spPr>
          <a:xfrm>
            <a:off x="1080346" y="2397082"/>
            <a:ext cx="471875" cy="471875"/>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080346" y="3040549"/>
            <a:ext cx="2788355" cy="514773"/>
          </a:xfrm>
          <a:prstGeom prst="rect">
            <a:avLst/>
          </a:prstGeom>
          <a:noFill/>
          <a:ln/>
        </p:spPr>
        <p:txBody>
          <a:bodyPr wrap="square" lIns="0" tIns="0" rIns="0" bIns="0" rtlCol="0" anchor="ctr"/>
          <a:lstStyle/>
          <a:p>
            <a:pPr marL="0" indent="0">
              <a:lnSpc>
                <a:spcPct val="110000"/>
              </a:lnSpc>
              <a:buNone/>
            </a:pPr>
            <a:r>
              <a:rPr lang="en-US" sz="1500" b="1" dirty="0">
                <a:solidFill>
                  <a:srgbClr val="006633"/>
                </a:solidFill>
                <a:latin typeface="Cambria" pitchFamily="34" charset="0"/>
                <a:ea typeface="Cambria" pitchFamily="34" charset="-122"/>
                <a:cs typeface="Cambria" pitchFamily="34" charset="-120"/>
              </a:rPr>
              <a:t>PMBOK</a:t>
            </a:r>
            <a:endParaRPr lang="en-US" sz="1500" dirty="0"/>
          </a:p>
        </p:txBody>
      </p:sp>
      <p:sp>
        <p:nvSpPr>
          <p:cNvPr id="8" name="Text 6"/>
          <p:cNvSpPr/>
          <p:nvPr/>
        </p:nvSpPr>
        <p:spPr>
          <a:xfrm>
            <a:off x="1080346" y="3598220"/>
            <a:ext cx="2788355" cy="1544320"/>
          </a:xfrm>
          <a:prstGeom prst="rect">
            <a:avLst/>
          </a:prstGeom>
          <a:noFill/>
          <a:ln/>
        </p:spPr>
        <p:txBody>
          <a:bodyPr wrap="square" lIns="0" tIns="0" rIns="0" bIns="0" rtlCol="0" anchor="ctr"/>
          <a:lstStyle/>
          <a:p>
            <a:pPr marL="0" indent="0">
              <a:lnSpc>
                <a:spcPct val="125000"/>
              </a:lnSpc>
              <a:buNone/>
            </a:pPr>
            <a:r>
              <a:rPr lang="en-US" sz="1200" dirty="0">
                <a:solidFill>
                  <a:srgbClr val="1F7A34"/>
                </a:solidFill>
                <a:latin typeface="Calibri" pitchFamily="34" charset="0"/>
                <a:ea typeface="Calibri" pitchFamily="34" charset="-122"/>
                <a:cs typeface="Calibri" pitchFamily="34" charset="-120"/>
              </a:rPr>
              <a:t>Standar praktik terbaik dengan 10 bidang pengetahuan sebagai dasar pendekatan predictive</a:t>
            </a:r>
            <a:endParaRPr lang="en-US" sz="1200" dirty="0"/>
          </a:p>
        </p:txBody>
      </p:sp>
      <p:sp>
        <p:nvSpPr>
          <p:cNvPr id="9" name="Shape 7"/>
          <p:cNvSpPr/>
          <p:nvPr/>
        </p:nvSpPr>
        <p:spPr>
          <a:xfrm>
            <a:off x="4383475" y="2139696"/>
            <a:ext cx="3303128" cy="3088640"/>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4640862" y="2397082"/>
            <a:ext cx="471875" cy="471875"/>
          </a:xfrm>
          <a:prstGeom prst="ellipse">
            <a:avLst/>
          </a:prstGeom>
          <a:solidFill>
            <a:srgbClr val="006633"/>
          </a:solidFill>
          <a:ln/>
        </p:spPr>
        <p:txBody>
          <a:bodyPr/>
          <a:lstStyle/>
          <a:p>
            <a:endParaRPr/>
          </a:p>
        </p:txBody>
      </p:sp>
      <p:sp>
        <p:nvSpPr>
          <p:cNvPr id="11" name="Text 9"/>
          <p:cNvSpPr/>
          <p:nvPr/>
        </p:nvSpPr>
        <p:spPr>
          <a:xfrm>
            <a:off x="4640862" y="2397082"/>
            <a:ext cx="471875" cy="471875"/>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640862" y="3040549"/>
            <a:ext cx="2788355" cy="514773"/>
          </a:xfrm>
          <a:prstGeom prst="rect">
            <a:avLst/>
          </a:prstGeom>
          <a:noFill/>
          <a:ln/>
        </p:spPr>
        <p:txBody>
          <a:bodyPr wrap="square" lIns="0" tIns="0" rIns="0" bIns="0" rtlCol="0" anchor="ctr"/>
          <a:lstStyle/>
          <a:p>
            <a:pPr marL="0" indent="0">
              <a:lnSpc>
                <a:spcPct val="110000"/>
              </a:lnSpc>
              <a:buNone/>
            </a:pPr>
            <a:r>
              <a:rPr lang="en-US" sz="1500" b="1" dirty="0">
                <a:solidFill>
                  <a:srgbClr val="006633"/>
                </a:solidFill>
                <a:latin typeface="Cambria" pitchFamily="34" charset="0"/>
                <a:ea typeface="Cambria" pitchFamily="34" charset="-122"/>
                <a:cs typeface="Cambria" pitchFamily="34" charset="-120"/>
              </a:rPr>
              <a:t>Agile &amp; Scrum</a:t>
            </a:r>
            <a:endParaRPr lang="en-US" sz="1500" dirty="0"/>
          </a:p>
        </p:txBody>
      </p:sp>
      <p:sp>
        <p:nvSpPr>
          <p:cNvPr id="13" name="Text 11"/>
          <p:cNvSpPr/>
          <p:nvPr/>
        </p:nvSpPr>
        <p:spPr>
          <a:xfrm>
            <a:off x="4640862" y="3598220"/>
            <a:ext cx="2788355" cy="1544320"/>
          </a:xfrm>
          <a:prstGeom prst="rect">
            <a:avLst/>
          </a:prstGeom>
          <a:noFill/>
          <a:ln/>
        </p:spPr>
        <p:txBody>
          <a:bodyPr wrap="square" lIns="0" tIns="0" rIns="0" bIns="0" rtlCol="0" anchor="ctr"/>
          <a:lstStyle/>
          <a:p>
            <a:pPr marL="0" indent="0">
              <a:lnSpc>
                <a:spcPct val="125000"/>
              </a:lnSpc>
              <a:buNone/>
            </a:pPr>
            <a:r>
              <a:rPr lang="en-US" sz="1200" dirty="0">
                <a:solidFill>
                  <a:srgbClr val="1F7A34"/>
                </a:solidFill>
                <a:latin typeface="Calibri" pitchFamily="34" charset="0"/>
                <a:ea typeface="Calibri" pitchFamily="34" charset="-122"/>
                <a:cs typeface="Calibri" pitchFamily="34" charset="-120"/>
              </a:rPr>
              <a:t>Pendekatan adaptive &amp; iteratif melalui siklus Sprint, cocok untuk kebutuhan yang dinamis</a:t>
            </a:r>
            <a:endParaRPr lang="en-US" sz="1200" dirty="0"/>
          </a:p>
        </p:txBody>
      </p:sp>
      <p:sp>
        <p:nvSpPr>
          <p:cNvPr id="14" name="Shape 12"/>
          <p:cNvSpPr/>
          <p:nvPr/>
        </p:nvSpPr>
        <p:spPr>
          <a:xfrm>
            <a:off x="7943991" y="2139696"/>
            <a:ext cx="3303128" cy="3088640"/>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8201377" y="2397082"/>
            <a:ext cx="471875" cy="471875"/>
          </a:xfrm>
          <a:prstGeom prst="ellipse">
            <a:avLst/>
          </a:prstGeom>
          <a:solidFill>
            <a:srgbClr val="006633"/>
          </a:solidFill>
          <a:ln/>
        </p:spPr>
        <p:txBody>
          <a:bodyPr/>
          <a:lstStyle/>
          <a:p>
            <a:endParaRPr/>
          </a:p>
        </p:txBody>
      </p:sp>
      <p:sp>
        <p:nvSpPr>
          <p:cNvPr id="16" name="Text 14"/>
          <p:cNvSpPr/>
          <p:nvPr/>
        </p:nvSpPr>
        <p:spPr>
          <a:xfrm>
            <a:off x="8201377" y="2397082"/>
            <a:ext cx="471875" cy="471875"/>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201377" y="3040549"/>
            <a:ext cx="2788355" cy="514773"/>
          </a:xfrm>
          <a:prstGeom prst="rect">
            <a:avLst/>
          </a:prstGeom>
          <a:noFill/>
          <a:ln/>
        </p:spPr>
        <p:txBody>
          <a:bodyPr wrap="square" lIns="0" tIns="0" rIns="0" bIns="0" rtlCol="0" anchor="ctr"/>
          <a:lstStyle/>
          <a:p>
            <a:pPr marL="0" indent="0">
              <a:lnSpc>
                <a:spcPct val="110000"/>
              </a:lnSpc>
              <a:buNone/>
            </a:pPr>
            <a:r>
              <a:rPr lang="en-US" sz="1500" b="1" dirty="0">
                <a:solidFill>
                  <a:srgbClr val="006633"/>
                </a:solidFill>
                <a:latin typeface="Cambria" pitchFamily="34" charset="0"/>
                <a:ea typeface="Cambria" pitchFamily="34" charset="-122"/>
                <a:cs typeface="Cambria" pitchFamily="34" charset="-120"/>
              </a:rPr>
              <a:t>Memilih Metodologi</a:t>
            </a:r>
            <a:endParaRPr lang="en-US" sz="1500" dirty="0"/>
          </a:p>
        </p:txBody>
      </p:sp>
      <p:sp>
        <p:nvSpPr>
          <p:cNvPr id="18" name="Text 16"/>
          <p:cNvSpPr/>
          <p:nvPr/>
        </p:nvSpPr>
        <p:spPr>
          <a:xfrm>
            <a:off x="8201377" y="3598220"/>
            <a:ext cx="2788355" cy="1544320"/>
          </a:xfrm>
          <a:prstGeom prst="rect">
            <a:avLst/>
          </a:prstGeom>
          <a:noFill/>
          <a:ln/>
        </p:spPr>
        <p:txBody>
          <a:bodyPr wrap="square" lIns="0" tIns="0" rIns="0" bIns="0" rtlCol="0" anchor="ctr"/>
          <a:lstStyle/>
          <a:p>
            <a:pPr marL="0" indent="0">
              <a:lnSpc>
                <a:spcPct val="125000"/>
              </a:lnSpc>
              <a:buNone/>
            </a:pPr>
            <a:r>
              <a:rPr lang="en-US" sz="1200" dirty="0">
                <a:solidFill>
                  <a:srgbClr val="1F7A34"/>
                </a:solidFill>
                <a:latin typeface="Calibri" pitchFamily="34" charset="0"/>
                <a:ea typeface="Calibri" pitchFamily="34" charset="-122"/>
                <a:cs typeface="Calibri" pitchFamily="34" charset="-120"/>
              </a:rPr>
              <a:t>Bergantung pada kejelasan requirement, keterlibatan klien, dan toleransi risiko proyek</a:t>
            </a:r>
            <a:endParaRPr lang="en-US" sz="1200" dirty="0"/>
          </a:p>
        </p:txBody>
      </p:sp>
      <p:sp>
        <p:nvSpPr>
          <p:cNvPr id="19" name="TextBox 1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PETA PEMBELAJARAN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Agenda Hari Ini</a:t>
            </a:r>
            <a:endParaRPr lang="en-US" sz="3200" dirty="0"/>
          </a:p>
        </p:txBody>
      </p:sp>
      <p:sp>
        <p:nvSpPr>
          <p:cNvPr id="4" name="Shape 2"/>
          <p:cNvSpPr/>
          <p:nvPr/>
        </p:nvSpPr>
        <p:spPr>
          <a:xfrm>
            <a:off x="2010654"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208575" y="2416784"/>
            <a:ext cx="461814" cy="461814"/>
          </a:xfrm>
          <a:prstGeom prst="ellipse">
            <a:avLst/>
          </a:prstGeom>
          <a:solidFill>
            <a:srgbClr val="006633"/>
          </a:solidFill>
          <a:ln/>
        </p:spPr>
        <p:txBody>
          <a:bodyPr/>
          <a:lstStyle/>
          <a:p>
            <a:endParaRPr/>
          </a:p>
        </p:txBody>
      </p:sp>
      <p:sp>
        <p:nvSpPr>
          <p:cNvPr id="6" name="Text 4"/>
          <p:cNvSpPr/>
          <p:nvPr/>
        </p:nvSpPr>
        <p:spPr>
          <a:xfrm>
            <a:off x="2208575"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2802336" y="2139696"/>
            <a:ext cx="2869848" cy="1022589"/>
          </a:xfrm>
          <a:prstGeom prst="rect">
            <a:avLst/>
          </a:prstGeom>
          <a:noFill/>
          <a:ln/>
        </p:spPr>
        <p:txBody>
          <a:bodyPr wrap="square" lIns="0" tIns="0" rIns="0" bIns="0" rtlCol="0" anchor="ctr"/>
          <a:lstStyle/>
          <a:p>
            <a:pPr marL="0" indent="0">
              <a:lnSpc>
                <a:spcPct val="115000"/>
              </a:lnSpc>
              <a:buNone/>
            </a:pPr>
            <a:r>
              <a:rPr lang="en-US" sz="1000" b="1" dirty="0">
                <a:solidFill>
                  <a:srgbClr val="1F7A34"/>
                </a:solidFill>
                <a:latin typeface="Calibri" pitchFamily="34" charset="0"/>
                <a:ea typeface="Calibri" pitchFamily="34" charset="-122"/>
                <a:cs typeface="Calibri" pitchFamily="34" charset="-120"/>
              </a:rPr>
              <a:t>Struktur organisasi proyek: Fungsional, Matriks, Projectized</a:t>
            </a:r>
            <a:endParaRPr lang="en-US" sz="1000" dirty="0"/>
          </a:p>
        </p:txBody>
      </p:sp>
      <p:sp>
        <p:nvSpPr>
          <p:cNvPr id="8" name="Shape 6"/>
          <p:cNvSpPr/>
          <p:nvPr/>
        </p:nvSpPr>
        <p:spPr>
          <a:xfrm>
            <a:off x="6199973"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Shape 7"/>
          <p:cNvSpPr/>
          <p:nvPr/>
        </p:nvSpPr>
        <p:spPr>
          <a:xfrm>
            <a:off x="6397894" y="2416784"/>
            <a:ext cx="461814" cy="461814"/>
          </a:xfrm>
          <a:prstGeom prst="ellipse">
            <a:avLst/>
          </a:prstGeom>
          <a:solidFill>
            <a:srgbClr val="006633"/>
          </a:solidFill>
          <a:ln/>
        </p:spPr>
        <p:txBody>
          <a:bodyPr/>
          <a:lstStyle/>
          <a:p>
            <a:endParaRPr/>
          </a:p>
        </p:txBody>
      </p:sp>
      <p:sp>
        <p:nvSpPr>
          <p:cNvPr id="10" name="Text 8"/>
          <p:cNvSpPr/>
          <p:nvPr/>
        </p:nvSpPr>
        <p:spPr>
          <a:xfrm>
            <a:off x="6397894"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6991656" y="2139696"/>
            <a:ext cx="2869848" cy="1022589"/>
          </a:xfrm>
          <a:prstGeom prst="rect">
            <a:avLst/>
          </a:prstGeom>
          <a:noFill/>
          <a:ln/>
        </p:spPr>
        <p:txBody>
          <a:bodyPr wrap="square" lIns="0" tIns="0" rIns="0" bIns="0" rtlCol="0" anchor="ctr"/>
          <a:lstStyle/>
          <a:p>
            <a:pPr marL="0" indent="0">
              <a:lnSpc>
                <a:spcPct val="115000"/>
              </a:lnSpc>
              <a:buNone/>
            </a:pPr>
            <a:r>
              <a:rPr lang="en-US" sz="1000" b="1" dirty="0">
                <a:solidFill>
                  <a:srgbClr val="1F7A34"/>
                </a:solidFill>
                <a:latin typeface="Calibri" pitchFamily="34" charset="0"/>
                <a:ea typeface="Calibri" pitchFamily="34" charset="-122"/>
                <a:cs typeface="Calibri" pitchFamily="34" charset="-120"/>
              </a:rPr>
              <a:t>Peran-peran dalam tim proyek TI</a:t>
            </a:r>
            <a:endParaRPr lang="en-US" sz="1000" dirty="0"/>
          </a:p>
        </p:txBody>
      </p:sp>
      <p:sp>
        <p:nvSpPr>
          <p:cNvPr id="12" name="Shape 10"/>
          <p:cNvSpPr/>
          <p:nvPr/>
        </p:nvSpPr>
        <p:spPr>
          <a:xfrm>
            <a:off x="2010654"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Shape 11"/>
          <p:cNvSpPr/>
          <p:nvPr/>
        </p:nvSpPr>
        <p:spPr>
          <a:xfrm>
            <a:off x="2208575" y="3670281"/>
            <a:ext cx="461814" cy="461814"/>
          </a:xfrm>
          <a:prstGeom prst="ellipse">
            <a:avLst/>
          </a:prstGeom>
          <a:solidFill>
            <a:srgbClr val="006633"/>
          </a:solidFill>
          <a:ln/>
        </p:spPr>
        <p:txBody>
          <a:bodyPr/>
          <a:lstStyle/>
          <a:p>
            <a:endParaRPr/>
          </a:p>
        </p:txBody>
      </p:sp>
      <p:sp>
        <p:nvSpPr>
          <p:cNvPr id="14" name="Text 12"/>
          <p:cNvSpPr/>
          <p:nvPr/>
        </p:nvSpPr>
        <p:spPr>
          <a:xfrm>
            <a:off x="2208575"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2802336" y="3393193"/>
            <a:ext cx="2869848" cy="1022589"/>
          </a:xfrm>
          <a:prstGeom prst="rect">
            <a:avLst/>
          </a:prstGeom>
          <a:noFill/>
          <a:ln/>
        </p:spPr>
        <p:txBody>
          <a:bodyPr wrap="square" lIns="0" tIns="0" rIns="0" bIns="0" rtlCol="0" anchor="ctr"/>
          <a:lstStyle/>
          <a:p>
            <a:pPr marL="0" indent="0">
              <a:lnSpc>
                <a:spcPct val="115000"/>
              </a:lnSpc>
              <a:buNone/>
            </a:pPr>
            <a:r>
              <a:rPr lang="en-US" sz="1000" b="1" dirty="0">
                <a:solidFill>
                  <a:srgbClr val="1F7A34"/>
                </a:solidFill>
                <a:latin typeface="Calibri" pitchFamily="34" charset="0"/>
                <a:ea typeface="Calibri" pitchFamily="34" charset="-122"/>
                <a:cs typeface="Calibri" pitchFamily="34" charset="-120"/>
              </a:rPr>
              <a:t>Kompetensi &amp; gaya kepemimpinan project manager</a:t>
            </a:r>
            <a:endParaRPr lang="en-US" sz="1000" dirty="0"/>
          </a:p>
        </p:txBody>
      </p:sp>
      <p:sp>
        <p:nvSpPr>
          <p:cNvPr id="16" name="Shape 14"/>
          <p:cNvSpPr/>
          <p:nvPr/>
        </p:nvSpPr>
        <p:spPr>
          <a:xfrm>
            <a:off x="6199973"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7" name="Shape 15"/>
          <p:cNvSpPr/>
          <p:nvPr/>
        </p:nvSpPr>
        <p:spPr>
          <a:xfrm>
            <a:off x="6397894" y="3670281"/>
            <a:ext cx="461814" cy="461814"/>
          </a:xfrm>
          <a:prstGeom prst="ellipse">
            <a:avLst/>
          </a:prstGeom>
          <a:solidFill>
            <a:srgbClr val="006633"/>
          </a:solidFill>
          <a:ln/>
        </p:spPr>
        <p:txBody>
          <a:bodyPr/>
          <a:lstStyle/>
          <a:p>
            <a:endParaRPr/>
          </a:p>
        </p:txBody>
      </p:sp>
      <p:sp>
        <p:nvSpPr>
          <p:cNvPr id="18" name="Text 16"/>
          <p:cNvSpPr/>
          <p:nvPr/>
        </p:nvSpPr>
        <p:spPr>
          <a:xfrm>
            <a:off x="6397894"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6991656" y="3393193"/>
            <a:ext cx="2869848" cy="1022589"/>
          </a:xfrm>
          <a:prstGeom prst="rect">
            <a:avLst/>
          </a:prstGeom>
          <a:noFill/>
          <a:ln/>
        </p:spPr>
        <p:txBody>
          <a:bodyPr wrap="square" lIns="0" tIns="0" rIns="0" bIns="0" rtlCol="0" anchor="ctr"/>
          <a:lstStyle/>
          <a:p>
            <a:pPr marL="0" indent="0">
              <a:lnSpc>
                <a:spcPct val="115000"/>
              </a:lnSpc>
              <a:buNone/>
            </a:pPr>
            <a:r>
              <a:rPr lang="en-US" sz="1000" b="1" dirty="0">
                <a:solidFill>
                  <a:srgbClr val="1F7A34"/>
                </a:solidFill>
                <a:latin typeface="Calibri" pitchFamily="34" charset="0"/>
                <a:ea typeface="Calibri" pitchFamily="34" charset="-122"/>
                <a:cs typeface="Calibri" pitchFamily="34" charset="-120"/>
              </a:rPr>
              <a:t>Komunikasi efektif dalam tim proyek</a:t>
            </a:r>
            <a:endParaRPr lang="en-US" sz="1000" dirty="0"/>
          </a:p>
        </p:txBody>
      </p:sp>
      <p:sp>
        <p:nvSpPr>
          <p:cNvPr id="20" name="Shape 18"/>
          <p:cNvSpPr/>
          <p:nvPr/>
        </p:nvSpPr>
        <p:spPr>
          <a:xfrm>
            <a:off x="2010654"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1" name="Shape 19"/>
          <p:cNvSpPr/>
          <p:nvPr/>
        </p:nvSpPr>
        <p:spPr>
          <a:xfrm>
            <a:off x="2208575" y="4923779"/>
            <a:ext cx="461814" cy="461814"/>
          </a:xfrm>
          <a:prstGeom prst="ellipse">
            <a:avLst/>
          </a:prstGeom>
          <a:solidFill>
            <a:srgbClr val="006633"/>
          </a:solidFill>
          <a:ln/>
        </p:spPr>
        <p:txBody>
          <a:bodyPr/>
          <a:lstStyle/>
          <a:p>
            <a:endParaRPr/>
          </a:p>
        </p:txBody>
      </p:sp>
      <p:sp>
        <p:nvSpPr>
          <p:cNvPr id="22" name="Text 20"/>
          <p:cNvSpPr/>
          <p:nvPr/>
        </p:nvSpPr>
        <p:spPr>
          <a:xfrm>
            <a:off x="2208575"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2802336" y="4646690"/>
            <a:ext cx="2869848" cy="1022589"/>
          </a:xfrm>
          <a:prstGeom prst="rect">
            <a:avLst/>
          </a:prstGeom>
          <a:noFill/>
          <a:ln/>
        </p:spPr>
        <p:txBody>
          <a:bodyPr wrap="square" lIns="0" tIns="0" rIns="0" bIns="0" rtlCol="0" anchor="ctr"/>
          <a:lstStyle/>
          <a:p>
            <a:pPr marL="0" indent="0">
              <a:lnSpc>
                <a:spcPct val="115000"/>
              </a:lnSpc>
              <a:buNone/>
            </a:pPr>
            <a:r>
              <a:rPr lang="en-US" sz="1000" b="1" dirty="0">
                <a:solidFill>
                  <a:srgbClr val="1F7A34"/>
                </a:solidFill>
                <a:latin typeface="Calibri" pitchFamily="34" charset="0"/>
                <a:ea typeface="Calibri" pitchFamily="34" charset="-122"/>
                <a:cs typeface="Calibri" pitchFamily="34" charset="-120"/>
              </a:rPr>
              <a:t>Etika profesional dalam manajemen proyek</a:t>
            </a:r>
            <a:endParaRPr lang="en-US" sz="1000" dirty="0"/>
          </a:p>
        </p:txBody>
      </p:sp>
      <p:sp>
        <p:nvSpPr>
          <p:cNvPr id="24" name="Shape 22"/>
          <p:cNvSpPr/>
          <p:nvPr/>
        </p:nvSpPr>
        <p:spPr>
          <a:xfrm>
            <a:off x="6199973"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5" name="Shape 23"/>
          <p:cNvSpPr/>
          <p:nvPr/>
        </p:nvSpPr>
        <p:spPr>
          <a:xfrm>
            <a:off x="6397894" y="4923779"/>
            <a:ext cx="461814" cy="461814"/>
          </a:xfrm>
          <a:prstGeom prst="ellipse">
            <a:avLst/>
          </a:prstGeom>
          <a:solidFill>
            <a:srgbClr val="006633"/>
          </a:solidFill>
          <a:ln/>
        </p:spPr>
        <p:txBody>
          <a:bodyPr/>
          <a:lstStyle/>
          <a:p>
            <a:endParaRPr/>
          </a:p>
        </p:txBody>
      </p:sp>
      <p:sp>
        <p:nvSpPr>
          <p:cNvPr id="26" name="Text 24"/>
          <p:cNvSpPr/>
          <p:nvPr/>
        </p:nvSpPr>
        <p:spPr>
          <a:xfrm>
            <a:off x="6397894"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6991656" y="4646690"/>
            <a:ext cx="2869848" cy="1022589"/>
          </a:xfrm>
          <a:prstGeom prst="rect">
            <a:avLst/>
          </a:prstGeom>
          <a:noFill/>
          <a:ln/>
        </p:spPr>
        <p:txBody>
          <a:bodyPr wrap="square" lIns="0" tIns="0" rIns="0" bIns="0" rtlCol="0" anchor="ctr"/>
          <a:lstStyle/>
          <a:p>
            <a:pPr marL="0" indent="0">
              <a:lnSpc>
                <a:spcPct val="115000"/>
              </a:lnSpc>
              <a:buNone/>
            </a:pPr>
            <a:r>
              <a:rPr lang="en-US" sz="1000" b="1" dirty="0">
                <a:solidFill>
                  <a:srgbClr val="1F7A34"/>
                </a:solidFill>
                <a:latin typeface="Calibri" pitchFamily="34" charset="0"/>
                <a:ea typeface="Calibri" pitchFamily="34" charset="-122"/>
                <a:cs typeface="Calibri" pitchFamily="34" charset="-120"/>
              </a:rPr>
              <a:t>Studi kasus &amp; diskusi kelompok</a:t>
            </a:r>
            <a:endParaRPr lang="en-US" sz="1000" dirty="0"/>
          </a:p>
        </p:txBody>
      </p:sp>
      <p:sp>
        <p:nvSpPr>
          <p:cNvPr id="28" name="TextBox 27"/>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3/26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CAPAIAN PEMBELAJARAN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Kemampuan Akhir yang Diharapkan</a:t>
            </a:r>
            <a:endParaRPr lang="en-US" sz="3200" dirty="0"/>
          </a:p>
        </p:txBody>
      </p:sp>
      <p:sp>
        <p:nvSpPr>
          <p:cNvPr id="4" name="Shape 2"/>
          <p:cNvSpPr/>
          <p:nvPr/>
        </p:nvSpPr>
        <p:spPr>
          <a:xfrm>
            <a:off x="1677084" y="2139696"/>
            <a:ext cx="8715911" cy="1080484"/>
          </a:xfrm>
          <a:prstGeom prst="roundRect">
            <a:avLst>
              <a:gd name="adj" fmla="val 8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929197" y="2283760"/>
            <a:ext cx="2160969" cy="252113"/>
          </a:xfrm>
          <a:prstGeom prst="rect">
            <a:avLst/>
          </a:prstGeom>
          <a:noFill/>
          <a:ln/>
        </p:spPr>
        <p:txBody>
          <a:bodyPr wrap="square" lIns="0" tIns="0" rIns="0" bIns="0" rtlCol="0" anchor="ctr"/>
          <a:lstStyle/>
          <a:p>
            <a:pPr marL="0" indent="0">
              <a:buNone/>
            </a:pPr>
            <a:r>
              <a:rPr lang="en-US" sz="900" b="1" kern="0" spc="100" dirty="0">
                <a:solidFill>
                  <a:srgbClr val="9FC41D"/>
                </a:solidFill>
                <a:latin typeface="Calibri" pitchFamily="34" charset="0"/>
                <a:ea typeface="Calibri" pitchFamily="34" charset="-122"/>
                <a:cs typeface="Calibri" pitchFamily="34" charset="-120"/>
              </a:rPr>
              <a:t>Sub-CPMK 2</a:t>
            </a:r>
            <a:endParaRPr lang="en-US" sz="900" dirty="0"/>
          </a:p>
        </p:txBody>
      </p:sp>
      <p:sp>
        <p:nvSpPr>
          <p:cNvPr id="6" name="Text 4"/>
          <p:cNvSpPr/>
          <p:nvPr/>
        </p:nvSpPr>
        <p:spPr>
          <a:xfrm>
            <a:off x="1929197" y="2535873"/>
            <a:ext cx="8211685" cy="612274"/>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Mahasiswa mampu menjelaskan struktur organisasi, peran, kepemimpinan, komunikasi, dan etika profesional dalam tim proyek TI.</a:t>
            </a:r>
            <a:endParaRPr lang="en-US" sz="1200" dirty="0"/>
          </a:p>
        </p:txBody>
      </p:sp>
      <p:sp>
        <p:nvSpPr>
          <p:cNvPr id="7" name="Text 5"/>
          <p:cNvSpPr/>
          <p:nvPr/>
        </p:nvSpPr>
        <p:spPr>
          <a:xfrm>
            <a:off x="1677084" y="3436277"/>
            <a:ext cx="7203232" cy="288129"/>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Fokus Pertemuan Ini — Indikator Pencapaian</a:t>
            </a:r>
            <a:endParaRPr lang="en-US" sz="1300" dirty="0"/>
          </a:p>
        </p:txBody>
      </p:sp>
      <p:sp>
        <p:nvSpPr>
          <p:cNvPr id="8" name="Text 6"/>
          <p:cNvSpPr/>
          <p:nvPr/>
        </p:nvSpPr>
        <p:spPr>
          <a:xfrm>
            <a:off x="1677084" y="3796439"/>
            <a:ext cx="8355749" cy="18728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Menjelaskan struktur organisasi dan peran dalam tim proyek</a:t>
            </a:r>
            <a:endParaRPr lang="en-US" sz="1200" dirty="0"/>
          </a:p>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Menjelaskan prinsip kepemimpinan dalam pengelolaan proyek TI</a:t>
            </a:r>
            <a:endParaRPr lang="en-US" sz="1200" dirty="0"/>
          </a:p>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Menjelaskan pentingnya komunikasi efektif dalam tim proyek</a:t>
            </a:r>
            <a:endParaRPr lang="en-US" sz="1200" dirty="0"/>
          </a:p>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Menjelaskan etika profesional dalam manajemen proyek</a:t>
            </a:r>
            <a:endParaRPr lang="en-US" sz="1200" dirty="0"/>
          </a:p>
        </p:txBody>
      </p:sp>
      <p:sp>
        <p:nvSpPr>
          <p:cNvPr id="9" name="TextBox 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4/26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874519" y="1417320"/>
            <a:ext cx="644652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PEMANTIK DISKUSI</a:t>
            </a:r>
            <a:endParaRPr lang="en-US" sz="1200" dirty="0"/>
          </a:p>
        </p:txBody>
      </p:sp>
      <p:sp>
        <p:nvSpPr>
          <p:cNvPr id="5" name="Text 4"/>
          <p:cNvSpPr/>
          <p:nvPr/>
        </p:nvSpPr>
        <p:spPr>
          <a:xfrm>
            <a:off x="1874519" y="1691640"/>
            <a:ext cx="6446520" cy="822960"/>
          </a:xfrm>
          <a:prstGeom prst="rect">
            <a:avLst/>
          </a:prstGeom>
          <a:noFill/>
          <a:ln/>
        </p:spPr>
        <p:txBody>
          <a:bodyPr wrap="square" lIns="0" tIns="0" rIns="0" bIns="0" rtlCol="0" anchor="t"/>
          <a:lstStyle/>
          <a:p>
            <a:pPr marL="0" indent="0">
              <a:buNone/>
            </a:pPr>
            <a:r>
              <a:rPr lang="en-US" sz="2700" b="1" dirty="0">
                <a:latin typeface="Cambria" pitchFamily="34" charset="0"/>
                <a:ea typeface="Cambria" pitchFamily="34" charset="-122"/>
                <a:cs typeface="Cambria" pitchFamily="34" charset="-120"/>
              </a:rPr>
              <a:t>Sebelum Kita Mulai…</a:t>
            </a:r>
            <a:endParaRPr lang="en-US" sz="2600" dirty="0"/>
          </a:p>
        </p:txBody>
      </p:sp>
      <p:sp>
        <p:nvSpPr>
          <p:cNvPr id="6" name="Shape 2"/>
          <p:cNvSpPr/>
          <p:nvPr/>
        </p:nvSpPr>
        <p:spPr>
          <a:xfrm>
            <a:off x="1874519" y="2560320"/>
            <a:ext cx="495886" cy="495886"/>
          </a:xfrm>
          <a:prstGeom prst="ellipse">
            <a:avLst/>
          </a:prstGeom>
          <a:solidFill>
            <a:srgbClr val="9FC41D"/>
          </a:solidFill>
          <a:ln/>
        </p:spPr>
        <p:txBody>
          <a:bodyPr/>
          <a:lstStyle/>
          <a:p>
            <a:endParaRPr/>
          </a:p>
        </p:txBody>
      </p:sp>
      <p:sp>
        <p:nvSpPr>
          <p:cNvPr id="7" name="Text 3"/>
          <p:cNvSpPr/>
          <p:nvPr/>
        </p:nvSpPr>
        <p:spPr>
          <a:xfrm>
            <a:off x="1874519" y="2560320"/>
            <a:ext cx="495886" cy="49588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8" name="Text 5"/>
          <p:cNvSpPr/>
          <p:nvPr/>
        </p:nvSpPr>
        <p:spPr>
          <a:xfrm>
            <a:off x="1874519" y="3524543"/>
            <a:ext cx="6446520" cy="1101969"/>
          </a:xfrm>
          <a:prstGeom prst="rect">
            <a:avLst/>
          </a:prstGeom>
          <a:noFill/>
          <a:ln/>
        </p:spPr>
        <p:txBody>
          <a:bodyPr wrap="square" lIns="0" tIns="0" rIns="0" bIns="0" rtlCol="0" anchor="ctr"/>
          <a:lstStyle/>
          <a:p>
            <a:pPr marL="0" indent="0">
              <a:lnSpc>
                <a:spcPct val="125000"/>
              </a:lnSpc>
              <a:buNone/>
            </a:pPr>
            <a:r>
              <a:rPr lang="en-US" sz="1600" i="1" dirty="0">
                <a:solidFill>
                  <a:srgbClr val="FFFFFF"/>
                </a:solidFill>
                <a:latin typeface="Cambria" pitchFamily="34" charset="0"/>
                <a:ea typeface="Cambria" pitchFamily="34" charset="-122"/>
                <a:cs typeface="Cambria" pitchFamily="34" charset="-120"/>
              </a:rPr>
              <a:t>“Menurut Anda, apa perbedaan antara memimpin (leading) dan mengelola (managing) sebuah tim proyek?”</a:t>
            </a:r>
            <a:endParaRPr lang="en-US" sz="1600" dirty="0"/>
          </a:p>
        </p:txBody>
      </p:sp>
      <p:sp>
        <p:nvSpPr>
          <p:cNvPr id="9" name="TextBox 8"/>
          <p:cNvSpPr txBox="1"/>
          <p:nvPr/>
        </p:nvSpPr>
        <p:spPr>
          <a:xfrm>
            <a:off x="3017520" y="6446520"/>
            <a:ext cx="6126480" cy="274320"/>
          </a:xfrm>
          <a:prstGeom prst="rect">
            <a:avLst/>
          </a:prstGeom>
          <a:noFill/>
        </p:spPr>
        <p:txBody>
          <a:bodyPr wrap="square">
            <a:spAutoFit/>
          </a:bodyPr>
          <a:lstStyle/>
          <a:p>
            <a:pPr algn="ctr"/>
            <a:r>
              <a:rPr sz="900" b="0">
                <a:solidFill>
                  <a:srgbClr val="FFFFFF"/>
                </a:solidFill>
              </a:rPr>
              <a:t>TIK2111 • Manajemen Proyek TI • Pertemuan 3  •  5/26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STRUKTUR ORGANISASI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Mengapa Struktur Organisasi Penting?</a:t>
            </a:r>
            <a:endParaRPr lang="en-US" sz="3200" dirty="0"/>
          </a:p>
        </p:txBody>
      </p:sp>
      <p:sp>
        <p:nvSpPr>
          <p:cNvPr id="4" name="Shape 2"/>
          <p:cNvSpPr/>
          <p:nvPr/>
        </p:nvSpPr>
        <p:spPr>
          <a:xfrm>
            <a:off x="1328928" y="2139696"/>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564233" y="2414219"/>
            <a:ext cx="470611" cy="470611"/>
          </a:xfrm>
          <a:prstGeom prst="ellipse">
            <a:avLst/>
          </a:prstGeom>
          <a:solidFill>
            <a:srgbClr val="9FC41D"/>
          </a:solidFill>
          <a:ln/>
        </p:spPr>
        <p:txBody>
          <a:bodyPr/>
          <a:lstStyle/>
          <a:p>
            <a:endParaRPr/>
          </a:p>
        </p:txBody>
      </p:sp>
      <p:sp>
        <p:nvSpPr>
          <p:cNvPr id="6" name="Text 4"/>
          <p:cNvSpPr/>
          <p:nvPr/>
        </p:nvSpPr>
        <p:spPr>
          <a:xfrm>
            <a:off x="1564233" y="2414219"/>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2230932" y="2312253"/>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Otoritas Project Manager</a:t>
            </a:r>
            <a:endParaRPr lang="en-US" sz="1300" dirty="0"/>
          </a:p>
        </p:txBody>
      </p:sp>
      <p:sp>
        <p:nvSpPr>
          <p:cNvPr id="8" name="Text 6"/>
          <p:cNvSpPr/>
          <p:nvPr/>
        </p:nvSpPr>
        <p:spPr>
          <a:xfrm>
            <a:off x="2230932" y="2673055"/>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Menentukan seberapa besar wewenang PM terhadap sumber daya &amp; keputusan proyek</a:t>
            </a:r>
            <a:endParaRPr lang="en-US" sz="1100" dirty="0"/>
          </a:p>
        </p:txBody>
      </p:sp>
      <p:sp>
        <p:nvSpPr>
          <p:cNvPr id="9" name="Shape 7"/>
          <p:cNvSpPr/>
          <p:nvPr/>
        </p:nvSpPr>
        <p:spPr>
          <a:xfrm>
            <a:off x="6152692" y="2139696"/>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6387998" y="2414219"/>
            <a:ext cx="470611" cy="470611"/>
          </a:xfrm>
          <a:prstGeom prst="ellipse">
            <a:avLst/>
          </a:prstGeom>
          <a:solidFill>
            <a:srgbClr val="9FC41D"/>
          </a:solidFill>
          <a:ln/>
        </p:spPr>
        <p:txBody>
          <a:bodyPr/>
          <a:lstStyle/>
          <a:p>
            <a:endParaRPr/>
          </a:p>
        </p:txBody>
      </p:sp>
      <p:sp>
        <p:nvSpPr>
          <p:cNvPr id="11" name="Text 9"/>
          <p:cNvSpPr/>
          <p:nvPr/>
        </p:nvSpPr>
        <p:spPr>
          <a:xfrm>
            <a:off x="6387998" y="2414219"/>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054697" y="2312253"/>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Kecepatan Keputusan</a:t>
            </a:r>
            <a:endParaRPr lang="en-US" sz="1300" dirty="0"/>
          </a:p>
        </p:txBody>
      </p:sp>
      <p:sp>
        <p:nvSpPr>
          <p:cNvPr id="13" name="Text 11"/>
          <p:cNvSpPr/>
          <p:nvPr/>
        </p:nvSpPr>
        <p:spPr>
          <a:xfrm>
            <a:off x="7054697" y="2673055"/>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Mempengaruhi alur komunikasi dan seberapa cepat keputusan dapat diambil</a:t>
            </a:r>
            <a:endParaRPr lang="en-US" sz="1100" dirty="0"/>
          </a:p>
        </p:txBody>
      </p:sp>
      <p:sp>
        <p:nvSpPr>
          <p:cNvPr id="14" name="Shape 12"/>
          <p:cNvSpPr/>
          <p:nvPr/>
        </p:nvSpPr>
        <p:spPr>
          <a:xfrm>
            <a:off x="1328928" y="4022140"/>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1564233" y="4296664"/>
            <a:ext cx="470611" cy="470611"/>
          </a:xfrm>
          <a:prstGeom prst="ellipse">
            <a:avLst/>
          </a:prstGeom>
          <a:solidFill>
            <a:srgbClr val="9FC41D"/>
          </a:solidFill>
          <a:ln/>
        </p:spPr>
        <p:txBody>
          <a:bodyPr/>
          <a:lstStyle/>
          <a:p>
            <a:endParaRPr/>
          </a:p>
        </p:txBody>
      </p:sp>
      <p:sp>
        <p:nvSpPr>
          <p:cNvPr id="16" name="Text 14"/>
          <p:cNvSpPr/>
          <p:nvPr/>
        </p:nvSpPr>
        <p:spPr>
          <a:xfrm>
            <a:off x="1564233" y="4296664"/>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2230932" y="4194698"/>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Alokasi Sumber Daya</a:t>
            </a:r>
            <a:endParaRPr lang="en-US" sz="1300" dirty="0"/>
          </a:p>
        </p:txBody>
      </p:sp>
      <p:sp>
        <p:nvSpPr>
          <p:cNvPr id="18" name="Text 16"/>
          <p:cNvSpPr/>
          <p:nvPr/>
        </p:nvSpPr>
        <p:spPr>
          <a:xfrm>
            <a:off x="2230932" y="4555500"/>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Menentukan bagaimana sumber daya dibagi antara proyek dan fungsi organisasi</a:t>
            </a:r>
            <a:endParaRPr lang="en-US" sz="1100" dirty="0"/>
          </a:p>
        </p:txBody>
      </p:sp>
      <p:sp>
        <p:nvSpPr>
          <p:cNvPr id="19" name="Shape 17"/>
          <p:cNvSpPr/>
          <p:nvPr/>
        </p:nvSpPr>
        <p:spPr>
          <a:xfrm>
            <a:off x="6152692" y="4022140"/>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0" name="Shape 18"/>
          <p:cNvSpPr/>
          <p:nvPr/>
        </p:nvSpPr>
        <p:spPr>
          <a:xfrm>
            <a:off x="6387998" y="4296664"/>
            <a:ext cx="470611" cy="470611"/>
          </a:xfrm>
          <a:prstGeom prst="ellipse">
            <a:avLst/>
          </a:prstGeom>
          <a:solidFill>
            <a:srgbClr val="9FC41D"/>
          </a:solidFill>
          <a:ln/>
        </p:spPr>
        <p:txBody>
          <a:bodyPr/>
          <a:lstStyle/>
          <a:p>
            <a:endParaRPr/>
          </a:p>
        </p:txBody>
      </p:sp>
      <p:sp>
        <p:nvSpPr>
          <p:cNvPr id="21" name="Text 19"/>
          <p:cNvSpPr/>
          <p:nvPr/>
        </p:nvSpPr>
        <p:spPr>
          <a:xfrm>
            <a:off x="6387998" y="4296664"/>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054697" y="4194698"/>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Dukungan Organisasi</a:t>
            </a:r>
            <a:endParaRPr lang="en-US" sz="1300" dirty="0"/>
          </a:p>
        </p:txBody>
      </p:sp>
      <p:sp>
        <p:nvSpPr>
          <p:cNvPr id="23" name="Text 21"/>
          <p:cNvSpPr/>
          <p:nvPr/>
        </p:nvSpPr>
        <p:spPr>
          <a:xfrm>
            <a:off x="7054697" y="4555500"/>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Berdampak pada tingkat dukungan manajemen terhadap keberhasilan proyek</a:t>
            </a:r>
            <a:endParaRPr lang="en-US" sz="1100" dirty="0"/>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6/26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STRUKTUR ORGANISASI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Tiga Jenis Struktur Organisasi Proyek</a:t>
            </a:r>
            <a:endParaRPr lang="en-US" sz="3200" dirty="0"/>
          </a:p>
        </p:txBody>
      </p:sp>
      <p:sp>
        <p:nvSpPr>
          <p:cNvPr id="4" name="Shape 2"/>
          <p:cNvSpPr/>
          <p:nvPr/>
        </p:nvSpPr>
        <p:spPr>
          <a:xfrm>
            <a:off x="1048476" y="2139696"/>
            <a:ext cx="3160208" cy="3529584"/>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218164" y="2468029"/>
            <a:ext cx="820833" cy="820833"/>
          </a:xfrm>
          <a:prstGeom prst="ellipse">
            <a:avLst/>
          </a:prstGeom>
          <a:solidFill>
            <a:srgbClr val="9FC41D"/>
          </a:solidFill>
          <a:ln/>
        </p:spPr>
        <p:txBody>
          <a:bodyPr/>
          <a:lstStyle/>
          <a:p>
            <a:endParaRPr/>
          </a:p>
        </p:txBody>
      </p:sp>
      <p:sp>
        <p:nvSpPr>
          <p:cNvPr id="6" name="Text 4"/>
          <p:cNvSpPr/>
          <p:nvPr/>
        </p:nvSpPr>
        <p:spPr>
          <a:xfrm>
            <a:off x="2218164" y="2468029"/>
            <a:ext cx="820833" cy="820833"/>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7" name="Text 5"/>
          <p:cNvSpPr/>
          <p:nvPr/>
        </p:nvSpPr>
        <p:spPr>
          <a:xfrm>
            <a:off x="1294726" y="3494071"/>
            <a:ext cx="2667708" cy="49250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Fungsional</a:t>
            </a:r>
            <a:endParaRPr lang="en-US" sz="1500" dirty="0"/>
          </a:p>
        </p:txBody>
      </p:sp>
      <p:sp>
        <p:nvSpPr>
          <p:cNvPr id="8" name="Text 6"/>
          <p:cNvSpPr/>
          <p:nvPr/>
        </p:nvSpPr>
        <p:spPr>
          <a:xfrm>
            <a:off x="1335768" y="4068654"/>
            <a:ext cx="2585625" cy="1477500"/>
          </a:xfrm>
          <a:prstGeom prst="rect">
            <a:avLst/>
          </a:prstGeom>
          <a:noFill/>
          <a:ln/>
        </p:spPr>
        <p:txBody>
          <a:bodyPr wrap="square" lIns="0" tIns="0" rIns="0" bIns="0" rtlCol="0" anchor="ctr"/>
          <a:lstStyle/>
          <a:p>
            <a:pPr marL="0" indent="0" algn="ctr">
              <a:lnSpc>
                <a:spcPct val="125000"/>
              </a:lnSpc>
              <a:buNone/>
            </a:pPr>
            <a:r>
              <a:rPr lang="en-US" sz="1200" dirty="0">
                <a:solidFill>
                  <a:srgbClr val="1F7A34"/>
                </a:solidFill>
                <a:latin typeface="Calibri" pitchFamily="34" charset="0"/>
                <a:ea typeface="Calibri" pitchFamily="34" charset="-122"/>
                <a:cs typeface="Calibri" pitchFamily="34" charset="-120"/>
              </a:rPr>
              <a:t>Tim dikelompokkan berdasarkan fungsi/departemen; PM memiliki otoritas terbatas.</a:t>
            </a:r>
            <a:endParaRPr lang="en-US" sz="1200" dirty="0"/>
          </a:p>
        </p:txBody>
      </p:sp>
      <p:sp>
        <p:nvSpPr>
          <p:cNvPr id="9" name="Shape 7"/>
          <p:cNvSpPr/>
          <p:nvPr/>
        </p:nvSpPr>
        <p:spPr>
          <a:xfrm>
            <a:off x="4454935" y="2139696"/>
            <a:ext cx="3160208" cy="3529584"/>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5624623" y="2468029"/>
            <a:ext cx="820833" cy="820833"/>
          </a:xfrm>
          <a:prstGeom prst="ellipse">
            <a:avLst/>
          </a:prstGeom>
          <a:solidFill>
            <a:srgbClr val="9FC41D"/>
          </a:solidFill>
          <a:ln/>
        </p:spPr>
        <p:txBody>
          <a:bodyPr/>
          <a:lstStyle/>
          <a:p>
            <a:endParaRPr/>
          </a:p>
        </p:txBody>
      </p:sp>
      <p:sp>
        <p:nvSpPr>
          <p:cNvPr id="11" name="Text 9"/>
          <p:cNvSpPr/>
          <p:nvPr/>
        </p:nvSpPr>
        <p:spPr>
          <a:xfrm>
            <a:off x="5624623" y="2468029"/>
            <a:ext cx="820833" cy="820833"/>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2" name="Text 10"/>
          <p:cNvSpPr/>
          <p:nvPr/>
        </p:nvSpPr>
        <p:spPr>
          <a:xfrm>
            <a:off x="4701185" y="3494071"/>
            <a:ext cx="2667708" cy="49250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Matriks</a:t>
            </a:r>
            <a:endParaRPr lang="en-US" sz="1500" dirty="0"/>
          </a:p>
        </p:txBody>
      </p:sp>
      <p:sp>
        <p:nvSpPr>
          <p:cNvPr id="13" name="Text 11"/>
          <p:cNvSpPr/>
          <p:nvPr/>
        </p:nvSpPr>
        <p:spPr>
          <a:xfrm>
            <a:off x="4742227" y="4068654"/>
            <a:ext cx="2585625" cy="1477500"/>
          </a:xfrm>
          <a:prstGeom prst="rect">
            <a:avLst/>
          </a:prstGeom>
          <a:noFill/>
          <a:ln/>
        </p:spPr>
        <p:txBody>
          <a:bodyPr wrap="square" lIns="0" tIns="0" rIns="0" bIns="0" rtlCol="0" anchor="ctr"/>
          <a:lstStyle/>
          <a:p>
            <a:pPr marL="0" indent="0" algn="ctr">
              <a:lnSpc>
                <a:spcPct val="125000"/>
              </a:lnSpc>
              <a:buNone/>
            </a:pPr>
            <a:r>
              <a:rPr lang="en-US" sz="1200" dirty="0">
                <a:solidFill>
                  <a:srgbClr val="1F7A34"/>
                </a:solidFill>
                <a:latin typeface="Calibri" pitchFamily="34" charset="0"/>
                <a:ea typeface="Calibri" pitchFamily="34" charset="-122"/>
                <a:cs typeface="Calibri" pitchFamily="34" charset="-120"/>
              </a:rPr>
              <a:t>Kombinasi fungsional &amp; proyek; anggota tim melapor ke dua manajer sekaligus.</a:t>
            </a:r>
            <a:endParaRPr lang="en-US" sz="1200" dirty="0"/>
          </a:p>
        </p:txBody>
      </p:sp>
      <p:sp>
        <p:nvSpPr>
          <p:cNvPr id="14" name="Shape 12"/>
          <p:cNvSpPr/>
          <p:nvPr/>
        </p:nvSpPr>
        <p:spPr>
          <a:xfrm>
            <a:off x="7861394" y="2139696"/>
            <a:ext cx="3160208" cy="3529584"/>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9031082" y="2468029"/>
            <a:ext cx="820833" cy="820833"/>
          </a:xfrm>
          <a:prstGeom prst="ellipse">
            <a:avLst/>
          </a:prstGeom>
          <a:solidFill>
            <a:srgbClr val="9FC41D"/>
          </a:solidFill>
          <a:ln/>
        </p:spPr>
        <p:txBody>
          <a:bodyPr/>
          <a:lstStyle/>
          <a:p>
            <a:endParaRPr/>
          </a:p>
        </p:txBody>
      </p:sp>
      <p:sp>
        <p:nvSpPr>
          <p:cNvPr id="16" name="Text 14"/>
          <p:cNvSpPr/>
          <p:nvPr/>
        </p:nvSpPr>
        <p:spPr>
          <a:xfrm>
            <a:off x="9031082" y="2468029"/>
            <a:ext cx="820833" cy="820833"/>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7" name="Text 15"/>
          <p:cNvSpPr/>
          <p:nvPr/>
        </p:nvSpPr>
        <p:spPr>
          <a:xfrm>
            <a:off x="8107644" y="3494071"/>
            <a:ext cx="2667708" cy="49250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Projectized</a:t>
            </a:r>
            <a:endParaRPr lang="en-US" sz="1500" dirty="0"/>
          </a:p>
        </p:txBody>
      </p:sp>
      <p:sp>
        <p:nvSpPr>
          <p:cNvPr id="18" name="Text 16"/>
          <p:cNvSpPr/>
          <p:nvPr/>
        </p:nvSpPr>
        <p:spPr>
          <a:xfrm>
            <a:off x="8148686" y="4068654"/>
            <a:ext cx="2585625" cy="1477500"/>
          </a:xfrm>
          <a:prstGeom prst="rect">
            <a:avLst/>
          </a:prstGeom>
          <a:noFill/>
          <a:ln/>
        </p:spPr>
        <p:txBody>
          <a:bodyPr wrap="square" lIns="0" tIns="0" rIns="0" bIns="0" rtlCol="0" anchor="ctr"/>
          <a:lstStyle/>
          <a:p>
            <a:pPr marL="0" indent="0" algn="ctr">
              <a:lnSpc>
                <a:spcPct val="125000"/>
              </a:lnSpc>
              <a:buNone/>
            </a:pPr>
            <a:r>
              <a:rPr lang="en-US" sz="1200" dirty="0">
                <a:solidFill>
                  <a:srgbClr val="1F7A34"/>
                </a:solidFill>
                <a:latin typeface="Calibri" pitchFamily="34" charset="0"/>
                <a:ea typeface="Calibri" pitchFamily="34" charset="-122"/>
                <a:cs typeface="Calibri" pitchFamily="34" charset="-120"/>
              </a:rPr>
              <a:t>Tim dibentuk khusus untuk proyek; PM memiliki otoritas penuh atas tim &amp; anggaran.</a:t>
            </a:r>
            <a:endParaRPr lang="en-US" sz="1200" dirty="0"/>
          </a:p>
        </p:txBody>
      </p:sp>
      <p:sp>
        <p:nvSpPr>
          <p:cNvPr id="19" name="TextBox 1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7/26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STRUKTUR ORGANISASI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Struktur Fungsional</a:t>
            </a:r>
            <a:endParaRPr lang="en-US" sz="3200" dirty="0"/>
          </a:p>
        </p:txBody>
      </p:sp>
      <p:sp>
        <p:nvSpPr>
          <p:cNvPr id="4" name="Shape 2"/>
          <p:cNvSpPr/>
          <p:nvPr/>
        </p:nvSpPr>
        <p:spPr>
          <a:xfrm>
            <a:off x="1181862" y="2139696"/>
            <a:ext cx="9706356" cy="1123049"/>
          </a:xfrm>
          <a:prstGeom prst="roundRect">
            <a:avLst>
              <a:gd name="adj" fmla="val 8571"/>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502733" y="2300131"/>
            <a:ext cx="9064613" cy="802178"/>
          </a:xfrm>
          <a:prstGeom prst="rect">
            <a:avLst/>
          </a:prstGeom>
          <a:noFill/>
          <a:ln/>
        </p:spPr>
        <p:txBody>
          <a:bodyPr wrap="square" lIns="0" tIns="0" rIns="0" bIns="0" rtlCol="0" anchor="ctr"/>
          <a:lstStyle/>
          <a:p>
            <a:pPr marL="0" indent="0">
              <a:lnSpc>
                <a:spcPct val="130000"/>
              </a:lnSpc>
              <a:buNone/>
            </a:pPr>
            <a:r>
              <a:rPr lang="en-US" sz="1400" i="1" dirty="0">
                <a:solidFill>
                  <a:srgbClr val="FFFFFF"/>
                </a:solidFill>
                <a:latin typeface="Cambria" pitchFamily="34" charset="0"/>
                <a:ea typeface="Cambria" pitchFamily="34" charset="-122"/>
                <a:cs typeface="Cambria" pitchFamily="34" charset="-120"/>
              </a:rPr>
              <a:t>Karyawan dikelompokkan berdasarkan spesialisasi (mis. departemen IT, keuangan); proyek dijalankan dalam satu departemen fungsional.</a:t>
            </a:r>
            <a:endParaRPr lang="en-US" sz="1400" dirty="0"/>
          </a:p>
        </p:txBody>
      </p:sp>
      <p:sp>
        <p:nvSpPr>
          <p:cNvPr id="6" name="Shape 4"/>
          <p:cNvSpPr/>
          <p:nvPr/>
        </p:nvSpPr>
        <p:spPr>
          <a:xfrm>
            <a:off x="1181862" y="3503398"/>
            <a:ext cx="4692742" cy="2165881"/>
          </a:xfrm>
          <a:prstGeom prst="roundRect">
            <a:avLst>
              <a:gd name="adj" fmla="val 444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422515" y="3703943"/>
            <a:ext cx="4211435" cy="320871"/>
          </a:xfrm>
          <a:prstGeom prst="rect">
            <a:avLst/>
          </a:prstGeom>
          <a:noFill/>
          <a:ln/>
        </p:spPr>
        <p:txBody>
          <a:bodyPr wrap="square" lIns="0" tIns="0" rIns="0" bIns="0" rtlCol="0" anchor="ctr"/>
          <a:lstStyle/>
          <a:p>
            <a:pPr marL="0" indent="0">
              <a:buNone/>
            </a:pPr>
            <a:r>
              <a:rPr lang="en-US" sz="1200" b="1" kern="0" spc="100" dirty="0">
                <a:solidFill>
                  <a:srgbClr val="006633"/>
                </a:solidFill>
                <a:latin typeface="Cambria" pitchFamily="34" charset="0"/>
                <a:ea typeface="Cambria" pitchFamily="34" charset="-122"/>
                <a:cs typeface="Cambria" pitchFamily="34" charset="-120"/>
              </a:rPr>
              <a:t>KELEBIHAN</a:t>
            </a:r>
            <a:endParaRPr lang="en-US" sz="1200" dirty="0"/>
          </a:p>
        </p:txBody>
      </p:sp>
      <p:sp>
        <p:nvSpPr>
          <p:cNvPr id="8" name="Text 6"/>
          <p:cNvSpPr/>
          <p:nvPr/>
        </p:nvSpPr>
        <p:spPr>
          <a:xfrm>
            <a:off x="1422515" y="4105032"/>
            <a:ext cx="4211435" cy="1363702"/>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200" dirty="0">
                <a:solidFill>
                  <a:srgbClr val="1F7A34"/>
                </a:solidFill>
                <a:latin typeface="Calibri" pitchFamily="34" charset="0"/>
                <a:ea typeface="Calibri" pitchFamily="34" charset="-122"/>
                <a:cs typeface="Calibri" pitchFamily="34" charset="-120"/>
              </a:rPr>
              <a:t>Jalur karier jelas bagi anggota tim</a:t>
            </a:r>
            <a:endParaRPr lang="en-US" sz="1200" dirty="0"/>
          </a:p>
          <a:p>
            <a:pPr marL="228600" indent="-228600">
              <a:lnSpc>
                <a:spcPct val="115000"/>
              </a:lnSpc>
              <a:spcAft>
                <a:spcPts val="1000"/>
              </a:spcAft>
              <a:buSzPct val="100000"/>
              <a:buChar char="▪"/>
            </a:pPr>
            <a:r>
              <a:rPr lang="en-US" sz="1200" dirty="0">
                <a:solidFill>
                  <a:srgbClr val="1F7A34"/>
                </a:solidFill>
                <a:latin typeface="Calibri" pitchFamily="34" charset="0"/>
                <a:ea typeface="Calibri" pitchFamily="34" charset="-122"/>
                <a:cs typeface="Calibri" pitchFamily="34" charset="-120"/>
              </a:rPr>
              <a:t>Spesialisasi keahlian lebih mendalam</a:t>
            </a:r>
            <a:endParaRPr lang="en-US" sz="1200" dirty="0"/>
          </a:p>
        </p:txBody>
      </p:sp>
      <p:sp>
        <p:nvSpPr>
          <p:cNvPr id="9" name="Shape 7"/>
          <p:cNvSpPr/>
          <p:nvPr/>
        </p:nvSpPr>
        <p:spPr>
          <a:xfrm>
            <a:off x="6115257" y="3503398"/>
            <a:ext cx="4692742" cy="2165881"/>
          </a:xfrm>
          <a:prstGeom prst="roundRect">
            <a:avLst>
              <a:gd name="adj" fmla="val 4444"/>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10" name="Text 8"/>
          <p:cNvSpPr/>
          <p:nvPr/>
        </p:nvSpPr>
        <p:spPr>
          <a:xfrm>
            <a:off x="6355911" y="3703943"/>
            <a:ext cx="4211435" cy="320871"/>
          </a:xfrm>
          <a:prstGeom prst="rect">
            <a:avLst/>
          </a:prstGeom>
          <a:noFill/>
          <a:ln/>
        </p:spPr>
        <p:txBody>
          <a:bodyPr wrap="square" lIns="0" tIns="0" rIns="0" bIns="0" rtlCol="0" anchor="ctr"/>
          <a:lstStyle/>
          <a:p>
            <a:pPr marL="0" indent="0">
              <a:buNone/>
            </a:pPr>
            <a:r>
              <a:rPr lang="en-US" sz="1200" b="1" kern="0" spc="100" dirty="0">
                <a:solidFill>
                  <a:srgbClr val="9FC41D"/>
                </a:solidFill>
                <a:latin typeface="Cambria" pitchFamily="34" charset="0"/>
                <a:ea typeface="Cambria" pitchFamily="34" charset="-122"/>
                <a:cs typeface="Cambria" pitchFamily="34" charset="-120"/>
              </a:rPr>
              <a:t>KETERBATASAN</a:t>
            </a:r>
            <a:endParaRPr lang="en-US" sz="1200" dirty="0"/>
          </a:p>
        </p:txBody>
      </p:sp>
      <p:sp>
        <p:nvSpPr>
          <p:cNvPr id="11" name="Text 9"/>
          <p:cNvSpPr/>
          <p:nvPr/>
        </p:nvSpPr>
        <p:spPr>
          <a:xfrm>
            <a:off x="6355911" y="4105032"/>
            <a:ext cx="4211435" cy="1363702"/>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Otoritas PM rendah atau tidak ada</a:t>
            </a:r>
            <a:endParaRPr lang="en-US" sz="1200" dirty="0"/>
          </a:p>
          <a:p>
            <a:pPr marL="228600" indent="-2286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Koordinasi lintas departemen sulit</a:t>
            </a:r>
            <a:endParaRPr lang="en-US" sz="1200" dirty="0"/>
          </a:p>
        </p:txBody>
      </p:sp>
      <p:sp>
        <p:nvSpPr>
          <p:cNvPr id="12" name="TextBox 11"/>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8/26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STRUKTUR ORGANISASI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Struktur Projectized (Proyek)</a:t>
            </a:r>
            <a:endParaRPr lang="en-US" sz="3200" dirty="0"/>
          </a:p>
        </p:txBody>
      </p:sp>
      <p:sp>
        <p:nvSpPr>
          <p:cNvPr id="4" name="Shape 2"/>
          <p:cNvSpPr/>
          <p:nvPr/>
        </p:nvSpPr>
        <p:spPr>
          <a:xfrm>
            <a:off x="1181862" y="2139696"/>
            <a:ext cx="9706356" cy="1123049"/>
          </a:xfrm>
          <a:prstGeom prst="roundRect">
            <a:avLst>
              <a:gd name="adj" fmla="val 8571"/>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502733" y="2300131"/>
            <a:ext cx="9064613" cy="802178"/>
          </a:xfrm>
          <a:prstGeom prst="rect">
            <a:avLst/>
          </a:prstGeom>
          <a:noFill/>
          <a:ln/>
        </p:spPr>
        <p:txBody>
          <a:bodyPr wrap="square" lIns="0" tIns="0" rIns="0" bIns="0" rtlCol="0" anchor="ctr"/>
          <a:lstStyle/>
          <a:p>
            <a:pPr marL="0" indent="0">
              <a:lnSpc>
                <a:spcPct val="130000"/>
              </a:lnSpc>
              <a:buNone/>
            </a:pPr>
            <a:r>
              <a:rPr lang="en-US" sz="1400" i="1" dirty="0">
                <a:solidFill>
                  <a:srgbClr val="FFFFFF"/>
                </a:solidFill>
                <a:latin typeface="Cambria" pitchFamily="34" charset="0"/>
                <a:ea typeface="Cambria" pitchFamily="34" charset="-122"/>
                <a:cs typeface="Cambria" pitchFamily="34" charset="-120"/>
              </a:rPr>
              <a:t>Tim dedicated penuh untuk proyek, terpisah dari struktur fungsional; PM memiliki kendali penuh atas tim dan anggaran.</a:t>
            </a:r>
            <a:endParaRPr lang="en-US" sz="1400" dirty="0"/>
          </a:p>
        </p:txBody>
      </p:sp>
      <p:sp>
        <p:nvSpPr>
          <p:cNvPr id="6" name="Shape 4"/>
          <p:cNvSpPr/>
          <p:nvPr/>
        </p:nvSpPr>
        <p:spPr>
          <a:xfrm>
            <a:off x="1181862" y="3503398"/>
            <a:ext cx="4692742" cy="2165881"/>
          </a:xfrm>
          <a:prstGeom prst="roundRect">
            <a:avLst>
              <a:gd name="adj" fmla="val 444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422515" y="3703943"/>
            <a:ext cx="4211435" cy="320871"/>
          </a:xfrm>
          <a:prstGeom prst="rect">
            <a:avLst/>
          </a:prstGeom>
          <a:noFill/>
          <a:ln/>
        </p:spPr>
        <p:txBody>
          <a:bodyPr wrap="square" lIns="0" tIns="0" rIns="0" bIns="0" rtlCol="0" anchor="ctr"/>
          <a:lstStyle/>
          <a:p>
            <a:pPr marL="0" indent="0">
              <a:buNone/>
            </a:pPr>
            <a:r>
              <a:rPr lang="en-US" sz="1200" b="1" kern="0" spc="100" dirty="0">
                <a:solidFill>
                  <a:srgbClr val="006633"/>
                </a:solidFill>
                <a:latin typeface="Cambria" pitchFamily="34" charset="0"/>
                <a:ea typeface="Cambria" pitchFamily="34" charset="-122"/>
                <a:cs typeface="Cambria" pitchFamily="34" charset="-120"/>
              </a:rPr>
              <a:t>KELEBIHAN</a:t>
            </a:r>
            <a:endParaRPr lang="en-US" sz="1200" dirty="0"/>
          </a:p>
        </p:txBody>
      </p:sp>
      <p:sp>
        <p:nvSpPr>
          <p:cNvPr id="8" name="Text 6"/>
          <p:cNvSpPr/>
          <p:nvPr/>
        </p:nvSpPr>
        <p:spPr>
          <a:xfrm>
            <a:off x="1422515" y="4105032"/>
            <a:ext cx="4211435" cy="1363702"/>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200" dirty="0">
                <a:solidFill>
                  <a:srgbClr val="1F7A34"/>
                </a:solidFill>
                <a:latin typeface="Calibri" pitchFamily="34" charset="0"/>
                <a:ea typeface="Calibri" pitchFamily="34" charset="-122"/>
                <a:cs typeface="Calibri" pitchFamily="34" charset="-120"/>
              </a:rPr>
              <a:t>Pengambilan keputusan lebih cepat</a:t>
            </a:r>
            <a:endParaRPr lang="en-US" sz="1200" dirty="0"/>
          </a:p>
          <a:p>
            <a:pPr marL="228600" indent="-228600">
              <a:lnSpc>
                <a:spcPct val="115000"/>
              </a:lnSpc>
              <a:spcAft>
                <a:spcPts val="1000"/>
              </a:spcAft>
              <a:buSzPct val="100000"/>
              <a:buChar char="▪"/>
            </a:pPr>
            <a:r>
              <a:rPr lang="en-US" sz="1200" dirty="0">
                <a:solidFill>
                  <a:srgbClr val="1F7A34"/>
                </a:solidFill>
                <a:latin typeface="Calibri" pitchFamily="34" charset="0"/>
                <a:ea typeface="Calibri" pitchFamily="34" charset="-122"/>
                <a:cs typeface="Calibri" pitchFamily="34" charset="-120"/>
              </a:rPr>
              <a:t>Loyalitas tim tinggi terhadap tujuan proyek</a:t>
            </a:r>
            <a:endParaRPr lang="en-US" sz="1200" dirty="0"/>
          </a:p>
        </p:txBody>
      </p:sp>
      <p:sp>
        <p:nvSpPr>
          <p:cNvPr id="9" name="Shape 7"/>
          <p:cNvSpPr/>
          <p:nvPr/>
        </p:nvSpPr>
        <p:spPr>
          <a:xfrm>
            <a:off x="6115257" y="3503398"/>
            <a:ext cx="4692742" cy="2165881"/>
          </a:xfrm>
          <a:prstGeom prst="roundRect">
            <a:avLst>
              <a:gd name="adj" fmla="val 4444"/>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10" name="Text 8"/>
          <p:cNvSpPr/>
          <p:nvPr/>
        </p:nvSpPr>
        <p:spPr>
          <a:xfrm>
            <a:off x="6355911" y="3703943"/>
            <a:ext cx="4211435" cy="320871"/>
          </a:xfrm>
          <a:prstGeom prst="rect">
            <a:avLst/>
          </a:prstGeom>
          <a:noFill/>
          <a:ln/>
        </p:spPr>
        <p:txBody>
          <a:bodyPr wrap="square" lIns="0" tIns="0" rIns="0" bIns="0" rtlCol="0" anchor="ctr"/>
          <a:lstStyle/>
          <a:p>
            <a:pPr marL="0" indent="0">
              <a:buNone/>
            </a:pPr>
            <a:r>
              <a:rPr lang="en-US" sz="1200" b="1" kern="0" spc="100" dirty="0">
                <a:solidFill>
                  <a:srgbClr val="9FC41D"/>
                </a:solidFill>
                <a:latin typeface="Cambria" pitchFamily="34" charset="0"/>
                <a:ea typeface="Cambria" pitchFamily="34" charset="-122"/>
                <a:cs typeface="Cambria" pitchFamily="34" charset="-120"/>
              </a:rPr>
              <a:t>KETERBATASAN</a:t>
            </a:r>
            <a:endParaRPr lang="en-US" sz="1200" dirty="0"/>
          </a:p>
        </p:txBody>
      </p:sp>
      <p:sp>
        <p:nvSpPr>
          <p:cNvPr id="11" name="Text 9"/>
          <p:cNvSpPr/>
          <p:nvPr/>
        </p:nvSpPr>
        <p:spPr>
          <a:xfrm>
            <a:off x="6355911" y="4105032"/>
            <a:ext cx="4211435" cy="1363702"/>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Duplikasi sumber daya antarproyek</a:t>
            </a:r>
            <a:endParaRPr lang="en-US" sz="1200" dirty="0"/>
          </a:p>
          <a:p>
            <a:pPr marL="228600" indent="-2286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Ketidakpastian karier setelah proyek selesai</a:t>
            </a:r>
            <a:endParaRPr lang="en-US" sz="1200" dirty="0"/>
          </a:p>
        </p:txBody>
      </p:sp>
      <p:sp>
        <p:nvSpPr>
          <p:cNvPr id="12" name="TextBox 11"/>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9/26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STRUKTUR ORGANISASI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Struktur Matriks: Tiga Varian</a:t>
            </a:r>
            <a:endParaRPr lang="en-US" sz="3200" dirty="0"/>
          </a:p>
        </p:txBody>
      </p:sp>
      <p:sp>
        <p:nvSpPr>
          <p:cNvPr id="4" name="Shape 2"/>
          <p:cNvSpPr/>
          <p:nvPr/>
        </p:nvSpPr>
        <p:spPr>
          <a:xfrm>
            <a:off x="822960" y="2139696"/>
            <a:ext cx="3303128" cy="3088640"/>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080346" y="2397082"/>
            <a:ext cx="471875" cy="471875"/>
          </a:xfrm>
          <a:prstGeom prst="ellipse">
            <a:avLst/>
          </a:prstGeom>
          <a:solidFill>
            <a:srgbClr val="9FC41D"/>
          </a:solidFill>
          <a:ln/>
        </p:spPr>
        <p:txBody>
          <a:bodyPr/>
          <a:lstStyle/>
          <a:p>
            <a:endParaRPr/>
          </a:p>
        </p:txBody>
      </p:sp>
      <p:sp>
        <p:nvSpPr>
          <p:cNvPr id="6" name="Text 4"/>
          <p:cNvSpPr/>
          <p:nvPr/>
        </p:nvSpPr>
        <p:spPr>
          <a:xfrm>
            <a:off x="1080346" y="2397082"/>
            <a:ext cx="471875" cy="471875"/>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080346" y="3040549"/>
            <a:ext cx="2788355" cy="514773"/>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Matriks Lemah</a:t>
            </a:r>
            <a:endParaRPr lang="en-US" sz="1500" dirty="0"/>
          </a:p>
        </p:txBody>
      </p:sp>
      <p:sp>
        <p:nvSpPr>
          <p:cNvPr id="8" name="Text 6"/>
          <p:cNvSpPr/>
          <p:nvPr/>
        </p:nvSpPr>
        <p:spPr>
          <a:xfrm>
            <a:off x="1080346" y="3598220"/>
            <a:ext cx="2788355" cy="1544320"/>
          </a:xfrm>
          <a:prstGeom prst="rect">
            <a:avLst/>
          </a:prstGeom>
          <a:noFill/>
          <a:ln/>
        </p:spPr>
        <p:txBody>
          <a:bodyPr wrap="square" lIns="0" tIns="0" rIns="0" bIns="0" rtlCol="0" anchor="ctr"/>
          <a:lstStyle/>
          <a:p>
            <a:pPr marL="0" indent="0">
              <a:lnSpc>
                <a:spcPct val="125000"/>
              </a:lnSpc>
              <a:buNone/>
            </a:pPr>
            <a:r>
              <a:rPr lang="en-US" sz="1200" dirty="0">
                <a:solidFill>
                  <a:srgbClr val="1F7A34"/>
                </a:solidFill>
                <a:latin typeface="Calibri" pitchFamily="34" charset="0"/>
                <a:ea typeface="Calibri" pitchFamily="34" charset="-122"/>
                <a:cs typeface="Calibri" pitchFamily="34" charset="-120"/>
              </a:rPr>
              <a:t>Otoritas PM rendah, mirip struktur fungsional. Manajer fungsional lebih dominan.</a:t>
            </a:r>
            <a:endParaRPr lang="en-US" sz="1200" dirty="0"/>
          </a:p>
        </p:txBody>
      </p:sp>
      <p:sp>
        <p:nvSpPr>
          <p:cNvPr id="9" name="Shape 7"/>
          <p:cNvSpPr/>
          <p:nvPr/>
        </p:nvSpPr>
        <p:spPr>
          <a:xfrm>
            <a:off x="4383475" y="2139696"/>
            <a:ext cx="3303128" cy="3088640"/>
          </a:xfrm>
          <a:prstGeom prst="roundRect">
            <a:avLst>
              <a:gd name="adj" fmla="val 3333"/>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4640862" y="2397082"/>
            <a:ext cx="471875" cy="471875"/>
          </a:xfrm>
          <a:prstGeom prst="ellipse">
            <a:avLst/>
          </a:prstGeom>
          <a:solidFill>
            <a:srgbClr val="9FC41D"/>
          </a:solidFill>
          <a:ln/>
        </p:spPr>
        <p:txBody>
          <a:bodyPr/>
          <a:lstStyle/>
          <a:p>
            <a:endParaRPr/>
          </a:p>
        </p:txBody>
      </p:sp>
      <p:sp>
        <p:nvSpPr>
          <p:cNvPr id="11" name="Text 9"/>
          <p:cNvSpPr/>
          <p:nvPr/>
        </p:nvSpPr>
        <p:spPr>
          <a:xfrm>
            <a:off x="4640862" y="2397082"/>
            <a:ext cx="471875" cy="471875"/>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640862" y="3040549"/>
            <a:ext cx="2788355" cy="514773"/>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Matriks Seimbang</a:t>
            </a:r>
            <a:endParaRPr lang="en-US" sz="1500" dirty="0"/>
          </a:p>
        </p:txBody>
      </p:sp>
      <p:sp>
        <p:nvSpPr>
          <p:cNvPr id="13" name="Text 11"/>
          <p:cNvSpPr/>
          <p:nvPr/>
        </p:nvSpPr>
        <p:spPr>
          <a:xfrm>
            <a:off x="4640862" y="3598220"/>
            <a:ext cx="2788355" cy="1544320"/>
          </a:xfrm>
          <a:prstGeom prst="rect">
            <a:avLst/>
          </a:prstGeom>
          <a:noFill/>
          <a:ln/>
        </p:spPr>
        <p:txBody>
          <a:bodyPr wrap="square" lIns="0" tIns="0" rIns="0" bIns="0" rtlCol="0" anchor="ctr"/>
          <a:lstStyle/>
          <a:p>
            <a:pPr marL="0" indent="0">
              <a:lnSpc>
                <a:spcPct val="125000"/>
              </a:lnSpc>
              <a:buNone/>
            </a:pPr>
            <a:r>
              <a:rPr lang="en-US" sz="1200" dirty="0">
                <a:solidFill>
                  <a:srgbClr val="D8E8C8"/>
                </a:solidFill>
                <a:latin typeface="Calibri" pitchFamily="34" charset="0"/>
                <a:ea typeface="Calibri" pitchFamily="34" charset="-122"/>
                <a:cs typeface="Calibri" pitchFamily="34" charset="-120"/>
              </a:rPr>
              <a:t>Otoritas PM dan manajer fungsional relatif setara dalam pengambilan keputusan.</a:t>
            </a:r>
            <a:endParaRPr lang="en-US" sz="1200" dirty="0"/>
          </a:p>
        </p:txBody>
      </p:sp>
      <p:sp>
        <p:nvSpPr>
          <p:cNvPr id="14" name="Shape 12"/>
          <p:cNvSpPr/>
          <p:nvPr/>
        </p:nvSpPr>
        <p:spPr>
          <a:xfrm>
            <a:off x="7943991" y="2139696"/>
            <a:ext cx="3303128" cy="3088640"/>
          </a:xfrm>
          <a:prstGeom prst="roundRect">
            <a:avLst>
              <a:gd name="adj" fmla="val 3333"/>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8201377" y="2397082"/>
            <a:ext cx="471875" cy="471875"/>
          </a:xfrm>
          <a:prstGeom prst="ellipse">
            <a:avLst/>
          </a:prstGeom>
          <a:solidFill>
            <a:srgbClr val="9FC41D"/>
          </a:solidFill>
          <a:ln/>
        </p:spPr>
        <p:txBody>
          <a:bodyPr/>
          <a:lstStyle/>
          <a:p>
            <a:endParaRPr/>
          </a:p>
        </p:txBody>
      </p:sp>
      <p:sp>
        <p:nvSpPr>
          <p:cNvPr id="16" name="Text 14"/>
          <p:cNvSpPr/>
          <p:nvPr/>
        </p:nvSpPr>
        <p:spPr>
          <a:xfrm>
            <a:off x="8201377" y="2397082"/>
            <a:ext cx="471875" cy="471875"/>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201377" y="3040549"/>
            <a:ext cx="2788355" cy="514773"/>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Matriks Kuat</a:t>
            </a:r>
            <a:endParaRPr lang="en-US" sz="1500" dirty="0"/>
          </a:p>
        </p:txBody>
      </p:sp>
      <p:sp>
        <p:nvSpPr>
          <p:cNvPr id="18" name="Text 16"/>
          <p:cNvSpPr/>
          <p:nvPr/>
        </p:nvSpPr>
        <p:spPr>
          <a:xfrm>
            <a:off x="8201377" y="3598220"/>
            <a:ext cx="2788355" cy="1544320"/>
          </a:xfrm>
          <a:prstGeom prst="rect">
            <a:avLst/>
          </a:prstGeom>
          <a:noFill/>
          <a:ln/>
        </p:spPr>
        <p:txBody>
          <a:bodyPr wrap="square" lIns="0" tIns="0" rIns="0" bIns="0" rtlCol="0" anchor="ctr"/>
          <a:lstStyle/>
          <a:p>
            <a:pPr marL="0" indent="0">
              <a:lnSpc>
                <a:spcPct val="125000"/>
              </a:lnSpc>
              <a:buNone/>
            </a:pPr>
            <a:r>
              <a:rPr lang="en-US" sz="1200" dirty="0">
                <a:solidFill>
                  <a:srgbClr val="1F7A34"/>
                </a:solidFill>
                <a:latin typeface="Calibri" pitchFamily="34" charset="0"/>
                <a:ea typeface="Calibri" pitchFamily="34" charset="-122"/>
                <a:cs typeface="Calibri" pitchFamily="34" charset="-120"/>
              </a:rPr>
              <a:t>Otoritas PM tinggi, mendekati struktur projectized. PM lebih dominan.</a:t>
            </a:r>
            <a:endParaRPr lang="en-US" sz="1200" dirty="0"/>
          </a:p>
        </p:txBody>
      </p:sp>
      <p:sp>
        <p:nvSpPr>
          <p:cNvPr id="19" name="TextBox 1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STRUKTUR ORGANISASI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Perbandingan Ketiga Struktur</a:t>
            </a:r>
            <a:endParaRPr lang="en-US" sz="3200" dirty="0"/>
          </a:p>
        </p:txBody>
      </p:sp>
      <p:sp>
        <p:nvSpPr>
          <p:cNvPr id="4" name="Shape 2"/>
          <p:cNvSpPr/>
          <p:nvPr/>
        </p:nvSpPr>
        <p:spPr>
          <a:xfrm>
            <a:off x="822960" y="2139696"/>
            <a:ext cx="10424160" cy="516900"/>
          </a:xfrm>
          <a:prstGeom prst="roundRect">
            <a:avLst>
              <a:gd name="adj" fmla="val 20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081410" y="2139696"/>
            <a:ext cx="2929102" cy="516900"/>
          </a:xfrm>
          <a:prstGeom prst="rect">
            <a:avLst/>
          </a:prstGeom>
          <a:noFill/>
          <a:ln/>
        </p:spPr>
        <p:txBody>
          <a:bodyPr wrap="square" lIns="0" tIns="0" rIns="0" bIns="0" rtlCol="0" anchor="ctr"/>
          <a:lstStyle/>
          <a:p>
            <a:pPr marL="0" indent="0">
              <a:buNone/>
            </a:pPr>
            <a:r>
              <a:rPr lang="en-US" sz="1200" b="1" dirty="0">
                <a:solidFill>
                  <a:srgbClr val="9FC41D"/>
                </a:solidFill>
                <a:latin typeface="Cambria" pitchFamily="34" charset="0"/>
                <a:ea typeface="Cambria" pitchFamily="34" charset="-122"/>
                <a:cs typeface="Cambria" pitchFamily="34" charset="-120"/>
              </a:rPr>
              <a:t>Aspek</a:t>
            </a:r>
            <a:endParaRPr lang="en-US" sz="1200" dirty="0"/>
          </a:p>
        </p:txBody>
      </p:sp>
      <p:sp>
        <p:nvSpPr>
          <p:cNvPr id="6" name="Text 4"/>
          <p:cNvSpPr/>
          <p:nvPr/>
        </p:nvSpPr>
        <p:spPr>
          <a:xfrm>
            <a:off x="4096663" y="2139696"/>
            <a:ext cx="2153752" cy="51690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Fungsional</a:t>
            </a:r>
            <a:endParaRPr lang="en-US" sz="1200" dirty="0"/>
          </a:p>
        </p:txBody>
      </p:sp>
      <p:sp>
        <p:nvSpPr>
          <p:cNvPr id="7" name="Text 5"/>
          <p:cNvSpPr/>
          <p:nvPr/>
        </p:nvSpPr>
        <p:spPr>
          <a:xfrm>
            <a:off x="6336565" y="2139696"/>
            <a:ext cx="2498352" cy="51690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Matriks</a:t>
            </a:r>
            <a:endParaRPr lang="en-US" sz="1200" dirty="0"/>
          </a:p>
        </p:txBody>
      </p:sp>
      <p:sp>
        <p:nvSpPr>
          <p:cNvPr id="8" name="Text 6"/>
          <p:cNvSpPr/>
          <p:nvPr/>
        </p:nvSpPr>
        <p:spPr>
          <a:xfrm>
            <a:off x="8921067" y="2139696"/>
            <a:ext cx="2239902" cy="51690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Projectized</a:t>
            </a:r>
            <a:endParaRPr lang="en-US" sz="1200" dirty="0"/>
          </a:p>
        </p:txBody>
      </p:sp>
      <p:sp>
        <p:nvSpPr>
          <p:cNvPr id="9" name="Shape 7"/>
          <p:cNvSpPr/>
          <p:nvPr/>
        </p:nvSpPr>
        <p:spPr>
          <a:xfrm>
            <a:off x="822960" y="2656596"/>
            <a:ext cx="10424160" cy="646125"/>
          </a:xfrm>
          <a:prstGeom prst="roundRect">
            <a:avLst>
              <a:gd name="adj" fmla="val 16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Text 8"/>
          <p:cNvSpPr/>
          <p:nvPr/>
        </p:nvSpPr>
        <p:spPr>
          <a:xfrm>
            <a:off x="1081410" y="2656596"/>
            <a:ext cx="2929102" cy="646125"/>
          </a:xfrm>
          <a:prstGeom prst="rect">
            <a:avLst/>
          </a:prstGeom>
          <a:noFill/>
          <a:ln/>
        </p:spPr>
        <p:txBody>
          <a:bodyPr wrap="square" lIns="0" tIns="0" rIns="0" bIns="0" rtlCol="0" anchor="ctr"/>
          <a:lstStyle/>
          <a:p>
            <a:pPr marL="0" indent="0">
              <a:buNone/>
            </a:pPr>
            <a:r>
              <a:rPr lang="en-US" sz="1200" b="1" dirty="0">
                <a:solidFill>
                  <a:srgbClr val="006633"/>
                </a:solidFill>
                <a:latin typeface="Calibri" pitchFamily="34" charset="0"/>
                <a:ea typeface="Calibri" pitchFamily="34" charset="-122"/>
                <a:cs typeface="Calibri" pitchFamily="34" charset="-120"/>
              </a:rPr>
              <a:t>Otoritas Project Manager</a:t>
            </a:r>
            <a:endParaRPr lang="en-US" sz="1200" dirty="0"/>
          </a:p>
        </p:txBody>
      </p:sp>
      <p:sp>
        <p:nvSpPr>
          <p:cNvPr id="11" name="Text 9"/>
          <p:cNvSpPr/>
          <p:nvPr/>
        </p:nvSpPr>
        <p:spPr>
          <a:xfrm>
            <a:off x="4096663" y="2656596"/>
            <a:ext cx="21537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Rendah / Tidak ada</a:t>
            </a:r>
            <a:endParaRPr lang="en-US" sz="1100" dirty="0"/>
          </a:p>
        </p:txBody>
      </p:sp>
      <p:sp>
        <p:nvSpPr>
          <p:cNvPr id="12" name="Text 10"/>
          <p:cNvSpPr/>
          <p:nvPr/>
        </p:nvSpPr>
        <p:spPr>
          <a:xfrm>
            <a:off x="6336565" y="2656596"/>
            <a:ext cx="24983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Rendah hingga Tinggi</a:t>
            </a:r>
            <a:endParaRPr lang="en-US" sz="1100" dirty="0"/>
          </a:p>
        </p:txBody>
      </p:sp>
      <p:sp>
        <p:nvSpPr>
          <p:cNvPr id="13" name="Text 11"/>
          <p:cNvSpPr/>
          <p:nvPr/>
        </p:nvSpPr>
        <p:spPr>
          <a:xfrm>
            <a:off x="8921067" y="2656596"/>
            <a:ext cx="223990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Tinggi hingga Penuh</a:t>
            </a:r>
            <a:endParaRPr lang="en-US" sz="1100" dirty="0"/>
          </a:p>
        </p:txBody>
      </p:sp>
      <p:sp>
        <p:nvSpPr>
          <p:cNvPr id="14" name="Shape 12"/>
          <p:cNvSpPr/>
          <p:nvPr/>
        </p:nvSpPr>
        <p:spPr>
          <a:xfrm>
            <a:off x="822960" y="3328567"/>
            <a:ext cx="10424160" cy="646125"/>
          </a:xfrm>
          <a:prstGeom prst="roundRect">
            <a:avLst>
              <a:gd name="adj" fmla="val 16000"/>
            </a:avLst>
          </a:prstGeom>
          <a:solidFill>
            <a:srgbClr val="FFFFFF"/>
          </a:solidFill>
          <a:ln/>
          <a:effectLst>
            <a:outerShdw blurRad="101600" dist="38100" dir="5400000" algn="bl" rotWithShape="0">
              <a:srgbClr val="006633">
                <a:alpha val="12000"/>
              </a:srgbClr>
            </a:outerShdw>
          </a:effectLst>
        </p:spPr>
        <p:txBody>
          <a:bodyPr/>
          <a:lstStyle/>
          <a:p>
            <a:endParaRPr/>
          </a:p>
        </p:txBody>
      </p:sp>
      <p:sp>
        <p:nvSpPr>
          <p:cNvPr id="15" name="Text 13"/>
          <p:cNvSpPr/>
          <p:nvPr/>
        </p:nvSpPr>
        <p:spPr>
          <a:xfrm>
            <a:off x="1081410" y="3328567"/>
            <a:ext cx="2929102" cy="646125"/>
          </a:xfrm>
          <a:prstGeom prst="rect">
            <a:avLst/>
          </a:prstGeom>
          <a:noFill/>
          <a:ln/>
        </p:spPr>
        <p:txBody>
          <a:bodyPr wrap="square" lIns="0" tIns="0" rIns="0" bIns="0" rtlCol="0" anchor="ctr"/>
          <a:lstStyle/>
          <a:p>
            <a:pPr marL="0" indent="0">
              <a:buNone/>
            </a:pPr>
            <a:r>
              <a:rPr lang="en-US" sz="1200" b="1" dirty="0">
                <a:solidFill>
                  <a:srgbClr val="006633"/>
                </a:solidFill>
                <a:latin typeface="Calibri" pitchFamily="34" charset="0"/>
                <a:ea typeface="Calibri" pitchFamily="34" charset="-122"/>
                <a:cs typeface="Calibri" pitchFamily="34" charset="-120"/>
              </a:rPr>
              <a:t>Ketersediaan Sumber Daya</a:t>
            </a:r>
            <a:endParaRPr lang="en-US" sz="1200" dirty="0"/>
          </a:p>
        </p:txBody>
      </p:sp>
      <p:sp>
        <p:nvSpPr>
          <p:cNvPr id="16" name="Text 14"/>
          <p:cNvSpPr/>
          <p:nvPr/>
        </p:nvSpPr>
        <p:spPr>
          <a:xfrm>
            <a:off x="4096663" y="3328567"/>
            <a:ext cx="21537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Rendah / Tidak ada</a:t>
            </a:r>
            <a:endParaRPr lang="en-US" sz="1100" dirty="0"/>
          </a:p>
        </p:txBody>
      </p:sp>
      <p:sp>
        <p:nvSpPr>
          <p:cNvPr id="17" name="Text 15"/>
          <p:cNvSpPr/>
          <p:nvPr/>
        </p:nvSpPr>
        <p:spPr>
          <a:xfrm>
            <a:off x="6336565" y="3328567"/>
            <a:ext cx="24983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Rendah hingga Tinggi</a:t>
            </a:r>
            <a:endParaRPr lang="en-US" sz="1100" dirty="0"/>
          </a:p>
        </p:txBody>
      </p:sp>
      <p:sp>
        <p:nvSpPr>
          <p:cNvPr id="18" name="Text 16"/>
          <p:cNvSpPr/>
          <p:nvPr/>
        </p:nvSpPr>
        <p:spPr>
          <a:xfrm>
            <a:off x="8921067" y="3328567"/>
            <a:ext cx="223990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Tinggi hingga Penuh</a:t>
            </a:r>
            <a:endParaRPr lang="en-US" sz="1100" dirty="0"/>
          </a:p>
        </p:txBody>
      </p:sp>
      <p:sp>
        <p:nvSpPr>
          <p:cNvPr id="19" name="Shape 17"/>
          <p:cNvSpPr/>
          <p:nvPr/>
        </p:nvSpPr>
        <p:spPr>
          <a:xfrm>
            <a:off x="822960" y="4000537"/>
            <a:ext cx="10424160" cy="646125"/>
          </a:xfrm>
          <a:prstGeom prst="roundRect">
            <a:avLst>
              <a:gd name="adj" fmla="val 16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0" name="Text 18"/>
          <p:cNvSpPr/>
          <p:nvPr/>
        </p:nvSpPr>
        <p:spPr>
          <a:xfrm>
            <a:off x="1081410" y="4000537"/>
            <a:ext cx="2929102" cy="646125"/>
          </a:xfrm>
          <a:prstGeom prst="rect">
            <a:avLst/>
          </a:prstGeom>
          <a:noFill/>
          <a:ln/>
        </p:spPr>
        <p:txBody>
          <a:bodyPr wrap="square" lIns="0" tIns="0" rIns="0" bIns="0" rtlCol="0" anchor="ctr"/>
          <a:lstStyle/>
          <a:p>
            <a:pPr marL="0" indent="0">
              <a:buNone/>
            </a:pPr>
            <a:r>
              <a:rPr lang="en-US" sz="1200" b="1" dirty="0">
                <a:solidFill>
                  <a:srgbClr val="006633"/>
                </a:solidFill>
                <a:latin typeface="Calibri" pitchFamily="34" charset="0"/>
                <a:ea typeface="Calibri" pitchFamily="34" charset="-122"/>
                <a:cs typeface="Calibri" pitchFamily="34" charset="-120"/>
              </a:rPr>
              <a:t>Pengelola Anggaran</a:t>
            </a:r>
            <a:endParaRPr lang="en-US" sz="1200" dirty="0"/>
          </a:p>
        </p:txBody>
      </p:sp>
      <p:sp>
        <p:nvSpPr>
          <p:cNvPr id="21" name="Text 19"/>
          <p:cNvSpPr/>
          <p:nvPr/>
        </p:nvSpPr>
        <p:spPr>
          <a:xfrm>
            <a:off x="4096663" y="4000537"/>
            <a:ext cx="21537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Manajer Fungsional</a:t>
            </a:r>
            <a:endParaRPr lang="en-US" sz="1100" dirty="0"/>
          </a:p>
        </p:txBody>
      </p:sp>
      <p:sp>
        <p:nvSpPr>
          <p:cNvPr id="22" name="Text 20"/>
          <p:cNvSpPr/>
          <p:nvPr/>
        </p:nvSpPr>
        <p:spPr>
          <a:xfrm>
            <a:off x="6336565" y="4000537"/>
            <a:ext cx="24983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Campuran</a:t>
            </a:r>
            <a:endParaRPr lang="en-US" sz="1100" dirty="0"/>
          </a:p>
        </p:txBody>
      </p:sp>
      <p:sp>
        <p:nvSpPr>
          <p:cNvPr id="23" name="Text 21"/>
          <p:cNvSpPr/>
          <p:nvPr/>
        </p:nvSpPr>
        <p:spPr>
          <a:xfrm>
            <a:off x="8921067" y="4000537"/>
            <a:ext cx="223990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Project Manager</a:t>
            </a:r>
            <a:endParaRPr lang="en-US" sz="1100" dirty="0"/>
          </a:p>
        </p:txBody>
      </p:sp>
      <p:sp>
        <p:nvSpPr>
          <p:cNvPr id="24" name="Shape 22"/>
          <p:cNvSpPr/>
          <p:nvPr/>
        </p:nvSpPr>
        <p:spPr>
          <a:xfrm>
            <a:off x="822960" y="4672508"/>
            <a:ext cx="10424160" cy="646125"/>
          </a:xfrm>
          <a:prstGeom prst="roundRect">
            <a:avLst>
              <a:gd name="adj" fmla="val 16000"/>
            </a:avLst>
          </a:prstGeom>
          <a:solidFill>
            <a:srgbClr val="FFFFFF"/>
          </a:solidFill>
          <a:ln/>
          <a:effectLst>
            <a:outerShdw blurRad="101600" dist="38100" dir="5400000" algn="bl" rotWithShape="0">
              <a:srgbClr val="006633">
                <a:alpha val="12000"/>
              </a:srgbClr>
            </a:outerShdw>
          </a:effectLst>
        </p:spPr>
        <p:txBody>
          <a:bodyPr/>
          <a:lstStyle/>
          <a:p>
            <a:endParaRPr/>
          </a:p>
        </p:txBody>
      </p:sp>
      <p:sp>
        <p:nvSpPr>
          <p:cNvPr id="25" name="Text 23"/>
          <p:cNvSpPr/>
          <p:nvPr/>
        </p:nvSpPr>
        <p:spPr>
          <a:xfrm>
            <a:off x="1081410" y="4672508"/>
            <a:ext cx="2929102" cy="646125"/>
          </a:xfrm>
          <a:prstGeom prst="rect">
            <a:avLst/>
          </a:prstGeom>
          <a:noFill/>
          <a:ln/>
        </p:spPr>
        <p:txBody>
          <a:bodyPr wrap="square" lIns="0" tIns="0" rIns="0" bIns="0" rtlCol="0" anchor="ctr"/>
          <a:lstStyle/>
          <a:p>
            <a:pPr marL="0" indent="0">
              <a:buNone/>
            </a:pPr>
            <a:r>
              <a:rPr lang="en-US" sz="1200" b="1" dirty="0">
                <a:solidFill>
                  <a:srgbClr val="006633"/>
                </a:solidFill>
                <a:latin typeface="Calibri" pitchFamily="34" charset="0"/>
                <a:ea typeface="Calibri" pitchFamily="34" charset="-122"/>
                <a:cs typeface="Calibri" pitchFamily="34" charset="-120"/>
              </a:rPr>
              <a:t>Peran Administratif PM</a:t>
            </a:r>
            <a:endParaRPr lang="en-US" sz="1200" dirty="0"/>
          </a:p>
        </p:txBody>
      </p:sp>
      <p:sp>
        <p:nvSpPr>
          <p:cNvPr id="26" name="Text 24"/>
          <p:cNvSpPr/>
          <p:nvPr/>
        </p:nvSpPr>
        <p:spPr>
          <a:xfrm>
            <a:off x="4096663" y="4672508"/>
            <a:ext cx="21537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Paruh Waktu</a:t>
            </a:r>
            <a:endParaRPr lang="en-US" sz="1100" dirty="0"/>
          </a:p>
        </p:txBody>
      </p:sp>
      <p:sp>
        <p:nvSpPr>
          <p:cNvPr id="27" name="Text 25"/>
          <p:cNvSpPr/>
          <p:nvPr/>
        </p:nvSpPr>
        <p:spPr>
          <a:xfrm>
            <a:off x="6336565" y="4672508"/>
            <a:ext cx="249835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Paruh s.d. Penuh Waktu</a:t>
            </a:r>
            <a:endParaRPr lang="en-US" sz="1100" dirty="0"/>
          </a:p>
        </p:txBody>
      </p:sp>
      <p:sp>
        <p:nvSpPr>
          <p:cNvPr id="28" name="Text 26"/>
          <p:cNvSpPr/>
          <p:nvPr/>
        </p:nvSpPr>
        <p:spPr>
          <a:xfrm>
            <a:off x="8921067" y="4672508"/>
            <a:ext cx="2239902" cy="646125"/>
          </a:xfrm>
          <a:prstGeom prst="rect">
            <a:avLst/>
          </a:prstGeom>
          <a:noFill/>
          <a:ln/>
        </p:spPr>
        <p:txBody>
          <a:bodyPr wrap="square" lIns="0" tIns="0" rIns="0" bIns="0" rtlCol="0" anchor="ctr"/>
          <a:lstStyle/>
          <a:p>
            <a:pPr marL="0" indent="0">
              <a:buNone/>
            </a:pPr>
            <a:r>
              <a:rPr lang="en-US" sz="1100" dirty="0">
                <a:solidFill>
                  <a:srgbClr val="1F7A34"/>
                </a:solidFill>
                <a:latin typeface="Calibri" pitchFamily="34" charset="0"/>
                <a:ea typeface="Calibri" pitchFamily="34" charset="-122"/>
                <a:cs typeface="Calibri" pitchFamily="34" charset="-120"/>
              </a:rPr>
              <a:t>Penuh Waktu</a:t>
            </a:r>
            <a:endParaRPr lang="en-US" sz="1100" dirty="0"/>
          </a:p>
        </p:txBody>
      </p:sp>
      <p:sp>
        <p:nvSpPr>
          <p:cNvPr id="29" name="TextBox 2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11/26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PERAN TIM</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Peran-Peran dalam Tim Proyek TI</a:t>
            </a:r>
            <a:endParaRPr lang="en-US" sz="3200" dirty="0"/>
          </a:p>
        </p:txBody>
      </p:sp>
      <p:sp>
        <p:nvSpPr>
          <p:cNvPr id="4" name="Shape 2"/>
          <p:cNvSpPr/>
          <p:nvPr/>
        </p:nvSpPr>
        <p:spPr>
          <a:xfrm>
            <a:off x="822960" y="213969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800225" y="2313432"/>
            <a:ext cx="521208" cy="521208"/>
          </a:xfrm>
          <a:prstGeom prst="ellipse">
            <a:avLst/>
          </a:prstGeom>
          <a:solidFill>
            <a:srgbClr val="006633"/>
          </a:solidFill>
          <a:ln/>
        </p:spPr>
        <p:txBody>
          <a:bodyPr/>
          <a:lstStyle/>
          <a:p>
            <a:endParaRPr/>
          </a:p>
        </p:txBody>
      </p:sp>
      <p:sp>
        <p:nvSpPr>
          <p:cNvPr id="6" name="Text 4"/>
          <p:cNvSpPr/>
          <p:nvPr/>
        </p:nvSpPr>
        <p:spPr>
          <a:xfrm>
            <a:off x="1800225" y="231343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909828" y="296494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Project</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Sponsor</a:t>
            </a:r>
            <a:endParaRPr lang="en-US" sz="1100" dirty="0"/>
          </a:p>
        </p:txBody>
      </p:sp>
      <p:sp>
        <p:nvSpPr>
          <p:cNvPr id="8" name="Shape 6"/>
          <p:cNvSpPr/>
          <p:nvPr/>
        </p:nvSpPr>
        <p:spPr>
          <a:xfrm>
            <a:off x="3472434" y="213969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Shape 7"/>
          <p:cNvSpPr/>
          <p:nvPr/>
        </p:nvSpPr>
        <p:spPr>
          <a:xfrm>
            <a:off x="4449699" y="2313432"/>
            <a:ext cx="521208" cy="521208"/>
          </a:xfrm>
          <a:prstGeom prst="ellipse">
            <a:avLst/>
          </a:prstGeom>
          <a:solidFill>
            <a:srgbClr val="9FC41D"/>
          </a:solidFill>
          <a:ln/>
        </p:spPr>
        <p:txBody>
          <a:bodyPr/>
          <a:lstStyle/>
          <a:p>
            <a:endParaRPr/>
          </a:p>
        </p:txBody>
      </p:sp>
      <p:sp>
        <p:nvSpPr>
          <p:cNvPr id="10" name="Text 8"/>
          <p:cNvSpPr/>
          <p:nvPr/>
        </p:nvSpPr>
        <p:spPr>
          <a:xfrm>
            <a:off x="4449699" y="231343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3559302" y="296494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Project</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Manager</a:t>
            </a:r>
            <a:endParaRPr lang="en-US" sz="1100" dirty="0"/>
          </a:p>
        </p:txBody>
      </p:sp>
      <p:sp>
        <p:nvSpPr>
          <p:cNvPr id="12" name="Shape 10"/>
          <p:cNvSpPr/>
          <p:nvPr/>
        </p:nvSpPr>
        <p:spPr>
          <a:xfrm>
            <a:off x="6121908" y="213969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Shape 11"/>
          <p:cNvSpPr/>
          <p:nvPr/>
        </p:nvSpPr>
        <p:spPr>
          <a:xfrm>
            <a:off x="7099173" y="2313432"/>
            <a:ext cx="521208" cy="521208"/>
          </a:xfrm>
          <a:prstGeom prst="ellipse">
            <a:avLst/>
          </a:prstGeom>
          <a:solidFill>
            <a:srgbClr val="006633"/>
          </a:solidFill>
          <a:ln/>
        </p:spPr>
        <p:txBody>
          <a:bodyPr/>
          <a:lstStyle/>
          <a:p>
            <a:endParaRPr/>
          </a:p>
        </p:txBody>
      </p:sp>
      <p:sp>
        <p:nvSpPr>
          <p:cNvPr id="14" name="Text 12"/>
          <p:cNvSpPr/>
          <p:nvPr/>
        </p:nvSpPr>
        <p:spPr>
          <a:xfrm>
            <a:off x="7099173" y="231343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6208776" y="296494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Business</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Analyst</a:t>
            </a:r>
            <a:endParaRPr lang="en-US" sz="1100" dirty="0"/>
          </a:p>
        </p:txBody>
      </p:sp>
      <p:sp>
        <p:nvSpPr>
          <p:cNvPr id="16" name="Shape 14"/>
          <p:cNvSpPr/>
          <p:nvPr/>
        </p:nvSpPr>
        <p:spPr>
          <a:xfrm>
            <a:off x="8771382" y="213969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7" name="Shape 15"/>
          <p:cNvSpPr/>
          <p:nvPr/>
        </p:nvSpPr>
        <p:spPr>
          <a:xfrm>
            <a:off x="9748647" y="2313432"/>
            <a:ext cx="521208" cy="521208"/>
          </a:xfrm>
          <a:prstGeom prst="ellipse">
            <a:avLst/>
          </a:prstGeom>
          <a:solidFill>
            <a:srgbClr val="9FC41D"/>
          </a:solidFill>
          <a:ln/>
        </p:spPr>
        <p:txBody>
          <a:bodyPr/>
          <a:lstStyle/>
          <a:p>
            <a:endParaRPr/>
          </a:p>
        </p:txBody>
      </p:sp>
      <p:sp>
        <p:nvSpPr>
          <p:cNvPr id="18" name="Text 16"/>
          <p:cNvSpPr/>
          <p:nvPr/>
        </p:nvSpPr>
        <p:spPr>
          <a:xfrm>
            <a:off x="9748647" y="231343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8858250" y="296494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System/Solution</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Architect</a:t>
            </a:r>
            <a:endParaRPr lang="en-US" sz="1100" dirty="0"/>
          </a:p>
        </p:txBody>
      </p:sp>
      <p:sp>
        <p:nvSpPr>
          <p:cNvPr id="20" name="Shape 18"/>
          <p:cNvSpPr/>
          <p:nvPr/>
        </p:nvSpPr>
        <p:spPr>
          <a:xfrm>
            <a:off x="822960" y="387705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1" name="Shape 19"/>
          <p:cNvSpPr/>
          <p:nvPr/>
        </p:nvSpPr>
        <p:spPr>
          <a:xfrm>
            <a:off x="1800225" y="4050792"/>
            <a:ext cx="521208" cy="521208"/>
          </a:xfrm>
          <a:prstGeom prst="ellipse">
            <a:avLst/>
          </a:prstGeom>
          <a:solidFill>
            <a:srgbClr val="006633"/>
          </a:solidFill>
          <a:ln/>
        </p:spPr>
        <p:txBody>
          <a:bodyPr/>
          <a:lstStyle/>
          <a:p>
            <a:endParaRPr/>
          </a:p>
        </p:txBody>
      </p:sp>
      <p:sp>
        <p:nvSpPr>
          <p:cNvPr id="22" name="Text 20"/>
          <p:cNvSpPr/>
          <p:nvPr/>
        </p:nvSpPr>
        <p:spPr>
          <a:xfrm>
            <a:off x="1800225" y="405079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3" name="Text 21"/>
          <p:cNvSpPr/>
          <p:nvPr/>
        </p:nvSpPr>
        <p:spPr>
          <a:xfrm>
            <a:off x="909828" y="470230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Developer /</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Programmer</a:t>
            </a:r>
            <a:endParaRPr lang="en-US" sz="1100" dirty="0"/>
          </a:p>
        </p:txBody>
      </p:sp>
      <p:sp>
        <p:nvSpPr>
          <p:cNvPr id="24" name="Shape 22"/>
          <p:cNvSpPr/>
          <p:nvPr/>
        </p:nvSpPr>
        <p:spPr>
          <a:xfrm>
            <a:off x="3472434" y="387705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5" name="Shape 23"/>
          <p:cNvSpPr/>
          <p:nvPr/>
        </p:nvSpPr>
        <p:spPr>
          <a:xfrm>
            <a:off x="4449699" y="4050792"/>
            <a:ext cx="521208" cy="521208"/>
          </a:xfrm>
          <a:prstGeom prst="ellipse">
            <a:avLst/>
          </a:prstGeom>
          <a:solidFill>
            <a:srgbClr val="9FC41D"/>
          </a:solidFill>
          <a:ln/>
        </p:spPr>
        <p:txBody>
          <a:bodyPr/>
          <a:lstStyle/>
          <a:p>
            <a:endParaRPr/>
          </a:p>
        </p:txBody>
      </p:sp>
      <p:sp>
        <p:nvSpPr>
          <p:cNvPr id="26" name="Text 24"/>
          <p:cNvSpPr/>
          <p:nvPr/>
        </p:nvSpPr>
        <p:spPr>
          <a:xfrm>
            <a:off x="4449699" y="405079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7" name="Text 25"/>
          <p:cNvSpPr/>
          <p:nvPr/>
        </p:nvSpPr>
        <p:spPr>
          <a:xfrm>
            <a:off x="3559302" y="470230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QA /</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Tester</a:t>
            </a:r>
            <a:endParaRPr lang="en-US" sz="1100" dirty="0"/>
          </a:p>
        </p:txBody>
      </p:sp>
      <p:sp>
        <p:nvSpPr>
          <p:cNvPr id="28" name="Shape 26"/>
          <p:cNvSpPr/>
          <p:nvPr/>
        </p:nvSpPr>
        <p:spPr>
          <a:xfrm>
            <a:off x="6121908" y="387705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9" name="Shape 27"/>
          <p:cNvSpPr/>
          <p:nvPr/>
        </p:nvSpPr>
        <p:spPr>
          <a:xfrm>
            <a:off x="7099173" y="4050792"/>
            <a:ext cx="521208" cy="521208"/>
          </a:xfrm>
          <a:prstGeom prst="ellipse">
            <a:avLst/>
          </a:prstGeom>
          <a:solidFill>
            <a:srgbClr val="006633"/>
          </a:solidFill>
          <a:ln/>
        </p:spPr>
        <p:txBody>
          <a:bodyPr/>
          <a:lstStyle/>
          <a:p>
            <a:endParaRPr/>
          </a:p>
        </p:txBody>
      </p:sp>
      <p:sp>
        <p:nvSpPr>
          <p:cNvPr id="30" name="Text 28"/>
          <p:cNvSpPr/>
          <p:nvPr/>
        </p:nvSpPr>
        <p:spPr>
          <a:xfrm>
            <a:off x="7099173" y="405079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31" name="Text 29"/>
          <p:cNvSpPr/>
          <p:nvPr/>
        </p:nvSpPr>
        <p:spPr>
          <a:xfrm>
            <a:off x="6208776" y="470230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UI/UX</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Designer</a:t>
            </a:r>
            <a:endParaRPr lang="en-US" sz="1100" dirty="0"/>
          </a:p>
        </p:txBody>
      </p:sp>
      <p:sp>
        <p:nvSpPr>
          <p:cNvPr id="32" name="Shape 30"/>
          <p:cNvSpPr/>
          <p:nvPr/>
        </p:nvSpPr>
        <p:spPr>
          <a:xfrm>
            <a:off x="8771382" y="3877056"/>
            <a:ext cx="2475738" cy="1476756"/>
          </a:xfrm>
          <a:prstGeom prst="roundRect">
            <a:avLst>
              <a:gd name="adj" fmla="val 7059"/>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33" name="Shape 31"/>
          <p:cNvSpPr/>
          <p:nvPr/>
        </p:nvSpPr>
        <p:spPr>
          <a:xfrm>
            <a:off x="9748647" y="4050792"/>
            <a:ext cx="521208" cy="521208"/>
          </a:xfrm>
          <a:prstGeom prst="ellipse">
            <a:avLst/>
          </a:prstGeom>
          <a:solidFill>
            <a:srgbClr val="9FC41D"/>
          </a:solidFill>
          <a:ln/>
        </p:spPr>
        <p:txBody>
          <a:bodyPr/>
          <a:lstStyle/>
          <a:p>
            <a:endParaRPr/>
          </a:p>
        </p:txBody>
      </p:sp>
      <p:sp>
        <p:nvSpPr>
          <p:cNvPr id="34" name="Text 32"/>
          <p:cNvSpPr/>
          <p:nvPr/>
        </p:nvSpPr>
        <p:spPr>
          <a:xfrm>
            <a:off x="9748647" y="4050792"/>
            <a:ext cx="521208" cy="52120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35" name="Text 33"/>
          <p:cNvSpPr/>
          <p:nvPr/>
        </p:nvSpPr>
        <p:spPr>
          <a:xfrm>
            <a:off x="8858250" y="4702302"/>
            <a:ext cx="2302002" cy="564642"/>
          </a:xfrm>
          <a:prstGeom prst="rect">
            <a:avLst/>
          </a:prstGeom>
          <a:noFill/>
          <a:ln/>
        </p:spPr>
        <p:txBody>
          <a:bodyPr wrap="square" lIns="0" tIns="0" rIns="0" bIns="0" rtlCol="0" anchor="ctr"/>
          <a:lstStyle/>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DevOps</a:t>
            </a:r>
            <a:endParaRPr lang="en-US" sz="1100" dirty="0"/>
          </a:p>
          <a:p>
            <a:pPr marL="0" indent="0" algn="ctr">
              <a:lnSpc>
                <a:spcPct val="110000"/>
              </a:lnSpc>
              <a:buNone/>
            </a:pPr>
            <a:r>
              <a:rPr lang="en-US" sz="1100" b="1" dirty="0">
                <a:solidFill>
                  <a:srgbClr val="006633"/>
                </a:solidFill>
                <a:latin typeface="Calibri" pitchFamily="34" charset="0"/>
                <a:ea typeface="Calibri" pitchFamily="34" charset="-122"/>
                <a:cs typeface="Calibri" pitchFamily="34" charset="-120"/>
              </a:rPr>
              <a:t>Engineer</a:t>
            </a:r>
            <a:endParaRPr lang="en-US" sz="1100" dirty="0"/>
          </a:p>
        </p:txBody>
      </p:sp>
      <p:sp>
        <p:nvSpPr>
          <p:cNvPr id="36" name="TextBox 35"/>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12/26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PERAN TIM</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Project Manager: Peran Sentral dalam Tim</a:t>
            </a:r>
            <a:endParaRPr lang="en-US" sz="3200" dirty="0"/>
          </a:p>
        </p:txBody>
      </p:sp>
      <p:sp>
        <p:nvSpPr>
          <p:cNvPr id="4" name="Shape 2"/>
          <p:cNvSpPr/>
          <p:nvPr/>
        </p:nvSpPr>
        <p:spPr>
          <a:xfrm>
            <a:off x="1372598" y="2162815"/>
            <a:ext cx="423858" cy="423858"/>
          </a:xfrm>
          <a:prstGeom prst="ellipse">
            <a:avLst/>
          </a:prstGeom>
          <a:solidFill>
            <a:srgbClr val="006633"/>
          </a:solidFill>
          <a:ln/>
        </p:spPr>
        <p:txBody>
          <a:bodyPr/>
          <a:lstStyle/>
          <a:p>
            <a:endParaRPr/>
          </a:p>
        </p:txBody>
      </p:sp>
      <p:sp>
        <p:nvSpPr>
          <p:cNvPr id="5" name="Text 3"/>
          <p:cNvSpPr/>
          <p:nvPr/>
        </p:nvSpPr>
        <p:spPr>
          <a:xfrm>
            <a:off x="1372598" y="2162815"/>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950586" y="2139696"/>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Menjembatani kebutuhan stakeholder dengan kapabilitas tim teknis</a:t>
            </a:r>
            <a:endParaRPr lang="en-US" sz="1300" dirty="0"/>
          </a:p>
        </p:txBody>
      </p:sp>
      <p:sp>
        <p:nvSpPr>
          <p:cNvPr id="7" name="Shape 5"/>
          <p:cNvSpPr/>
          <p:nvPr/>
        </p:nvSpPr>
        <p:spPr>
          <a:xfrm>
            <a:off x="1372598" y="2740804"/>
            <a:ext cx="9324883" cy="0"/>
          </a:xfrm>
          <a:prstGeom prst="line">
            <a:avLst/>
          </a:prstGeom>
          <a:noFill/>
          <a:ln w="12700">
            <a:solidFill>
              <a:srgbClr val="E4EFD9"/>
            </a:solidFill>
            <a:prstDash val="solid"/>
          </a:ln>
        </p:spPr>
        <p:txBody>
          <a:bodyPr/>
          <a:lstStyle/>
          <a:p>
            <a:endParaRPr/>
          </a:p>
        </p:txBody>
      </p:sp>
      <p:sp>
        <p:nvSpPr>
          <p:cNvPr id="8" name="Shape 6"/>
          <p:cNvSpPr/>
          <p:nvPr/>
        </p:nvSpPr>
        <p:spPr>
          <a:xfrm>
            <a:off x="1372598" y="2894934"/>
            <a:ext cx="423858" cy="423858"/>
          </a:xfrm>
          <a:prstGeom prst="ellipse">
            <a:avLst/>
          </a:prstGeom>
          <a:solidFill>
            <a:srgbClr val="9FC41D"/>
          </a:solidFill>
          <a:ln/>
        </p:spPr>
        <p:txBody>
          <a:bodyPr/>
          <a:lstStyle/>
          <a:p>
            <a:endParaRPr/>
          </a:p>
        </p:txBody>
      </p:sp>
      <p:sp>
        <p:nvSpPr>
          <p:cNvPr id="9" name="Text 7"/>
          <p:cNvSpPr/>
          <p:nvPr/>
        </p:nvSpPr>
        <p:spPr>
          <a:xfrm>
            <a:off x="1372598" y="2894934"/>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950586" y="2871814"/>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Membangun visi bersama dan menjaga motivasi tim sepanjang proyek</a:t>
            </a:r>
            <a:endParaRPr lang="en-US" sz="1300" dirty="0"/>
          </a:p>
        </p:txBody>
      </p:sp>
      <p:sp>
        <p:nvSpPr>
          <p:cNvPr id="11" name="Shape 9"/>
          <p:cNvSpPr/>
          <p:nvPr/>
        </p:nvSpPr>
        <p:spPr>
          <a:xfrm>
            <a:off x="1372598" y="3472923"/>
            <a:ext cx="9324883" cy="0"/>
          </a:xfrm>
          <a:prstGeom prst="line">
            <a:avLst/>
          </a:prstGeom>
          <a:noFill/>
          <a:ln w="12700">
            <a:solidFill>
              <a:srgbClr val="E4EFD9"/>
            </a:solidFill>
            <a:prstDash val="solid"/>
          </a:ln>
        </p:spPr>
        <p:txBody>
          <a:bodyPr/>
          <a:lstStyle/>
          <a:p>
            <a:endParaRPr/>
          </a:p>
        </p:txBody>
      </p:sp>
      <p:sp>
        <p:nvSpPr>
          <p:cNvPr id="12" name="Shape 10"/>
          <p:cNvSpPr/>
          <p:nvPr/>
        </p:nvSpPr>
        <p:spPr>
          <a:xfrm>
            <a:off x="1372598" y="3627053"/>
            <a:ext cx="423858" cy="423858"/>
          </a:xfrm>
          <a:prstGeom prst="ellipse">
            <a:avLst/>
          </a:prstGeom>
          <a:solidFill>
            <a:srgbClr val="006633"/>
          </a:solidFill>
          <a:ln/>
        </p:spPr>
        <p:txBody>
          <a:bodyPr/>
          <a:lstStyle/>
          <a:p>
            <a:endParaRPr/>
          </a:p>
        </p:txBody>
      </p:sp>
      <p:sp>
        <p:nvSpPr>
          <p:cNvPr id="13" name="Text 11"/>
          <p:cNvSpPr/>
          <p:nvPr/>
        </p:nvSpPr>
        <p:spPr>
          <a:xfrm>
            <a:off x="1372598" y="3627053"/>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p:cNvSpPr/>
          <p:nvPr/>
        </p:nvSpPr>
        <p:spPr>
          <a:xfrm>
            <a:off x="1950586" y="3603933"/>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Mengambil keputusan di bawah ketidakpastian dan tekanan waktu</a:t>
            </a:r>
            <a:endParaRPr lang="en-US" sz="1300" dirty="0"/>
          </a:p>
        </p:txBody>
      </p:sp>
      <p:sp>
        <p:nvSpPr>
          <p:cNvPr id="15" name="Shape 13"/>
          <p:cNvSpPr/>
          <p:nvPr/>
        </p:nvSpPr>
        <p:spPr>
          <a:xfrm>
            <a:off x="1372598" y="4205042"/>
            <a:ext cx="9324883" cy="0"/>
          </a:xfrm>
          <a:prstGeom prst="line">
            <a:avLst/>
          </a:prstGeom>
          <a:noFill/>
          <a:ln w="12700">
            <a:solidFill>
              <a:srgbClr val="E4EFD9"/>
            </a:solidFill>
            <a:prstDash val="solid"/>
          </a:ln>
        </p:spPr>
        <p:txBody>
          <a:bodyPr/>
          <a:lstStyle/>
          <a:p>
            <a:endParaRPr/>
          </a:p>
        </p:txBody>
      </p:sp>
      <p:sp>
        <p:nvSpPr>
          <p:cNvPr id="16" name="Shape 14"/>
          <p:cNvSpPr/>
          <p:nvPr/>
        </p:nvSpPr>
        <p:spPr>
          <a:xfrm>
            <a:off x="1372598" y="4359172"/>
            <a:ext cx="423858" cy="423858"/>
          </a:xfrm>
          <a:prstGeom prst="ellipse">
            <a:avLst/>
          </a:prstGeom>
          <a:solidFill>
            <a:srgbClr val="9FC41D"/>
          </a:solidFill>
          <a:ln/>
        </p:spPr>
        <p:txBody>
          <a:bodyPr/>
          <a:lstStyle/>
          <a:p>
            <a:endParaRPr/>
          </a:p>
        </p:txBody>
      </p:sp>
      <p:sp>
        <p:nvSpPr>
          <p:cNvPr id="17" name="Text 15"/>
          <p:cNvSpPr/>
          <p:nvPr/>
        </p:nvSpPr>
        <p:spPr>
          <a:xfrm>
            <a:off x="1372598" y="4359172"/>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8" name="Text 16"/>
          <p:cNvSpPr/>
          <p:nvPr/>
        </p:nvSpPr>
        <p:spPr>
          <a:xfrm>
            <a:off x="1950586" y="4336052"/>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Menyelesaikan konflik antaranggota tim maupun dengan stakeholder</a:t>
            </a:r>
            <a:endParaRPr lang="en-US" sz="1300" dirty="0"/>
          </a:p>
        </p:txBody>
      </p:sp>
      <p:sp>
        <p:nvSpPr>
          <p:cNvPr id="19" name="Shape 17"/>
          <p:cNvSpPr/>
          <p:nvPr/>
        </p:nvSpPr>
        <p:spPr>
          <a:xfrm>
            <a:off x="1372598" y="4937161"/>
            <a:ext cx="9324883" cy="0"/>
          </a:xfrm>
          <a:prstGeom prst="line">
            <a:avLst/>
          </a:prstGeom>
          <a:noFill/>
          <a:ln w="12700">
            <a:solidFill>
              <a:srgbClr val="E4EFD9"/>
            </a:solidFill>
            <a:prstDash val="solid"/>
          </a:ln>
        </p:spPr>
        <p:txBody>
          <a:bodyPr/>
          <a:lstStyle/>
          <a:p>
            <a:endParaRPr/>
          </a:p>
        </p:txBody>
      </p:sp>
      <p:sp>
        <p:nvSpPr>
          <p:cNvPr id="20" name="Shape 18"/>
          <p:cNvSpPr/>
          <p:nvPr/>
        </p:nvSpPr>
        <p:spPr>
          <a:xfrm>
            <a:off x="1372598" y="5091291"/>
            <a:ext cx="423858" cy="423858"/>
          </a:xfrm>
          <a:prstGeom prst="ellipse">
            <a:avLst/>
          </a:prstGeom>
          <a:solidFill>
            <a:srgbClr val="006633"/>
          </a:solidFill>
          <a:ln/>
        </p:spPr>
        <p:txBody>
          <a:bodyPr/>
          <a:lstStyle/>
          <a:p>
            <a:endParaRPr/>
          </a:p>
        </p:txBody>
      </p:sp>
      <p:sp>
        <p:nvSpPr>
          <p:cNvPr id="21" name="Text 19"/>
          <p:cNvSpPr/>
          <p:nvPr/>
        </p:nvSpPr>
        <p:spPr>
          <a:xfrm>
            <a:off x="1372598" y="5091291"/>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2" name="Text 20"/>
          <p:cNvSpPr/>
          <p:nvPr/>
        </p:nvSpPr>
        <p:spPr>
          <a:xfrm>
            <a:off x="1950586" y="5068171"/>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Menjadi teladan dalam etika kerja dan tanggung jawab profesional</a:t>
            </a:r>
            <a:endParaRPr lang="en-US" sz="1300" dirty="0"/>
          </a:p>
        </p:txBody>
      </p:sp>
      <p:sp>
        <p:nvSpPr>
          <p:cNvPr id="23" name="Shape 21"/>
          <p:cNvSpPr/>
          <p:nvPr/>
        </p:nvSpPr>
        <p:spPr>
          <a:xfrm>
            <a:off x="1372598" y="5669280"/>
            <a:ext cx="9324883" cy="0"/>
          </a:xfrm>
          <a:prstGeom prst="line">
            <a:avLst/>
          </a:prstGeom>
          <a:noFill/>
          <a:ln w="12700">
            <a:solidFill>
              <a:srgbClr val="E4EFD9"/>
            </a:solidFill>
            <a:prstDash val="solid"/>
          </a:ln>
        </p:spPr>
        <p:txBody>
          <a:bodyPr/>
          <a:lstStyle/>
          <a:p>
            <a:endParaRPr/>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13/26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KEPEMIMPINAN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Kompetensi Project Manager</a:t>
            </a:r>
            <a:endParaRPr lang="en-US" sz="3200" dirty="0"/>
          </a:p>
        </p:txBody>
      </p:sp>
      <p:sp>
        <p:nvSpPr>
          <p:cNvPr id="4" name="Shape 2"/>
          <p:cNvSpPr/>
          <p:nvPr/>
        </p:nvSpPr>
        <p:spPr>
          <a:xfrm>
            <a:off x="1659076" y="2139696"/>
            <a:ext cx="2773244" cy="3097390"/>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685536" y="2427825"/>
            <a:ext cx="720323" cy="720323"/>
          </a:xfrm>
          <a:prstGeom prst="ellipse">
            <a:avLst/>
          </a:prstGeom>
          <a:solidFill>
            <a:srgbClr val="9FC41D"/>
          </a:solidFill>
          <a:ln/>
        </p:spPr>
        <p:txBody>
          <a:bodyPr/>
          <a:lstStyle/>
          <a:p>
            <a:endParaRPr/>
          </a:p>
        </p:txBody>
      </p:sp>
      <p:sp>
        <p:nvSpPr>
          <p:cNvPr id="6" name="Text 4"/>
          <p:cNvSpPr/>
          <p:nvPr/>
        </p:nvSpPr>
        <p:spPr>
          <a:xfrm>
            <a:off x="2685536" y="2427825"/>
            <a:ext cx="720323" cy="720323"/>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875173" y="3328229"/>
            <a:ext cx="2341050" cy="54024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mbria" pitchFamily="34" charset="0"/>
                <a:ea typeface="Cambria" pitchFamily="34" charset="-122"/>
                <a:cs typeface="Cambria" pitchFamily="34" charset="-120"/>
              </a:rPr>
              <a:t>Ways of Working</a:t>
            </a:r>
            <a:endParaRPr lang="en-US" sz="1200" dirty="0"/>
          </a:p>
        </p:txBody>
      </p:sp>
      <p:sp>
        <p:nvSpPr>
          <p:cNvPr id="8" name="Text 6"/>
          <p:cNvSpPr/>
          <p:nvPr/>
        </p:nvSpPr>
        <p:spPr>
          <a:xfrm>
            <a:off x="1911189" y="3940504"/>
            <a:ext cx="2269018" cy="1224549"/>
          </a:xfrm>
          <a:prstGeom prst="rect">
            <a:avLst/>
          </a:prstGeom>
          <a:noFill/>
          <a:ln/>
        </p:spPr>
        <p:txBody>
          <a:bodyPr wrap="square" lIns="0" tIns="0" rIns="0" bIns="0" rtlCol="0" anchor="ctr"/>
          <a:lstStyle/>
          <a:p>
            <a:pPr marL="0" indent="0" algn="ctr">
              <a:lnSpc>
                <a:spcPct val="125000"/>
              </a:lnSpc>
              <a:buNone/>
            </a:pPr>
            <a:r>
              <a:rPr lang="en-US" sz="1000" dirty="0">
                <a:solidFill>
                  <a:srgbClr val="1F7A34"/>
                </a:solidFill>
                <a:latin typeface="Calibri" pitchFamily="34" charset="0"/>
                <a:ea typeface="Calibri" pitchFamily="34" charset="-122"/>
                <a:cs typeface="Calibri" pitchFamily="34" charset="-120"/>
              </a:rPr>
              <a:t>Kemampuan teknis: metodologi, tools, dan proses manajemen proyek (predictive, agile, hybrid).</a:t>
            </a:r>
            <a:endParaRPr lang="en-US" sz="1000" dirty="0"/>
          </a:p>
        </p:txBody>
      </p:sp>
      <p:sp>
        <p:nvSpPr>
          <p:cNvPr id="9" name="Shape 7"/>
          <p:cNvSpPr/>
          <p:nvPr/>
        </p:nvSpPr>
        <p:spPr>
          <a:xfrm>
            <a:off x="4648417" y="2139696"/>
            <a:ext cx="2773244" cy="3097390"/>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5674878" y="2427825"/>
            <a:ext cx="720323" cy="720323"/>
          </a:xfrm>
          <a:prstGeom prst="ellipse">
            <a:avLst/>
          </a:prstGeom>
          <a:solidFill>
            <a:srgbClr val="9FC41D"/>
          </a:solidFill>
          <a:ln/>
        </p:spPr>
        <p:txBody>
          <a:bodyPr/>
          <a:lstStyle/>
          <a:p>
            <a:endParaRPr/>
          </a:p>
        </p:txBody>
      </p:sp>
      <p:sp>
        <p:nvSpPr>
          <p:cNvPr id="11" name="Text 9"/>
          <p:cNvSpPr/>
          <p:nvPr/>
        </p:nvSpPr>
        <p:spPr>
          <a:xfrm>
            <a:off x="5674878" y="2427825"/>
            <a:ext cx="720323" cy="720323"/>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4864514" y="3328229"/>
            <a:ext cx="2341050" cy="54024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mbria" pitchFamily="34" charset="0"/>
                <a:ea typeface="Cambria" pitchFamily="34" charset="-122"/>
                <a:cs typeface="Cambria" pitchFamily="34" charset="-120"/>
              </a:rPr>
              <a:t>Power Skills</a:t>
            </a:r>
            <a:endParaRPr lang="en-US" sz="1200" dirty="0"/>
          </a:p>
        </p:txBody>
      </p:sp>
      <p:sp>
        <p:nvSpPr>
          <p:cNvPr id="13" name="Text 11"/>
          <p:cNvSpPr/>
          <p:nvPr/>
        </p:nvSpPr>
        <p:spPr>
          <a:xfrm>
            <a:off x="4900530" y="3940504"/>
            <a:ext cx="2269018" cy="1224549"/>
          </a:xfrm>
          <a:prstGeom prst="rect">
            <a:avLst/>
          </a:prstGeom>
          <a:noFill/>
          <a:ln/>
        </p:spPr>
        <p:txBody>
          <a:bodyPr wrap="square" lIns="0" tIns="0" rIns="0" bIns="0" rtlCol="0" anchor="ctr"/>
          <a:lstStyle/>
          <a:p>
            <a:pPr marL="0" indent="0" algn="ctr">
              <a:lnSpc>
                <a:spcPct val="125000"/>
              </a:lnSpc>
              <a:buNone/>
            </a:pPr>
            <a:r>
              <a:rPr lang="en-US" sz="1000" dirty="0">
                <a:solidFill>
                  <a:srgbClr val="1F7A34"/>
                </a:solidFill>
                <a:latin typeface="Calibri" pitchFamily="34" charset="0"/>
                <a:ea typeface="Calibri" pitchFamily="34" charset="-122"/>
                <a:cs typeface="Calibri" pitchFamily="34" charset="-120"/>
              </a:rPr>
              <a:t>Kemampuan interpersonal: komunikasi, kepemimpinan, kolaborasi, dan penyelesaian konflik.</a:t>
            </a:r>
            <a:endParaRPr lang="en-US" sz="1000" dirty="0"/>
          </a:p>
        </p:txBody>
      </p:sp>
      <p:sp>
        <p:nvSpPr>
          <p:cNvPr id="14" name="Shape 12"/>
          <p:cNvSpPr/>
          <p:nvPr/>
        </p:nvSpPr>
        <p:spPr>
          <a:xfrm>
            <a:off x="7637759" y="2139696"/>
            <a:ext cx="2773244" cy="3097390"/>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8664219" y="2427825"/>
            <a:ext cx="720323" cy="720323"/>
          </a:xfrm>
          <a:prstGeom prst="ellipse">
            <a:avLst/>
          </a:prstGeom>
          <a:solidFill>
            <a:srgbClr val="9FC41D"/>
          </a:solidFill>
          <a:ln/>
        </p:spPr>
        <p:txBody>
          <a:bodyPr/>
          <a:lstStyle/>
          <a:p>
            <a:endParaRPr/>
          </a:p>
        </p:txBody>
      </p:sp>
      <p:sp>
        <p:nvSpPr>
          <p:cNvPr id="16" name="Text 14"/>
          <p:cNvSpPr/>
          <p:nvPr/>
        </p:nvSpPr>
        <p:spPr>
          <a:xfrm>
            <a:off x="8664219" y="2427825"/>
            <a:ext cx="720323" cy="720323"/>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7853856" y="3328229"/>
            <a:ext cx="2341050" cy="540242"/>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mbria" pitchFamily="34" charset="0"/>
                <a:ea typeface="Cambria" pitchFamily="34" charset="-122"/>
                <a:cs typeface="Cambria" pitchFamily="34" charset="-120"/>
              </a:rPr>
              <a:t>Business Acumen</a:t>
            </a:r>
            <a:endParaRPr lang="en-US" sz="1200" dirty="0"/>
          </a:p>
        </p:txBody>
      </p:sp>
      <p:sp>
        <p:nvSpPr>
          <p:cNvPr id="18" name="Text 16"/>
          <p:cNvSpPr/>
          <p:nvPr/>
        </p:nvSpPr>
        <p:spPr>
          <a:xfrm>
            <a:off x="7889872" y="3940504"/>
            <a:ext cx="2269018" cy="1224549"/>
          </a:xfrm>
          <a:prstGeom prst="rect">
            <a:avLst/>
          </a:prstGeom>
          <a:noFill/>
          <a:ln/>
        </p:spPr>
        <p:txBody>
          <a:bodyPr wrap="square" lIns="0" tIns="0" rIns="0" bIns="0" rtlCol="0" anchor="ctr"/>
          <a:lstStyle/>
          <a:p>
            <a:pPr marL="0" indent="0" algn="ctr">
              <a:lnSpc>
                <a:spcPct val="125000"/>
              </a:lnSpc>
              <a:buNone/>
            </a:pPr>
            <a:r>
              <a:rPr lang="en-US" sz="1000" dirty="0">
                <a:solidFill>
                  <a:srgbClr val="1F7A34"/>
                </a:solidFill>
                <a:latin typeface="Calibri" pitchFamily="34" charset="0"/>
                <a:ea typeface="Calibri" pitchFamily="34" charset="-122"/>
                <a:cs typeface="Calibri" pitchFamily="34" charset="-120"/>
              </a:rPr>
              <a:t>Pemahaman konteks bisnis &amp; strategi organisasi agar keputusan proyek selaras dengan tujuan bisnis.</a:t>
            </a:r>
            <a:endParaRPr lang="en-US" sz="1000" dirty="0"/>
          </a:p>
        </p:txBody>
      </p:sp>
      <p:sp>
        <p:nvSpPr>
          <p:cNvPr id="19" name="Text 17"/>
          <p:cNvSpPr/>
          <p:nvPr/>
        </p:nvSpPr>
        <p:spPr>
          <a:xfrm>
            <a:off x="1659076" y="5381150"/>
            <a:ext cx="8643879" cy="288129"/>
          </a:xfrm>
          <a:prstGeom prst="rect">
            <a:avLst/>
          </a:prstGeom>
          <a:noFill/>
          <a:ln/>
        </p:spPr>
        <p:txBody>
          <a:bodyPr wrap="square" lIns="0" tIns="0" rIns="0" bIns="0" rtlCol="0" anchor="ctr"/>
          <a:lstStyle/>
          <a:p>
            <a:pPr marL="0" indent="0">
              <a:buNone/>
            </a:pPr>
            <a:r>
              <a:rPr lang="en-US" sz="1000" i="1" dirty="0">
                <a:solidFill>
                  <a:srgbClr val="6E9B7C"/>
                </a:solidFill>
                <a:latin typeface="Calibri" pitchFamily="34" charset="0"/>
                <a:ea typeface="Calibri" pitchFamily="34" charset="-122"/>
                <a:cs typeface="Calibri" pitchFamily="34" charset="-120"/>
              </a:rPr>
              <a:t>Kerangka ini dikenal sebagai PMI Talent Triangle®.</a:t>
            </a:r>
            <a:endParaRPr lang="en-US" sz="10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14/26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KEPEMIMPINAN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Apa Itu Kepemimpinan dalam Proyek?</a:t>
            </a:r>
            <a:endParaRPr lang="en-US" sz="3200" dirty="0"/>
          </a:p>
        </p:txBody>
      </p:sp>
      <p:sp>
        <p:nvSpPr>
          <p:cNvPr id="4" name="Shape 2"/>
          <p:cNvSpPr/>
          <p:nvPr/>
        </p:nvSpPr>
        <p:spPr>
          <a:xfrm>
            <a:off x="822960" y="2139696"/>
            <a:ext cx="10424160" cy="1636851"/>
          </a:xfrm>
          <a:prstGeom prst="roundRect">
            <a:avLst>
              <a:gd name="adj" fmla="val 6316"/>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11996"/>
            <a:ext cx="9734959" cy="1292251"/>
          </a:xfrm>
          <a:prstGeom prst="rect">
            <a:avLst/>
          </a:prstGeom>
          <a:noFill/>
          <a:ln/>
        </p:spPr>
        <p:txBody>
          <a:bodyPr wrap="square" lIns="0" tIns="0" rIns="0" bIns="0" rtlCol="0" anchor="ctr"/>
          <a:lstStyle/>
          <a:p>
            <a:pPr marL="0" indent="0">
              <a:lnSpc>
                <a:spcPct val="130000"/>
              </a:lnSpc>
              <a:buNone/>
            </a:pPr>
            <a:r>
              <a:rPr lang="en-US" sz="1900" i="1" dirty="0">
                <a:solidFill>
                  <a:srgbClr val="FFFFFF"/>
                </a:solidFill>
                <a:latin typeface="Cambria" pitchFamily="34" charset="0"/>
                <a:ea typeface="Cambria" pitchFamily="34" charset="-122"/>
                <a:cs typeface="Cambria" pitchFamily="34" charset="-120"/>
              </a:rPr>
              <a:t>“Kemampuan memengaruhi, memotivasi, dan mengarahkan tim agar bekerja secara efektif menuju tujuan proyek bersama.”</a:t>
            </a:r>
            <a:endParaRPr lang="en-US" sz="1900" dirty="0"/>
          </a:p>
        </p:txBody>
      </p:sp>
      <p:sp>
        <p:nvSpPr>
          <p:cNvPr id="6" name="Text 4"/>
          <p:cNvSpPr/>
          <p:nvPr/>
        </p:nvSpPr>
        <p:spPr>
          <a:xfrm>
            <a:off x="822960" y="3991922"/>
            <a:ext cx="9993409" cy="1033800"/>
          </a:xfrm>
          <a:prstGeom prst="rect">
            <a:avLst/>
          </a:prstGeom>
          <a:noFill/>
          <a:ln/>
        </p:spPr>
        <p:txBody>
          <a:bodyPr wrap="square" lIns="0" tIns="0" rIns="0" bIns="0" rtlCol="0" anchor="ctr"/>
          <a:lstStyle/>
          <a:p>
            <a:pPr marL="0" indent="0">
              <a:lnSpc>
                <a:spcPct val="130000"/>
              </a:lnSpc>
              <a:buNone/>
            </a:pPr>
            <a:r>
              <a:rPr lang="en-US" sz="1400" dirty="0">
                <a:solidFill>
                  <a:srgbClr val="1F7A34"/>
                </a:solidFill>
                <a:latin typeface="Calibri" pitchFamily="34" charset="0"/>
                <a:ea typeface="Calibri" pitchFamily="34" charset="-122"/>
                <a:cs typeface="Calibri" pitchFamily="34" charset="-120"/>
              </a:rPr>
              <a:t>Kepemimpinan berbeda dengan otoritas formal — seorang PM bisa memiliki jabatan, namun kepemimpinan sejati muncul dari kepercayaan dan pengaruh yang dibangun bersama tim.</a:t>
            </a:r>
            <a:endParaRPr lang="en-US" sz="14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15/26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KEPEMIMPINAN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Lima Gaya Kepemimpinan dalam Proyek</a:t>
            </a:r>
            <a:endParaRPr lang="en-US" sz="3200" dirty="0"/>
          </a:p>
        </p:txBody>
      </p:sp>
      <p:sp>
        <p:nvSpPr>
          <p:cNvPr id="4" name="Shape 2"/>
          <p:cNvSpPr/>
          <p:nvPr/>
        </p:nvSpPr>
        <p:spPr>
          <a:xfrm>
            <a:off x="2010654"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208575" y="2416784"/>
            <a:ext cx="461814" cy="461814"/>
          </a:xfrm>
          <a:prstGeom prst="ellipse">
            <a:avLst/>
          </a:prstGeom>
          <a:solidFill>
            <a:srgbClr val="9FC41D"/>
          </a:solidFill>
          <a:ln/>
        </p:spPr>
        <p:txBody>
          <a:bodyPr/>
          <a:lstStyle/>
          <a:p>
            <a:endParaRPr/>
          </a:p>
        </p:txBody>
      </p:sp>
      <p:sp>
        <p:nvSpPr>
          <p:cNvPr id="6" name="Text 4"/>
          <p:cNvSpPr/>
          <p:nvPr/>
        </p:nvSpPr>
        <p:spPr>
          <a:xfrm>
            <a:off x="2208575"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2802336" y="2238656"/>
            <a:ext cx="2869848" cy="263894"/>
          </a:xfrm>
          <a:prstGeom prst="rect">
            <a:avLst/>
          </a:prstGeom>
          <a:noFill/>
          <a:ln/>
        </p:spPr>
        <p:txBody>
          <a:bodyPr wrap="square" lIns="0" tIns="0" rIns="0" bIns="0" rtlCol="0" anchor="ctr"/>
          <a:lstStyle/>
          <a:p>
            <a:pPr marL="0" indent="0">
              <a:buNone/>
            </a:pPr>
            <a:r>
              <a:rPr lang="en-US" sz="1000" b="1" dirty="0" err="1">
                <a:solidFill>
                  <a:srgbClr val="006633"/>
                </a:solidFill>
                <a:latin typeface="Cambria" pitchFamily="34" charset="0"/>
                <a:ea typeface="Cambria" pitchFamily="34" charset="-122"/>
                <a:cs typeface="Cambria" pitchFamily="34" charset="-120"/>
              </a:rPr>
              <a:t>Otoriter</a:t>
            </a:r>
            <a:endParaRPr lang="en-US" sz="1000" dirty="0"/>
          </a:p>
        </p:txBody>
      </p:sp>
      <p:sp>
        <p:nvSpPr>
          <p:cNvPr id="8" name="Text 6"/>
          <p:cNvSpPr/>
          <p:nvPr/>
        </p:nvSpPr>
        <p:spPr>
          <a:xfrm>
            <a:off x="2802336" y="2535537"/>
            <a:ext cx="2869848" cy="527788"/>
          </a:xfrm>
          <a:prstGeom prst="rect">
            <a:avLst/>
          </a:prstGeom>
          <a:noFill/>
          <a:ln/>
        </p:spPr>
        <p:txBody>
          <a:bodyPr wrap="square" lIns="0" tIns="0" rIns="0" bIns="0" rtlCol="0" anchor="ctr"/>
          <a:lstStyle/>
          <a:p>
            <a:pPr marL="0" indent="0">
              <a:lnSpc>
                <a:spcPct val="115000"/>
              </a:lnSpc>
              <a:buNone/>
            </a:pPr>
            <a:r>
              <a:rPr lang="en-US" sz="900" dirty="0">
                <a:solidFill>
                  <a:srgbClr val="1F7A34"/>
                </a:solidFill>
                <a:latin typeface="Calibri" pitchFamily="34" charset="0"/>
                <a:ea typeface="Calibri" pitchFamily="34" charset="-122"/>
                <a:cs typeface="Calibri" pitchFamily="34" charset="-120"/>
              </a:rPr>
              <a:t>PM mengambil keputusan sendiri dengan sedikit masukan tim</a:t>
            </a:r>
            <a:endParaRPr lang="en-US" sz="900" dirty="0"/>
          </a:p>
        </p:txBody>
      </p:sp>
      <p:sp>
        <p:nvSpPr>
          <p:cNvPr id="9" name="Shape 7"/>
          <p:cNvSpPr/>
          <p:nvPr/>
        </p:nvSpPr>
        <p:spPr>
          <a:xfrm>
            <a:off x="6199973"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6397894" y="2416784"/>
            <a:ext cx="461814" cy="461814"/>
          </a:xfrm>
          <a:prstGeom prst="ellipse">
            <a:avLst/>
          </a:prstGeom>
          <a:solidFill>
            <a:srgbClr val="006633"/>
          </a:solidFill>
          <a:ln/>
        </p:spPr>
        <p:txBody>
          <a:bodyPr/>
          <a:lstStyle/>
          <a:p>
            <a:endParaRPr/>
          </a:p>
        </p:txBody>
      </p:sp>
      <p:sp>
        <p:nvSpPr>
          <p:cNvPr id="11" name="Text 9"/>
          <p:cNvSpPr/>
          <p:nvPr/>
        </p:nvSpPr>
        <p:spPr>
          <a:xfrm>
            <a:off x="6397894"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6991656" y="2238656"/>
            <a:ext cx="2869848" cy="263894"/>
          </a:xfrm>
          <a:prstGeom prst="rect">
            <a:avLst/>
          </a:prstGeom>
          <a:noFill/>
          <a:ln/>
        </p:spPr>
        <p:txBody>
          <a:bodyPr wrap="square" lIns="0" tIns="0" rIns="0" bIns="0" rtlCol="0" anchor="ctr"/>
          <a:lstStyle/>
          <a:p>
            <a:pPr marL="0" indent="0">
              <a:buNone/>
            </a:pPr>
            <a:r>
              <a:rPr lang="en-US" sz="1000" b="1" dirty="0" err="1">
                <a:solidFill>
                  <a:srgbClr val="006633"/>
                </a:solidFill>
                <a:latin typeface="Cambria" pitchFamily="34" charset="0"/>
                <a:ea typeface="Cambria" pitchFamily="34" charset="-122"/>
                <a:cs typeface="Cambria" pitchFamily="34" charset="-120"/>
              </a:rPr>
              <a:t>Demokratis</a:t>
            </a:r>
            <a:endParaRPr lang="en-US" sz="1000" dirty="0"/>
          </a:p>
        </p:txBody>
      </p:sp>
      <p:sp>
        <p:nvSpPr>
          <p:cNvPr id="13" name="Text 11"/>
          <p:cNvSpPr/>
          <p:nvPr/>
        </p:nvSpPr>
        <p:spPr>
          <a:xfrm>
            <a:off x="6991656" y="2535537"/>
            <a:ext cx="2869848" cy="527788"/>
          </a:xfrm>
          <a:prstGeom prst="rect">
            <a:avLst/>
          </a:prstGeom>
          <a:noFill/>
          <a:ln/>
        </p:spPr>
        <p:txBody>
          <a:bodyPr wrap="square" lIns="0" tIns="0" rIns="0" bIns="0" rtlCol="0" anchor="ctr"/>
          <a:lstStyle/>
          <a:p>
            <a:pPr marL="0" indent="0">
              <a:lnSpc>
                <a:spcPct val="115000"/>
              </a:lnSpc>
              <a:buNone/>
            </a:pPr>
            <a:r>
              <a:rPr lang="en-US" sz="900" dirty="0">
                <a:solidFill>
                  <a:srgbClr val="1F7A34"/>
                </a:solidFill>
                <a:latin typeface="Calibri" pitchFamily="34" charset="0"/>
                <a:ea typeface="Calibri" pitchFamily="34" charset="-122"/>
                <a:cs typeface="Calibri" pitchFamily="34" charset="-120"/>
              </a:rPr>
              <a:t>Keputusan diambil bersama melalui diskusi dan masukan tim</a:t>
            </a:r>
            <a:endParaRPr lang="en-US" sz="900" dirty="0"/>
          </a:p>
        </p:txBody>
      </p:sp>
      <p:sp>
        <p:nvSpPr>
          <p:cNvPr id="14" name="Shape 12"/>
          <p:cNvSpPr/>
          <p:nvPr/>
        </p:nvSpPr>
        <p:spPr>
          <a:xfrm>
            <a:off x="2010654"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2208575" y="3670281"/>
            <a:ext cx="461814" cy="461814"/>
          </a:xfrm>
          <a:prstGeom prst="ellipse">
            <a:avLst/>
          </a:prstGeom>
          <a:solidFill>
            <a:srgbClr val="9FC41D"/>
          </a:solidFill>
          <a:ln/>
        </p:spPr>
        <p:txBody>
          <a:bodyPr/>
          <a:lstStyle/>
          <a:p>
            <a:endParaRPr/>
          </a:p>
        </p:txBody>
      </p:sp>
      <p:sp>
        <p:nvSpPr>
          <p:cNvPr id="16" name="Text 14"/>
          <p:cNvSpPr/>
          <p:nvPr/>
        </p:nvSpPr>
        <p:spPr>
          <a:xfrm>
            <a:off x="2208575"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2802336" y="3492153"/>
            <a:ext cx="2869848" cy="263894"/>
          </a:xfrm>
          <a:prstGeom prst="rect">
            <a:avLst/>
          </a:prstGeom>
          <a:noFill/>
          <a:ln/>
        </p:spPr>
        <p:txBody>
          <a:bodyPr wrap="square" lIns="0" tIns="0" rIns="0" bIns="0" rtlCol="0" anchor="ctr"/>
          <a:lstStyle/>
          <a:p>
            <a:pPr marL="0" indent="0">
              <a:buNone/>
            </a:pPr>
            <a:r>
              <a:rPr lang="en-US" sz="1000" b="1" dirty="0">
                <a:solidFill>
                  <a:srgbClr val="006633"/>
                </a:solidFill>
                <a:latin typeface="Cambria" pitchFamily="34" charset="0"/>
                <a:ea typeface="Cambria" pitchFamily="34" charset="-122"/>
                <a:cs typeface="Cambria" pitchFamily="34" charset="-120"/>
              </a:rPr>
              <a:t>Delegative</a:t>
            </a:r>
            <a:endParaRPr lang="en-US" sz="1000" dirty="0"/>
          </a:p>
        </p:txBody>
      </p:sp>
      <p:sp>
        <p:nvSpPr>
          <p:cNvPr id="18" name="Text 16"/>
          <p:cNvSpPr/>
          <p:nvPr/>
        </p:nvSpPr>
        <p:spPr>
          <a:xfrm>
            <a:off x="2802336" y="3789034"/>
            <a:ext cx="2869848" cy="527788"/>
          </a:xfrm>
          <a:prstGeom prst="rect">
            <a:avLst/>
          </a:prstGeom>
          <a:noFill/>
          <a:ln/>
        </p:spPr>
        <p:txBody>
          <a:bodyPr wrap="square" lIns="0" tIns="0" rIns="0" bIns="0" rtlCol="0" anchor="ctr"/>
          <a:lstStyle/>
          <a:p>
            <a:pPr marL="0" indent="0">
              <a:lnSpc>
                <a:spcPct val="115000"/>
              </a:lnSpc>
              <a:buNone/>
            </a:pPr>
            <a:r>
              <a:rPr lang="en-US" sz="900" dirty="0">
                <a:solidFill>
                  <a:srgbClr val="1F7A34"/>
                </a:solidFill>
                <a:latin typeface="Calibri" pitchFamily="34" charset="0"/>
                <a:ea typeface="Calibri" pitchFamily="34" charset="-122"/>
                <a:cs typeface="Calibri" pitchFamily="34" charset="-120"/>
              </a:rPr>
              <a:t>Tim diberi kebebasan besar untuk mengatur pekerjaannya sendiri</a:t>
            </a:r>
            <a:endParaRPr lang="en-US" sz="900" dirty="0"/>
          </a:p>
        </p:txBody>
      </p:sp>
      <p:sp>
        <p:nvSpPr>
          <p:cNvPr id="19" name="Shape 17"/>
          <p:cNvSpPr/>
          <p:nvPr/>
        </p:nvSpPr>
        <p:spPr>
          <a:xfrm>
            <a:off x="6199973"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0" name="Shape 18"/>
          <p:cNvSpPr/>
          <p:nvPr/>
        </p:nvSpPr>
        <p:spPr>
          <a:xfrm>
            <a:off x="6397894" y="3670281"/>
            <a:ext cx="461814" cy="461814"/>
          </a:xfrm>
          <a:prstGeom prst="ellipse">
            <a:avLst/>
          </a:prstGeom>
          <a:solidFill>
            <a:srgbClr val="006633"/>
          </a:solidFill>
          <a:ln/>
        </p:spPr>
        <p:txBody>
          <a:bodyPr/>
          <a:lstStyle/>
          <a:p>
            <a:endParaRPr/>
          </a:p>
        </p:txBody>
      </p:sp>
      <p:sp>
        <p:nvSpPr>
          <p:cNvPr id="21" name="Text 19"/>
          <p:cNvSpPr/>
          <p:nvPr/>
        </p:nvSpPr>
        <p:spPr>
          <a:xfrm>
            <a:off x="6397894"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6991656" y="3492153"/>
            <a:ext cx="2869848" cy="263894"/>
          </a:xfrm>
          <a:prstGeom prst="rect">
            <a:avLst/>
          </a:prstGeom>
          <a:noFill/>
          <a:ln/>
        </p:spPr>
        <p:txBody>
          <a:bodyPr wrap="square" lIns="0" tIns="0" rIns="0" bIns="0" rtlCol="0" anchor="ctr"/>
          <a:lstStyle/>
          <a:p>
            <a:pPr marL="0" indent="0">
              <a:buNone/>
            </a:pPr>
            <a:r>
              <a:rPr lang="en-US" sz="1000" b="1" dirty="0" err="1">
                <a:solidFill>
                  <a:srgbClr val="006633"/>
                </a:solidFill>
                <a:latin typeface="Cambria" pitchFamily="34" charset="0"/>
                <a:ea typeface="Cambria" pitchFamily="34" charset="-122"/>
                <a:cs typeface="Cambria" pitchFamily="34" charset="-120"/>
              </a:rPr>
              <a:t>Kepeminpinan</a:t>
            </a:r>
            <a:r>
              <a:rPr lang="en-US" sz="1000" b="1" dirty="0">
                <a:solidFill>
                  <a:srgbClr val="006633"/>
                </a:solidFill>
                <a:latin typeface="Cambria" pitchFamily="34" charset="0"/>
                <a:ea typeface="Cambria" pitchFamily="34" charset="-122"/>
                <a:cs typeface="Cambria" pitchFamily="34" charset="-120"/>
              </a:rPr>
              <a:t> </a:t>
            </a:r>
            <a:r>
              <a:rPr lang="en-US" sz="1000" b="1" dirty="0" err="1">
                <a:solidFill>
                  <a:srgbClr val="006633"/>
                </a:solidFill>
                <a:latin typeface="Cambria" pitchFamily="34" charset="0"/>
                <a:ea typeface="Cambria" pitchFamily="34" charset="-122"/>
                <a:cs typeface="Cambria" pitchFamily="34" charset="-120"/>
              </a:rPr>
              <a:t>Melayani</a:t>
            </a:r>
            <a:endParaRPr lang="en-US" sz="1000" dirty="0"/>
          </a:p>
        </p:txBody>
      </p:sp>
      <p:sp>
        <p:nvSpPr>
          <p:cNvPr id="23" name="Text 21"/>
          <p:cNvSpPr/>
          <p:nvPr/>
        </p:nvSpPr>
        <p:spPr>
          <a:xfrm>
            <a:off x="6991656" y="3789034"/>
            <a:ext cx="2869848" cy="527788"/>
          </a:xfrm>
          <a:prstGeom prst="rect">
            <a:avLst/>
          </a:prstGeom>
          <a:noFill/>
          <a:ln/>
        </p:spPr>
        <p:txBody>
          <a:bodyPr wrap="square" lIns="0" tIns="0" rIns="0" bIns="0" rtlCol="0" anchor="ctr"/>
          <a:lstStyle/>
          <a:p>
            <a:pPr marL="0" indent="0">
              <a:lnSpc>
                <a:spcPct val="115000"/>
              </a:lnSpc>
              <a:buNone/>
            </a:pPr>
            <a:r>
              <a:rPr lang="en-US" sz="900" dirty="0">
                <a:solidFill>
                  <a:srgbClr val="1F7A34"/>
                </a:solidFill>
                <a:latin typeface="Calibri" pitchFamily="34" charset="0"/>
                <a:ea typeface="Calibri" pitchFamily="34" charset="-122"/>
                <a:cs typeface="Calibri" pitchFamily="34" charset="-120"/>
              </a:rPr>
              <a:t>PM berfokus melayani &amp; memberdayakan kebutuhan tim</a:t>
            </a:r>
            <a:endParaRPr lang="en-US" sz="900" dirty="0"/>
          </a:p>
        </p:txBody>
      </p:sp>
      <p:sp>
        <p:nvSpPr>
          <p:cNvPr id="24" name="Shape 22"/>
          <p:cNvSpPr/>
          <p:nvPr/>
        </p:nvSpPr>
        <p:spPr>
          <a:xfrm>
            <a:off x="2010654"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5" name="Shape 23"/>
          <p:cNvSpPr/>
          <p:nvPr/>
        </p:nvSpPr>
        <p:spPr>
          <a:xfrm>
            <a:off x="2208575" y="4923779"/>
            <a:ext cx="461814" cy="461814"/>
          </a:xfrm>
          <a:prstGeom prst="ellipse">
            <a:avLst/>
          </a:prstGeom>
          <a:solidFill>
            <a:srgbClr val="9FC41D"/>
          </a:solidFill>
          <a:ln/>
        </p:spPr>
        <p:txBody>
          <a:bodyPr/>
          <a:lstStyle/>
          <a:p>
            <a:endParaRPr/>
          </a:p>
        </p:txBody>
      </p:sp>
      <p:sp>
        <p:nvSpPr>
          <p:cNvPr id="26" name="Text 24"/>
          <p:cNvSpPr/>
          <p:nvPr/>
        </p:nvSpPr>
        <p:spPr>
          <a:xfrm>
            <a:off x="2208575"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2802336" y="4745650"/>
            <a:ext cx="2869848" cy="263894"/>
          </a:xfrm>
          <a:prstGeom prst="rect">
            <a:avLst/>
          </a:prstGeom>
          <a:noFill/>
          <a:ln/>
        </p:spPr>
        <p:txBody>
          <a:bodyPr wrap="square" lIns="0" tIns="0" rIns="0" bIns="0" rtlCol="0" anchor="ctr"/>
          <a:lstStyle/>
          <a:p>
            <a:pPr marL="0" indent="0">
              <a:buNone/>
            </a:pPr>
            <a:r>
              <a:rPr lang="en-US" sz="1000" b="1" dirty="0">
                <a:solidFill>
                  <a:srgbClr val="006633"/>
                </a:solidFill>
                <a:latin typeface="Cambria" pitchFamily="34" charset="0"/>
                <a:ea typeface="Cambria" pitchFamily="34" charset="-122"/>
                <a:cs typeface="Cambria" pitchFamily="34" charset="-120"/>
              </a:rPr>
              <a:t>Transformational</a:t>
            </a:r>
            <a:endParaRPr lang="en-US" sz="1000" dirty="0"/>
          </a:p>
        </p:txBody>
      </p:sp>
      <p:sp>
        <p:nvSpPr>
          <p:cNvPr id="28" name="Text 26"/>
          <p:cNvSpPr/>
          <p:nvPr/>
        </p:nvSpPr>
        <p:spPr>
          <a:xfrm>
            <a:off x="2802336" y="5042531"/>
            <a:ext cx="2869848" cy="527788"/>
          </a:xfrm>
          <a:prstGeom prst="rect">
            <a:avLst/>
          </a:prstGeom>
          <a:noFill/>
          <a:ln/>
        </p:spPr>
        <p:txBody>
          <a:bodyPr wrap="square" lIns="0" tIns="0" rIns="0" bIns="0" rtlCol="0" anchor="ctr"/>
          <a:lstStyle/>
          <a:p>
            <a:pPr marL="0" indent="0">
              <a:lnSpc>
                <a:spcPct val="115000"/>
              </a:lnSpc>
              <a:buNone/>
            </a:pPr>
            <a:r>
              <a:rPr lang="en-US" sz="900" dirty="0">
                <a:solidFill>
                  <a:srgbClr val="1F7A34"/>
                </a:solidFill>
                <a:latin typeface="Calibri" pitchFamily="34" charset="0"/>
                <a:ea typeface="Calibri" pitchFamily="34" charset="-122"/>
                <a:cs typeface="Calibri" pitchFamily="34" charset="-120"/>
              </a:rPr>
              <a:t>PM menginspirasi tim melalui visi dan perubahan positif</a:t>
            </a:r>
            <a:endParaRPr lang="en-US" sz="900" dirty="0"/>
          </a:p>
        </p:txBody>
      </p:sp>
      <p:sp>
        <p:nvSpPr>
          <p:cNvPr id="29" name="TextBox 2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16/26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KEPEMIMPINAN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Leadership vs. Management dalam Proyek</a:t>
            </a:r>
            <a:endParaRPr lang="en-US" sz="3200" dirty="0"/>
          </a:p>
        </p:txBody>
      </p:sp>
      <p:sp>
        <p:nvSpPr>
          <p:cNvPr id="4" name="Shape 2"/>
          <p:cNvSpPr/>
          <p:nvPr/>
        </p:nvSpPr>
        <p:spPr>
          <a:xfrm>
            <a:off x="1392869" y="2139696"/>
            <a:ext cx="4488710" cy="3069203"/>
          </a:xfrm>
          <a:prstGeom prst="roundRect">
            <a:avLst>
              <a:gd name="adj" fmla="val 3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623059" y="2331521"/>
            <a:ext cx="4028329" cy="306920"/>
          </a:xfrm>
          <a:prstGeom prst="rect">
            <a:avLst/>
          </a:prstGeom>
          <a:noFill/>
          <a:ln/>
        </p:spPr>
        <p:txBody>
          <a:bodyPr wrap="square" lIns="0" tIns="0" rIns="0" bIns="0" rtlCol="0" anchor="ctr"/>
          <a:lstStyle/>
          <a:p>
            <a:pPr marL="0" indent="0">
              <a:buNone/>
            </a:pPr>
            <a:r>
              <a:rPr lang="en-US" sz="1300" b="1" kern="0" spc="100" dirty="0">
                <a:solidFill>
                  <a:srgbClr val="9FC41D"/>
                </a:solidFill>
                <a:latin typeface="Cambria" pitchFamily="34" charset="0"/>
                <a:ea typeface="Cambria" pitchFamily="34" charset="-122"/>
                <a:cs typeface="Cambria" pitchFamily="34" charset="-120"/>
              </a:rPr>
              <a:t>LEADERSHIP</a:t>
            </a:r>
            <a:endParaRPr lang="en-US" sz="1300" dirty="0"/>
          </a:p>
        </p:txBody>
      </p:sp>
      <p:sp>
        <p:nvSpPr>
          <p:cNvPr id="6" name="Text 4"/>
          <p:cNvSpPr/>
          <p:nvPr/>
        </p:nvSpPr>
        <p:spPr>
          <a:xfrm>
            <a:off x="1623059" y="2753536"/>
            <a:ext cx="4028329" cy="2301902"/>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Membangun visi dan arah jangka panjang</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Menginspirasi dan memotivasi tim</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Mendorong perubahan dan inovasi</a:t>
            </a:r>
            <a:endParaRPr lang="en-US" sz="1200" dirty="0"/>
          </a:p>
        </p:txBody>
      </p:sp>
      <p:sp>
        <p:nvSpPr>
          <p:cNvPr id="7" name="Shape 5"/>
          <p:cNvSpPr/>
          <p:nvPr/>
        </p:nvSpPr>
        <p:spPr>
          <a:xfrm>
            <a:off x="6111770" y="2139696"/>
            <a:ext cx="4488710" cy="3069203"/>
          </a:xfrm>
          <a:prstGeom prst="roundRect">
            <a:avLst>
              <a:gd name="adj" fmla="val 3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6341960" y="2331521"/>
            <a:ext cx="4028329" cy="306920"/>
          </a:xfrm>
          <a:prstGeom prst="rect">
            <a:avLst/>
          </a:prstGeom>
          <a:noFill/>
          <a:ln/>
        </p:spPr>
        <p:txBody>
          <a:bodyPr wrap="square" lIns="0" tIns="0" rIns="0" bIns="0" rtlCol="0" anchor="ctr"/>
          <a:lstStyle/>
          <a:p>
            <a:pPr marL="0" indent="0">
              <a:buNone/>
            </a:pPr>
            <a:r>
              <a:rPr lang="en-US" sz="1300" b="1" kern="0" spc="100" dirty="0">
                <a:solidFill>
                  <a:srgbClr val="006633"/>
                </a:solidFill>
                <a:latin typeface="Cambria" pitchFamily="34" charset="0"/>
                <a:ea typeface="Cambria" pitchFamily="34" charset="-122"/>
                <a:cs typeface="Cambria" pitchFamily="34" charset="-120"/>
              </a:rPr>
              <a:t>MANAGEMENT</a:t>
            </a:r>
            <a:endParaRPr lang="en-US" sz="1300" dirty="0"/>
          </a:p>
        </p:txBody>
      </p:sp>
      <p:sp>
        <p:nvSpPr>
          <p:cNvPr id="9" name="Text 7"/>
          <p:cNvSpPr/>
          <p:nvPr/>
        </p:nvSpPr>
        <p:spPr>
          <a:xfrm>
            <a:off x="6341960" y="2753536"/>
            <a:ext cx="4028329" cy="2301902"/>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Merencanakan, mengorganisasi, dan mengendalikan</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Menjaga proses berjalan sesuai standar</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Memastikan efisiensi dan konsistensi</a:t>
            </a:r>
            <a:endParaRPr lang="en-US" sz="1200" dirty="0"/>
          </a:p>
        </p:txBody>
      </p:sp>
      <p:sp>
        <p:nvSpPr>
          <p:cNvPr id="10" name="Text 8"/>
          <p:cNvSpPr/>
          <p:nvPr/>
        </p:nvSpPr>
        <p:spPr>
          <a:xfrm>
            <a:off x="1392869" y="5362359"/>
            <a:ext cx="9284340" cy="306920"/>
          </a:xfrm>
          <a:prstGeom prst="rect">
            <a:avLst/>
          </a:prstGeom>
          <a:noFill/>
          <a:ln/>
        </p:spPr>
        <p:txBody>
          <a:bodyPr wrap="square" lIns="0" tIns="0" rIns="0" bIns="0" rtlCol="0" anchor="ctr"/>
          <a:lstStyle/>
          <a:p>
            <a:pPr marL="0" indent="0">
              <a:buNone/>
            </a:pPr>
            <a:r>
              <a:rPr lang="en-US" sz="1100" i="1" dirty="0">
                <a:solidFill>
                  <a:srgbClr val="6E9B7C"/>
                </a:solidFill>
                <a:latin typeface="Calibri" pitchFamily="34" charset="0"/>
                <a:ea typeface="Calibri" pitchFamily="34" charset="-122"/>
                <a:cs typeface="Calibri" pitchFamily="34" charset="-120"/>
              </a:rPr>
              <a:t>Project manager yang efektif menjalankan keduanya secara seimbang.</a:t>
            </a:r>
            <a:endParaRPr lang="en-US" sz="1100" dirty="0"/>
          </a:p>
        </p:txBody>
      </p:sp>
      <p:sp>
        <p:nvSpPr>
          <p:cNvPr id="11" name="TextBox 10"/>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17/26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KOMUNIKASI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Mengapa Komunikasi Sangat Penting?</a:t>
            </a:r>
            <a:endParaRPr lang="en-US" sz="3200" dirty="0"/>
          </a:p>
        </p:txBody>
      </p:sp>
      <p:sp>
        <p:nvSpPr>
          <p:cNvPr id="4" name="Shape 2"/>
          <p:cNvSpPr/>
          <p:nvPr/>
        </p:nvSpPr>
        <p:spPr>
          <a:xfrm>
            <a:off x="1068997" y="2139696"/>
            <a:ext cx="9932085" cy="1395416"/>
          </a:xfrm>
          <a:prstGeom prst="roundRect">
            <a:avLst>
              <a:gd name="adj" fmla="val 7059"/>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397330" y="2303862"/>
            <a:ext cx="9275418" cy="1067083"/>
          </a:xfrm>
          <a:prstGeom prst="rect">
            <a:avLst/>
          </a:prstGeom>
          <a:noFill/>
          <a:ln/>
        </p:spPr>
        <p:txBody>
          <a:bodyPr wrap="square" lIns="0" tIns="0" rIns="0" bIns="0" rtlCol="0" anchor="ctr"/>
          <a:lstStyle/>
          <a:p>
            <a:pPr marL="0" indent="0">
              <a:lnSpc>
                <a:spcPct val="130000"/>
              </a:lnSpc>
              <a:buNone/>
            </a:pPr>
            <a:r>
              <a:rPr lang="en-US" sz="1700" i="1" dirty="0">
                <a:solidFill>
                  <a:srgbClr val="FFFFFF"/>
                </a:solidFill>
                <a:latin typeface="Cambria" pitchFamily="34" charset="0"/>
                <a:ea typeface="Cambria" pitchFamily="34" charset="-122"/>
                <a:cs typeface="Cambria" pitchFamily="34" charset="-120"/>
              </a:rPr>
              <a:t>“Sebagian besar waktu seorang project manager dihabiskan untuk berkomunikasi — dengan tim, klien, sponsor, maupun stakeholder lainnya.”</a:t>
            </a:r>
            <a:endParaRPr lang="en-US" sz="1700" dirty="0"/>
          </a:p>
        </p:txBody>
      </p:sp>
      <p:sp>
        <p:nvSpPr>
          <p:cNvPr id="6" name="Text 4"/>
          <p:cNvSpPr/>
          <p:nvPr/>
        </p:nvSpPr>
        <p:spPr>
          <a:xfrm>
            <a:off x="1068997" y="3781362"/>
            <a:ext cx="9521668" cy="1887917"/>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00" dirty="0">
                <a:solidFill>
                  <a:srgbClr val="1F7A34"/>
                </a:solidFill>
                <a:latin typeface="Calibri" pitchFamily="34" charset="0"/>
                <a:ea typeface="Calibri" pitchFamily="34" charset="-122"/>
                <a:cs typeface="Calibri" pitchFamily="34" charset="-120"/>
              </a:rPr>
              <a:t>Memastikan seluruh tim memahami tujuan dan ekspektasi proyek</a:t>
            </a:r>
            <a:endParaRPr lang="en-US" sz="1300" dirty="0"/>
          </a:p>
          <a:p>
            <a:pPr marL="228600" indent="-228600">
              <a:lnSpc>
                <a:spcPct val="115000"/>
              </a:lnSpc>
              <a:spcAft>
                <a:spcPts val="1200"/>
              </a:spcAft>
              <a:buSzPct val="100000"/>
              <a:buChar char="▪"/>
            </a:pPr>
            <a:r>
              <a:rPr lang="en-US" sz="1300" dirty="0">
                <a:solidFill>
                  <a:srgbClr val="1F7A34"/>
                </a:solidFill>
                <a:latin typeface="Calibri" pitchFamily="34" charset="0"/>
                <a:ea typeface="Calibri" pitchFamily="34" charset="-122"/>
                <a:cs typeface="Calibri" pitchFamily="34" charset="-120"/>
              </a:rPr>
              <a:t>Mencegah kesalahpahaman yang dapat menyebabkan keterlambatan atau kesalahan kerja</a:t>
            </a:r>
            <a:endParaRPr lang="en-US" sz="1300" dirty="0"/>
          </a:p>
          <a:p>
            <a:pPr marL="228600" indent="-228600">
              <a:lnSpc>
                <a:spcPct val="115000"/>
              </a:lnSpc>
              <a:spcAft>
                <a:spcPts val="1200"/>
              </a:spcAft>
              <a:buSzPct val="100000"/>
              <a:buChar char="▪"/>
            </a:pPr>
            <a:r>
              <a:rPr lang="en-US" sz="1300" dirty="0">
                <a:solidFill>
                  <a:srgbClr val="1F7A34"/>
                </a:solidFill>
                <a:latin typeface="Calibri" pitchFamily="34" charset="0"/>
                <a:ea typeface="Calibri" pitchFamily="34" charset="-122"/>
                <a:cs typeface="Calibri" pitchFamily="34" charset="-120"/>
              </a:rPr>
              <a:t>Membangun kepercayaan antara tim, klien, dan stakeholder</a:t>
            </a:r>
            <a:endParaRPr lang="en-US" sz="13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18/26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KOMUNIKASI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Empat Elemen Rencana Komunikasi Proyek</a:t>
            </a:r>
            <a:endParaRPr lang="en-US" sz="3200" dirty="0"/>
          </a:p>
        </p:txBody>
      </p:sp>
      <p:sp>
        <p:nvSpPr>
          <p:cNvPr id="4" name="Shape 2"/>
          <p:cNvSpPr/>
          <p:nvPr/>
        </p:nvSpPr>
        <p:spPr>
          <a:xfrm>
            <a:off x="822960"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691640" y="2443734"/>
            <a:ext cx="738378" cy="738378"/>
          </a:xfrm>
          <a:prstGeom prst="ellipse">
            <a:avLst/>
          </a:prstGeom>
          <a:solidFill>
            <a:srgbClr val="9FC41D"/>
          </a:solidFill>
          <a:ln/>
        </p:spPr>
        <p:txBody>
          <a:bodyPr/>
          <a:lstStyle/>
          <a:p>
            <a:endParaRPr/>
          </a:p>
        </p:txBody>
      </p:sp>
      <p:sp>
        <p:nvSpPr>
          <p:cNvPr id="6" name="Text 4"/>
          <p:cNvSpPr/>
          <p:nvPr/>
        </p:nvSpPr>
        <p:spPr>
          <a:xfrm>
            <a:off x="1691640" y="2443734"/>
            <a:ext cx="738378" cy="738378"/>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ea typeface="Cambria" pitchFamily="34" charset="-122"/>
                <a:cs typeface="Cambria" pitchFamily="34" charset="-120"/>
              </a:rPr>
              <a:t>1</a:t>
            </a:r>
            <a:endParaRPr lang="en-US" sz="2300" dirty="0"/>
          </a:p>
        </p:txBody>
      </p:sp>
      <p:sp>
        <p:nvSpPr>
          <p:cNvPr id="7" name="Text 5"/>
          <p:cNvSpPr/>
          <p:nvPr/>
        </p:nvSpPr>
        <p:spPr>
          <a:xfrm>
            <a:off x="996696" y="3355848"/>
            <a:ext cx="2128266" cy="43434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Siapa</a:t>
            </a:r>
            <a:endParaRPr lang="en-US" sz="1500" dirty="0"/>
          </a:p>
        </p:txBody>
      </p:sp>
      <p:sp>
        <p:nvSpPr>
          <p:cNvPr id="8" name="Text 6"/>
          <p:cNvSpPr/>
          <p:nvPr/>
        </p:nvSpPr>
        <p:spPr>
          <a:xfrm>
            <a:off x="1040130"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Stakeholder mana yang perlu menerima informasi (klien, tim, sponsor, dsb.)</a:t>
            </a:r>
            <a:endParaRPr lang="en-US" sz="1100" dirty="0"/>
          </a:p>
        </p:txBody>
      </p:sp>
      <p:sp>
        <p:nvSpPr>
          <p:cNvPr id="9" name="Shape 7"/>
          <p:cNvSpPr/>
          <p:nvPr/>
        </p:nvSpPr>
        <p:spPr>
          <a:xfrm>
            <a:off x="3472434"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4341114" y="2443734"/>
            <a:ext cx="738378" cy="738378"/>
          </a:xfrm>
          <a:prstGeom prst="ellipse">
            <a:avLst/>
          </a:prstGeom>
          <a:solidFill>
            <a:srgbClr val="9FC41D"/>
          </a:solidFill>
          <a:ln/>
        </p:spPr>
        <p:txBody>
          <a:bodyPr/>
          <a:lstStyle/>
          <a:p>
            <a:endParaRPr/>
          </a:p>
        </p:txBody>
      </p:sp>
      <p:sp>
        <p:nvSpPr>
          <p:cNvPr id="11" name="Text 9"/>
          <p:cNvSpPr/>
          <p:nvPr/>
        </p:nvSpPr>
        <p:spPr>
          <a:xfrm>
            <a:off x="4341114" y="2443734"/>
            <a:ext cx="738378" cy="738378"/>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ea typeface="Cambria" pitchFamily="34" charset="-122"/>
                <a:cs typeface="Cambria" pitchFamily="34" charset="-120"/>
              </a:rPr>
              <a:t>2</a:t>
            </a:r>
            <a:endParaRPr lang="en-US" sz="2300" dirty="0"/>
          </a:p>
        </p:txBody>
      </p:sp>
      <p:sp>
        <p:nvSpPr>
          <p:cNvPr id="12" name="Text 10"/>
          <p:cNvSpPr/>
          <p:nvPr/>
        </p:nvSpPr>
        <p:spPr>
          <a:xfrm>
            <a:off x="3646170" y="3355848"/>
            <a:ext cx="2128266" cy="43434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Apa</a:t>
            </a:r>
            <a:endParaRPr lang="en-US" sz="1500" dirty="0"/>
          </a:p>
        </p:txBody>
      </p:sp>
      <p:sp>
        <p:nvSpPr>
          <p:cNvPr id="13" name="Text 11"/>
          <p:cNvSpPr/>
          <p:nvPr/>
        </p:nvSpPr>
        <p:spPr>
          <a:xfrm>
            <a:off x="3689604"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Jenis informasi yang perlu disampaikan (progres, risiko, keputusan)</a:t>
            </a:r>
            <a:endParaRPr lang="en-US" sz="1100" dirty="0"/>
          </a:p>
        </p:txBody>
      </p:sp>
      <p:sp>
        <p:nvSpPr>
          <p:cNvPr id="14" name="Shape 12"/>
          <p:cNvSpPr/>
          <p:nvPr/>
        </p:nvSpPr>
        <p:spPr>
          <a:xfrm>
            <a:off x="6121908"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6990588" y="2443734"/>
            <a:ext cx="738378" cy="738378"/>
          </a:xfrm>
          <a:prstGeom prst="ellipse">
            <a:avLst/>
          </a:prstGeom>
          <a:solidFill>
            <a:srgbClr val="9FC41D"/>
          </a:solidFill>
          <a:ln/>
        </p:spPr>
        <p:txBody>
          <a:bodyPr/>
          <a:lstStyle/>
          <a:p>
            <a:endParaRPr/>
          </a:p>
        </p:txBody>
      </p:sp>
      <p:sp>
        <p:nvSpPr>
          <p:cNvPr id="16" name="Text 14"/>
          <p:cNvSpPr/>
          <p:nvPr/>
        </p:nvSpPr>
        <p:spPr>
          <a:xfrm>
            <a:off x="6990588" y="2443734"/>
            <a:ext cx="738378" cy="738378"/>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ea typeface="Cambria" pitchFamily="34" charset="-122"/>
                <a:cs typeface="Cambria" pitchFamily="34" charset="-120"/>
              </a:rPr>
              <a:t>3</a:t>
            </a:r>
            <a:endParaRPr lang="en-US" sz="2300" dirty="0"/>
          </a:p>
        </p:txBody>
      </p:sp>
      <p:sp>
        <p:nvSpPr>
          <p:cNvPr id="17" name="Text 15"/>
          <p:cNvSpPr/>
          <p:nvPr/>
        </p:nvSpPr>
        <p:spPr>
          <a:xfrm>
            <a:off x="6295644" y="3355848"/>
            <a:ext cx="2128266" cy="43434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Kapan</a:t>
            </a:r>
            <a:endParaRPr lang="en-US" sz="1500" dirty="0"/>
          </a:p>
        </p:txBody>
      </p:sp>
      <p:sp>
        <p:nvSpPr>
          <p:cNvPr id="18" name="Text 16"/>
          <p:cNvSpPr/>
          <p:nvPr/>
        </p:nvSpPr>
        <p:spPr>
          <a:xfrm>
            <a:off x="6339078"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Frekuensi dan waktu penyampaian informasi (harian, mingguan, per milestone)</a:t>
            </a:r>
            <a:endParaRPr lang="en-US" sz="1100" dirty="0"/>
          </a:p>
        </p:txBody>
      </p:sp>
      <p:sp>
        <p:nvSpPr>
          <p:cNvPr id="19" name="Shape 17"/>
          <p:cNvSpPr/>
          <p:nvPr/>
        </p:nvSpPr>
        <p:spPr>
          <a:xfrm>
            <a:off x="8771382"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0" name="Shape 18"/>
          <p:cNvSpPr/>
          <p:nvPr/>
        </p:nvSpPr>
        <p:spPr>
          <a:xfrm>
            <a:off x="9640062" y="2443734"/>
            <a:ext cx="738378" cy="738378"/>
          </a:xfrm>
          <a:prstGeom prst="ellipse">
            <a:avLst/>
          </a:prstGeom>
          <a:solidFill>
            <a:srgbClr val="9FC41D"/>
          </a:solidFill>
          <a:ln/>
        </p:spPr>
        <p:txBody>
          <a:bodyPr/>
          <a:lstStyle/>
          <a:p>
            <a:endParaRPr/>
          </a:p>
        </p:txBody>
      </p:sp>
      <p:sp>
        <p:nvSpPr>
          <p:cNvPr id="21" name="Text 19"/>
          <p:cNvSpPr/>
          <p:nvPr/>
        </p:nvSpPr>
        <p:spPr>
          <a:xfrm>
            <a:off x="9640062" y="2443734"/>
            <a:ext cx="738378" cy="738378"/>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ea typeface="Cambria" pitchFamily="34" charset="-122"/>
                <a:cs typeface="Cambria" pitchFamily="34" charset="-120"/>
              </a:rPr>
              <a:t>4</a:t>
            </a:r>
            <a:endParaRPr lang="en-US" sz="2300" dirty="0"/>
          </a:p>
        </p:txBody>
      </p:sp>
      <p:sp>
        <p:nvSpPr>
          <p:cNvPr id="22" name="Text 20"/>
          <p:cNvSpPr/>
          <p:nvPr/>
        </p:nvSpPr>
        <p:spPr>
          <a:xfrm>
            <a:off x="8945118" y="3355848"/>
            <a:ext cx="2128266" cy="434340"/>
          </a:xfrm>
          <a:prstGeom prst="rect">
            <a:avLst/>
          </a:prstGeom>
          <a:noFill/>
          <a:ln/>
        </p:spPr>
        <p:txBody>
          <a:bodyPr wrap="square" lIns="0" tIns="0" rIns="0" bIns="0" rtlCol="0" anchor="ctr"/>
          <a:lstStyle/>
          <a:p>
            <a:pPr marL="0" indent="0" algn="ctr">
              <a:buNone/>
            </a:pPr>
            <a:r>
              <a:rPr lang="en-US" sz="1500" b="1" dirty="0">
                <a:solidFill>
                  <a:srgbClr val="006633"/>
                </a:solidFill>
                <a:latin typeface="Cambria" pitchFamily="34" charset="0"/>
                <a:ea typeface="Cambria" pitchFamily="34" charset="-122"/>
                <a:cs typeface="Cambria" pitchFamily="34" charset="-120"/>
              </a:rPr>
              <a:t>Bagaimana</a:t>
            </a:r>
            <a:endParaRPr lang="en-US" sz="1500" dirty="0"/>
          </a:p>
        </p:txBody>
      </p:sp>
      <p:sp>
        <p:nvSpPr>
          <p:cNvPr id="23" name="Text 21"/>
          <p:cNvSpPr/>
          <p:nvPr/>
        </p:nvSpPr>
        <p:spPr>
          <a:xfrm>
            <a:off x="8988552"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Media atau saluran yang digunakan (rapat, email, dashboard, chat)</a:t>
            </a:r>
            <a:endParaRPr lang="en-US" sz="1100" dirty="0"/>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19/26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KOMUNIKASI</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Hambatan Komunikasi Umum &amp; Cara Mengatasinya</a:t>
            </a:r>
            <a:endParaRPr lang="en-US" sz="3200" dirty="0"/>
          </a:p>
        </p:txBody>
      </p:sp>
      <p:sp>
        <p:nvSpPr>
          <p:cNvPr id="4" name="Shape 2"/>
          <p:cNvSpPr/>
          <p:nvPr/>
        </p:nvSpPr>
        <p:spPr>
          <a:xfrm>
            <a:off x="1677084" y="2139696"/>
            <a:ext cx="8715911" cy="828371"/>
          </a:xfrm>
          <a:prstGeom prst="roundRect">
            <a:avLst>
              <a:gd name="adj" fmla="val 10435"/>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893181" y="2341386"/>
            <a:ext cx="396177" cy="396177"/>
          </a:xfrm>
          <a:prstGeom prst="ellipse">
            <a:avLst/>
          </a:prstGeom>
          <a:solidFill>
            <a:srgbClr val="006633"/>
          </a:solidFill>
          <a:ln/>
        </p:spPr>
        <p:txBody>
          <a:bodyPr/>
          <a:lstStyle/>
          <a:p>
            <a:endParaRPr/>
          </a:p>
        </p:txBody>
      </p:sp>
      <p:sp>
        <p:nvSpPr>
          <p:cNvPr id="6" name="Text 4"/>
          <p:cNvSpPr/>
          <p:nvPr/>
        </p:nvSpPr>
        <p:spPr>
          <a:xfrm>
            <a:off x="1893181" y="2341386"/>
            <a:ext cx="396177" cy="396177"/>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2433423" y="2211728"/>
            <a:ext cx="7707458" cy="324145"/>
          </a:xfrm>
          <a:prstGeom prst="rect">
            <a:avLst/>
          </a:prstGeom>
          <a:noFill/>
          <a:ln/>
        </p:spPr>
        <p:txBody>
          <a:bodyPr wrap="square" lIns="0" tIns="0" rIns="0" bIns="0" rtlCol="0" anchor="ctr"/>
          <a:lstStyle/>
          <a:p>
            <a:pPr marL="0" indent="0">
              <a:buNone/>
            </a:pPr>
            <a:r>
              <a:rPr lang="en-US" sz="1100" b="1" dirty="0">
                <a:solidFill>
                  <a:srgbClr val="006633"/>
                </a:solidFill>
                <a:latin typeface="Cambria" pitchFamily="34" charset="0"/>
                <a:ea typeface="Cambria" pitchFamily="34" charset="-122"/>
                <a:cs typeface="Cambria" pitchFamily="34" charset="-120"/>
              </a:rPr>
              <a:t>Informasi tidak konsisten antaranggota tim</a:t>
            </a:r>
            <a:endParaRPr lang="en-US" sz="1100" dirty="0"/>
          </a:p>
        </p:txBody>
      </p:sp>
      <p:sp>
        <p:nvSpPr>
          <p:cNvPr id="8" name="Text 6"/>
          <p:cNvSpPr/>
          <p:nvPr/>
        </p:nvSpPr>
        <p:spPr>
          <a:xfrm>
            <a:off x="2433423" y="2535873"/>
            <a:ext cx="7707458" cy="360161"/>
          </a:xfrm>
          <a:prstGeom prst="rect">
            <a:avLst/>
          </a:prstGeom>
          <a:noFill/>
          <a:ln/>
        </p:spPr>
        <p:txBody>
          <a:bodyPr wrap="square" lIns="0" tIns="0" rIns="0" bIns="0" rtlCol="0" anchor="ctr"/>
          <a:lstStyle/>
          <a:p>
            <a:pPr marL="0" indent="0">
              <a:lnSpc>
                <a:spcPct val="115000"/>
              </a:lnSpc>
              <a:buNone/>
            </a:pPr>
            <a:r>
              <a:rPr lang="en-US" sz="1000" dirty="0">
                <a:solidFill>
                  <a:srgbClr val="1F7A34"/>
                </a:solidFill>
                <a:latin typeface="Calibri" pitchFamily="34" charset="0"/>
                <a:ea typeface="Calibri" pitchFamily="34" charset="-122"/>
                <a:cs typeface="Calibri" pitchFamily="34" charset="-120"/>
              </a:rPr>
              <a:t>Gunakan satu sumber informasi resmi (mis. dokumen bersama, dashboard proyek)</a:t>
            </a:r>
            <a:endParaRPr lang="en-US" sz="1000" dirty="0"/>
          </a:p>
        </p:txBody>
      </p:sp>
      <p:sp>
        <p:nvSpPr>
          <p:cNvPr id="9" name="Shape 7"/>
          <p:cNvSpPr/>
          <p:nvPr/>
        </p:nvSpPr>
        <p:spPr>
          <a:xfrm>
            <a:off x="1677084" y="3040100"/>
            <a:ext cx="8715911" cy="828371"/>
          </a:xfrm>
          <a:prstGeom prst="roundRect">
            <a:avLst>
              <a:gd name="adj" fmla="val 10435"/>
            </a:avLst>
          </a:prstGeom>
          <a:solidFill>
            <a:srgbClr val="FFFFFF"/>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1893181" y="3241790"/>
            <a:ext cx="396177" cy="396177"/>
          </a:xfrm>
          <a:prstGeom prst="ellipse">
            <a:avLst/>
          </a:prstGeom>
          <a:solidFill>
            <a:srgbClr val="006633"/>
          </a:solidFill>
          <a:ln/>
        </p:spPr>
        <p:txBody>
          <a:bodyPr/>
          <a:lstStyle/>
          <a:p>
            <a:endParaRPr/>
          </a:p>
        </p:txBody>
      </p:sp>
      <p:sp>
        <p:nvSpPr>
          <p:cNvPr id="11" name="Text 9"/>
          <p:cNvSpPr/>
          <p:nvPr/>
        </p:nvSpPr>
        <p:spPr>
          <a:xfrm>
            <a:off x="1893181" y="3241790"/>
            <a:ext cx="396177" cy="396177"/>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2433423" y="3112132"/>
            <a:ext cx="7707458" cy="324145"/>
          </a:xfrm>
          <a:prstGeom prst="rect">
            <a:avLst/>
          </a:prstGeom>
          <a:noFill/>
          <a:ln/>
        </p:spPr>
        <p:txBody>
          <a:bodyPr wrap="square" lIns="0" tIns="0" rIns="0" bIns="0" rtlCol="0" anchor="ctr"/>
          <a:lstStyle/>
          <a:p>
            <a:pPr marL="0" indent="0">
              <a:buNone/>
            </a:pPr>
            <a:r>
              <a:rPr lang="en-US" sz="1100" b="1" dirty="0">
                <a:solidFill>
                  <a:srgbClr val="006633"/>
                </a:solidFill>
                <a:latin typeface="Cambria" pitchFamily="34" charset="0"/>
                <a:ea typeface="Cambria" pitchFamily="34" charset="-122"/>
                <a:cs typeface="Cambria" pitchFamily="34" charset="-120"/>
              </a:rPr>
              <a:t>Tim bekerja jarak jauh / lintas zona waktu</a:t>
            </a:r>
            <a:endParaRPr lang="en-US" sz="1100" dirty="0"/>
          </a:p>
        </p:txBody>
      </p:sp>
      <p:sp>
        <p:nvSpPr>
          <p:cNvPr id="13" name="Text 11"/>
          <p:cNvSpPr/>
          <p:nvPr/>
        </p:nvSpPr>
        <p:spPr>
          <a:xfrm>
            <a:off x="2433423" y="3436277"/>
            <a:ext cx="7707458" cy="360161"/>
          </a:xfrm>
          <a:prstGeom prst="rect">
            <a:avLst/>
          </a:prstGeom>
          <a:noFill/>
          <a:ln/>
        </p:spPr>
        <p:txBody>
          <a:bodyPr wrap="square" lIns="0" tIns="0" rIns="0" bIns="0" rtlCol="0" anchor="ctr"/>
          <a:lstStyle/>
          <a:p>
            <a:pPr marL="0" indent="0">
              <a:lnSpc>
                <a:spcPct val="115000"/>
              </a:lnSpc>
              <a:buNone/>
            </a:pPr>
            <a:r>
              <a:rPr lang="en-US" sz="1000" dirty="0">
                <a:solidFill>
                  <a:srgbClr val="1F7A34"/>
                </a:solidFill>
                <a:latin typeface="Calibri" pitchFamily="34" charset="0"/>
                <a:ea typeface="Calibri" pitchFamily="34" charset="-122"/>
                <a:cs typeface="Calibri" pitchFamily="34" charset="-120"/>
              </a:rPr>
              <a:t>Tetapkan jadwal komunikasi rutin dan gunakan alat kolaborasi daring</a:t>
            </a:r>
            <a:endParaRPr lang="en-US" sz="1000" dirty="0"/>
          </a:p>
        </p:txBody>
      </p:sp>
      <p:sp>
        <p:nvSpPr>
          <p:cNvPr id="14" name="Shape 12"/>
          <p:cNvSpPr/>
          <p:nvPr/>
        </p:nvSpPr>
        <p:spPr>
          <a:xfrm>
            <a:off x="1677084" y="3940504"/>
            <a:ext cx="8715911" cy="828371"/>
          </a:xfrm>
          <a:prstGeom prst="roundRect">
            <a:avLst>
              <a:gd name="adj" fmla="val 10435"/>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1893181" y="4142194"/>
            <a:ext cx="396177" cy="396177"/>
          </a:xfrm>
          <a:prstGeom prst="ellipse">
            <a:avLst/>
          </a:prstGeom>
          <a:solidFill>
            <a:srgbClr val="006633"/>
          </a:solidFill>
          <a:ln/>
        </p:spPr>
        <p:txBody>
          <a:bodyPr/>
          <a:lstStyle/>
          <a:p>
            <a:endParaRPr/>
          </a:p>
        </p:txBody>
      </p:sp>
      <p:sp>
        <p:nvSpPr>
          <p:cNvPr id="16" name="Text 14"/>
          <p:cNvSpPr/>
          <p:nvPr/>
        </p:nvSpPr>
        <p:spPr>
          <a:xfrm>
            <a:off x="1893181" y="4142194"/>
            <a:ext cx="396177" cy="396177"/>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2433423" y="4012536"/>
            <a:ext cx="7707458" cy="324145"/>
          </a:xfrm>
          <a:prstGeom prst="rect">
            <a:avLst/>
          </a:prstGeom>
          <a:noFill/>
          <a:ln/>
        </p:spPr>
        <p:txBody>
          <a:bodyPr wrap="square" lIns="0" tIns="0" rIns="0" bIns="0" rtlCol="0" anchor="ctr"/>
          <a:lstStyle/>
          <a:p>
            <a:pPr marL="0" indent="0">
              <a:buNone/>
            </a:pPr>
            <a:r>
              <a:rPr lang="en-US" sz="1100" b="1" dirty="0">
                <a:solidFill>
                  <a:srgbClr val="006633"/>
                </a:solidFill>
                <a:latin typeface="Cambria" pitchFamily="34" charset="0"/>
                <a:ea typeface="Cambria" pitchFamily="34" charset="-122"/>
                <a:cs typeface="Cambria" pitchFamily="34" charset="-120"/>
              </a:rPr>
              <a:t>Istilah teknis sulit dipahami stakeholder non-teknis</a:t>
            </a:r>
            <a:endParaRPr lang="en-US" sz="1100" dirty="0"/>
          </a:p>
        </p:txBody>
      </p:sp>
      <p:sp>
        <p:nvSpPr>
          <p:cNvPr id="18" name="Text 16"/>
          <p:cNvSpPr/>
          <p:nvPr/>
        </p:nvSpPr>
        <p:spPr>
          <a:xfrm>
            <a:off x="2433423" y="4336681"/>
            <a:ext cx="7707458" cy="360161"/>
          </a:xfrm>
          <a:prstGeom prst="rect">
            <a:avLst/>
          </a:prstGeom>
          <a:noFill/>
          <a:ln/>
        </p:spPr>
        <p:txBody>
          <a:bodyPr wrap="square" lIns="0" tIns="0" rIns="0" bIns="0" rtlCol="0" anchor="ctr"/>
          <a:lstStyle/>
          <a:p>
            <a:pPr marL="0" indent="0">
              <a:lnSpc>
                <a:spcPct val="115000"/>
              </a:lnSpc>
              <a:buNone/>
            </a:pPr>
            <a:r>
              <a:rPr lang="en-US" sz="1000" dirty="0">
                <a:solidFill>
                  <a:srgbClr val="1F7A34"/>
                </a:solidFill>
                <a:latin typeface="Calibri" pitchFamily="34" charset="0"/>
                <a:ea typeface="Calibri" pitchFamily="34" charset="-122"/>
                <a:cs typeface="Calibri" pitchFamily="34" charset="-120"/>
              </a:rPr>
              <a:t>Sesuaikan bahasa &amp; tingkat detail dengan audiens penerima</a:t>
            </a:r>
            <a:endParaRPr lang="en-US" sz="1000" dirty="0"/>
          </a:p>
        </p:txBody>
      </p:sp>
      <p:sp>
        <p:nvSpPr>
          <p:cNvPr id="19" name="Shape 17"/>
          <p:cNvSpPr/>
          <p:nvPr/>
        </p:nvSpPr>
        <p:spPr>
          <a:xfrm>
            <a:off x="1677084" y="4840908"/>
            <a:ext cx="8715911" cy="828371"/>
          </a:xfrm>
          <a:prstGeom prst="roundRect">
            <a:avLst>
              <a:gd name="adj" fmla="val 10435"/>
            </a:avLst>
          </a:prstGeom>
          <a:solidFill>
            <a:srgbClr val="FFFFFF"/>
          </a:solidFill>
          <a:ln/>
          <a:effectLst>
            <a:outerShdw blurRad="101600" dist="38100" dir="5400000" algn="bl" rotWithShape="0">
              <a:srgbClr val="006633">
                <a:alpha val="12000"/>
              </a:srgbClr>
            </a:outerShdw>
          </a:effectLst>
        </p:spPr>
        <p:txBody>
          <a:bodyPr/>
          <a:lstStyle/>
          <a:p>
            <a:endParaRPr/>
          </a:p>
        </p:txBody>
      </p:sp>
      <p:sp>
        <p:nvSpPr>
          <p:cNvPr id="20" name="Shape 18"/>
          <p:cNvSpPr/>
          <p:nvPr/>
        </p:nvSpPr>
        <p:spPr>
          <a:xfrm>
            <a:off x="1893181" y="5042598"/>
            <a:ext cx="396177" cy="396177"/>
          </a:xfrm>
          <a:prstGeom prst="ellipse">
            <a:avLst/>
          </a:prstGeom>
          <a:solidFill>
            <a:srgbClr val="006633"/>
          </a:solidFill>
          <a:ln/>
        </p:spPr>
        <p:txBody>
          <a:bodyPr/>
          <a:lstStyle/>
          <a:p>
            <a:endParaRPr/>
          </a:p>
        </p:txBody>
      </p:sp>
      <p:sp>
        <p:nvSpPr>
          <p:cNvPr id="21" name="Text 19"/>
          <p:cNvSpPr/>
          <p:nvPr/>
        </p:nvSpPr>
        <p:spPr>
          <a:xfrm>
            <a:off x="1893181" y="5042598"/>
            <a:ext cx="396177" cy="396177"/>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2433423" y="4912940"/>
            <a:ext cx="7707458" cy="324145"/>
          </a:xfrm>
          <a:prstGeom prst="rect">
            <a:avLst/>
          </a:prstGeom>
          <a:noFill/>
          <a:ln/>
        </p:spPr>
        <p:txBody>
          <a:bodyPr wrap="square" lIns="0" tIns="0" rIns="0" bIns="0" rtlCol="0" anchor="ctr"/>
          <a:lstStyle/>
          <a:p>
            <a:pPr marL="0" indent="0">
              <a:buNone/>
            </a:pPr>
            <a:r>
              <a:rPr lang="en-US" sz="1100" b="1" dirty="0">
                <a:solidFill>
                  <a:srgbClr val="006633"/>
                </a:solidFill>
                <a:latin typeface="Cambria" pitchFamily="34" charset="0"/>
                <a:ea typeface="Cambria" pitchFamily="34" charset="-122"/>
                <a:cs typeface="Cambria" pitchFamily="34" charset="-120"/>
              </a:rPr>
              <a:t>Umpan balik yang terlambat atau tidak jelas</a:t>
            </a:r>
            <a:endParaRPr lang="en-US" sz="1100" dirty="0"/>
          </a:p>
        </p:txBody>
      </p:sp>
      <p:sp>
        <p:nvSpPr>
          <p:cNvPr id="23" name="Text 21"/>
          <p:cNvSpPr/>
          <p:nvPr/>
        </p:nvSpPr>
        <p:spPr>
          <a:xfrm>
            <a:off x="2433423" y="5237086"/>
            <a:ext cx="7707458" cy="360161"/>
          </a:xfrm>
          <a:prstGeom prst="rect">
            <a:avLst/>
          </a:prstGeom>
          <a:noFill/>
          <a:ln/>
        </p:spPr>
        <p:txBody>
          <a:bodyPr wrap="square" lIns="0" tIns="0" rIns="0" bIns="0" rtlCol="0" anchor="ctr"/>
          <a:lstStyle/>
          <a:p>
            <a:pPr marL="0" indent="0">
              <a:lnSpc>
                <a:spcPct val="115000"/>
              </a:lnSpc>
              <a:buNone/>
            </a:pPr>
            <a:r>
              <a:rPr lang="en-US" sz="1000" dirty="0">
                <a:solidFill>
                  <a:srgbClr val="1F7A34"/>
                </a:solidFill>
                <a:latin typeface="Calibri" pitchFamily="34" charset="0"/>
                <a:ea typeface="Calibri" pitchFamily="34" charset="-122"/>
                <a:cs typeface="Calibri" pitchFamily="34" charset="-120"/>
              </a:rPr>
              <a:t>Buat mekanisme pelaporan berkala dengan format yang standar</a:t>
            </a:r>
            <a:endParaRPr lang="en-US" sz="1000" dirty="0"/>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ETIKA PROFESIONAL</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Empat Pilar Etika Profesional (PMI Code of Ethics)</a:t>
            </a:r>
            <a:endParaRPr lang="en-US" sz="3200" dirty="0"/>
          </a:p>
        </p:txBody>
      </p:sp>
      <p:sp>
        <p:nvSpPr>
          <p:cNvPr id="4" name="Shape 2"/>
          <p:cNvSpPr/>
          <p:nvPr/>
        </p:nvSpPr>
        <p:spPr>
          <a:xfrm>
            <a:off x="822960"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691640" y="2443734"/>
            <a:ext cx="738378" cy="738378"/>
          </a:xfrm>
          <a:prstGeom prst="ellipse">
            <a:avLst/>
          </a:prstGeom>
          <a:solidFill>
            <a:srgbClr val="9FC41D"/>
          </a:solidFill>
          <a:ln/>
        </p:spPr>
        <p:txBody>
          <a:bodyPr/>
          <a:lstStyle/>
          <a:p>
            <a:endParaRPr/>
          </a:p>
        </p:txBody>
      </p:sp>
      <p:sp>
        <p:nvSpPr>
          <p:cNvPr id="6" name="Text 4"/>
          <p:cNvSpPr/>
          <p:nvPr/>
        </p:nvSpPr>
        <p:spPr>
          <a:xfrm>
            <a:off x="1691640" y="2443734"/>
            <a:ext cx="738378" cy="738378"/>
          </a:xfrm>
          <a:prstGeom prst="rect">
            <a:avLst/>
          </a:prstGeom>
          <a:noFill/>
          <a:ln/>
        </p:spPr>
        <p:txBody>
          <a:bodyPr wrap="square" lIns="0" tIns="0" rIns="0" bIns="0" rtlCol="0" anchor="ctr"/>
          <a:lstStyle/>
          <a:p>
            <a:pPr marL="0" indent="0" algn="ctr">
              <a:buNone/>
            </a:pPr>
            <a:r>
              <a:rPr lang="en-US" sz="2500" b="1" dirty="0">
                <a:solidFill>
                  <a:srgbClr val="FFFFFF"/>
                </a:solidFill>
                <a:latin typeface="Cambria" pitchFamily="34" charset="0"/>
                <a:ea typeface="Cambria" pitchFamily="34" charset="-122"/>
                <a:cs typeface="Cambria" pitchFamily="34" charset="-120"/>
              </a:rPr>
              <a:t>R</a:t>
            </a:r>
            <a:endParaRPr lang="en-US" sz="2500" dirty="0"/>
          </a:p>
        </p:txBody>
      </p:sp>
      <p:sp>
        <p:nvSpPr>
          <p:cNvPr id="7" name="Text 5"/>
          <p:cNvSpPr/>
          <p:nvPr/>
        </p:nvSpPr>
        <p:spPr>
          <a:xfrm>
            <a:off x="953262" y="3355848"/>
            <a:ext cx="2215134" cy="434340"/>
          </a:xfrm>
          <a:prstGeom prst="rect">
            <a:avLst/>
          </a:prstGeom>
          <a:noFill/>
          <a:ln/>
        </p:spPr>
        <p:txBody>
          <a:bodyPr wrap="square" lIns="0" tIns="0" rIns="0" bIns="0" rtlCol="0" anchor="ctr"/>
          <a:lstStyle/>
          <a:p>
            <a:pPr marL="0" indent="0" algn="ctr">
              <a:buNone/>
            </a:pPr>
            <a:r>
              <a:rPr lang="en-US" sz="1400" b="1" dirty="0">
                <a:solidFill>
                  <a:srgbClr val="006633"/>
                </a:solidFill>
                <a:latin typeface="Cambria" pitchFamily="34" charset="0"/>
                <a:ea typeface="Cambria" pitchFamily="34" charset="-122"/>
                <a:cs typeface="Cambria" pitchFamily="34" charset="-120"/>
              </a:rPr>
              <a:t>Responsibility</a:t>
            </a:r>
            <a:endParaRPr lang="en-US" sz="1400" dirty="0"/>
          </a:p>
        </p:txBody>
      </p:sp>
      <p:sp>
        <p:nvSpPr>
          <p:cNvPr id="8" name="Text 6"/>
          <p:cNvSpPr/>
          <p:nvPr/>
        </p:nvSpPr>
        <p:spPr>
          <a:xfrm>
            <a:off x="1040130"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Bertanggung jawab atas keputusan yang diambil dan konsekuensinya.</a:t>
            </a:r>
            <a:endParaRPr lang="en-US" sz="1100" dirty="0"/>
          </a:p>
        </p:txBody>
      </p:sp>
      <p:sp>
        <p:nvSpPr>
          <p:cNvPr id="9" name="Shape 7"/>
          <p:cNvSpPr/>
          <p:nvPr/>
        </p:nvSpPr>
        <p:spPr>
          <a:xfrm>
            <a:off x="3472434"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4341114" y="2443734"/>
            <a:ext cx="738378" cy="738378"/>
          </a:xfrm>
          <a:prstGeom prst="ellipse">
            <a:avLst/>
          </a:prstGeom>
          <a:solidFill>
            <a:srgbClr val="9FC41D"/>
          </a:solidFill>
          <a:ln/>
        </p:spPr>
        <p:txBody>
          <a:bodyPr/>
          <a:lstStyle/>
          <a:p>
            <a:endParaRPr/>
          </a:p>
        </p:txBody>
      </p:sp>
      <p:sp>
        <p:nvSpPr>
          <p:cNvPr id="11" name="Text 9"/>
          <p:cNvSpPr/>
          <p:nvPr/>
        </p:nvSpPr>
        <p:spPr>
          <a:xfrm>
            <a:off x="4341114" y="2443734"/>
            <a:ext cx="738378" cy="738378"/>
          </a:xfrm>
          <a:prstGeom prst="rect">
            <a:avLst/>
          </a:prstGeom>
          <a:noFill/>
          <a:ln/>
        </p:spPr>
        <p:txBody>
          <a:bodyPr wrap="square" lIns="0" tIns="0" rIns="0" bIns="0" rtlCol="0" anchor="ctr"/>
          <a:lstStyle/>
          <a:p>
            <a:pPr marL="0" indent="0" algn="ctr">
              <a:buNone/>
            </a:pPr>
            <a:r>
              <a:rPr lang="en-US" sz="2500" b="1" dirty="0">
                <a:solidFill>
                  <a:srgbClr val="FFFFFF"/>
                </a:solidFill>
                <a:latin typeface="Cambria" pitchFamily="34" charset="0"/>
                <a:ea typeface="Cambria" pitchFamily="34" charset="-122"/>
                <a:cs typeface="Cambria" pitchFamily="34" charset="-120"/>
              </a:rPr>
              <a:t>R</a:t>
            </a:r>
            <a:endParaRPr lang="en-US" sz="2500" dirty="0"/>
          </a:p>
        </p:txBody>
      </p:sp>
      <p:sp>
        <p:nvSpPr>
          <p:cNvPr id="12" name="Text 10"/>
          <p:cNvSpPr/>
          <p:nvPr/>
        </p:nvSpPr>
        <p:spPr>
          <a:xfrm>
            <a:off x="3602736" y="3355848"/>
            <a:ext cx="2215134" cy="434340"/>
          </a:xfrm>
          <a:prstGeom prst="rect">
            <a:avLst/>
          </a:prstGeom>
          <a:noFill/>
          <a:ln/>
        </p:spPr>
        <p:txBody>
          <a:bodyPr wrap="square" lIns="0" tIns="0" rIns="0" bIns="0" rtlCol="0" anchor="ctr"/>
          <a:lstStyle/>
          <a:p>
            <a:pPr marL="0" indent="0" algn="ctr">
              <a:buNone/>
            </a:pPr>
            <a:r>
              <a:rPr lang="en-US" sz="1400" b="1" dirty="0">
                <a:solidFill>
                  <a:srgbClr val="006633"/>
                </a:solidFill>
                <a:latin typeface="Cambria" pitchFamily="34" charset="0"/>
                <a:ea typeface="Cambria" pitchFamily="34" charset="-122"/>
                <a:cs typeface="Cambria" pitchFamily="34" charset="-120"/>
              </a:rPr>
              <a:t>Respect</a:t>
            </a:r>
            <a:endParaRPr lang="en-US" sz="1400" dirty="0"/>
          </a:p>
        </p:txBody>
      </p:sp>
      <p:sp>
        <p:nvSpPr>
          <p:cNvPr id="13" name="Text 11"/>
          <p:cNvSpPr/>
          <p:nvPr/>
        </p:nvSpPr>
        <p:spPr>
          <a:xfrm>
            <a:off x="3689604"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Menghormati diri sendiri, orang lain, dan sumber daya yang dipercayakan.</a:t>
            </a:r>
            <a:endParaRPr lang="en-US" sz="1100" dirty="0"/>
          </a:p>
        </p:txBody>
      </p:sp>
      <p:sp>
        <p:nvSpPr>
          <p:cNvPr id="14" name="Shape 12"/>
          <p:cNvSpPr/>
          <p:nvPr/>
        </p:nvSpPr>
        <p:spPr>
          <a:xfrm>
            <a:off x="6121908"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6990588" y="2443734"/>
            <a:ext cx="738378" cy="738378"/>
          </a:xfrm>
          <a:prstGeom prst="ellipse">
            <a:avLst/>
          </a:prstGeom>
          <a:solidFill>
            <a:srgbClr val="9FC41D"/>
          </a:solidFill>
          <a:ln/>
        </p:spPr>
        <p:txBody>
          <a:bodyPr/>
          <a:lstStyle/>
          <a:p>
            <a:endParaRPr/>
          </a:p>
        </p:txBody>
      </p:sp>
      <p:sp>
        <p:nvSpPr>
          <p:cNvPr id="16" name="Text 14"/>
          <p:cNvSpPr/>
          <p:nvPr/>
        </p:nvSpPr>
        <p:spPr>
          <a:xfrm>
            <a:off x="6990588" y="2443734"/>
            <a:ext cx="738378" cy="738378"/>
          </a:xfrm>
          <a:prstGeom prst="rect">
            <a:avLst/>
          </a:prstGeom>
          <a:noFill/>
          <a:ln/>
        </p:spPr>
        <p:txBody>
          <a:bodyPr wrap="square" lIns="0" tIns="0" rIns="0" bIns="0" rtlCol="0" anchor="ctr"/>
          <a:lstStyle/>
          <a:p>
            <a:pPr marL="0" indent="0" algn="ctr">
              <a:buNone/>
            </a:pPr>
            <a:r>
              <a:rPr lang="en-US" sz="2500" b="1" dirty="0">
                <a:solidFill>
                  <a:srgbClr val="FFFFFF"/>
                </a:solidFill>
                <a:latin typeface="Cambria" pitchFamily="34" charset="0"/>
                <a:ea typeface="Cambria" pitchFamily="34" charset="-122"/>
                <a:cs typeface="Cambria" pitchFamily="34" charset="-120"/>
              </a:rPr>
              <a:t>F</a:t>
            </a:r>
            <a:endParaRPr lang="en-US" sz="2500" dirty="0"/>
          </a:p>
        </p:txBody>
      </p:sp>
      <p:sp>
        <p:nvSpPr>
          <p:cNvPr id="17" name="Text 15"/>
          <p:cNvSpPr/>
          <p:nvPr/>
        </p:nvSpPr>
        <p:spPr>
          <a:xfrm>
            <a:off x="6252210" y="3355848"/>
            <a:ext cx="2215134" cy="434340"/>
          </a:xfrm>
          <a:prstGeom prst="rect">
            <a:avLst/>
          </a:prstGeom>
          <a:noFill/>
          <a:ln/>
        </p:spPr>
        <p:txBody>
          <a:bodyPr wrap="square" lIns="0" tIns="0" rIns="0" bIns="0" rtlCol="0" anchor="ctr"/>
          <a:lstStyle/>
          <a:p>
            <a:pPr marL="0" indent="0" algn="ctr">
              <a:buNone/>
            </a:pPr>
            <a:r>
              <a:rPr lang="en-US" sz="1400" b="1" dirty="0">
                <a:solidFill>
                  <a:srgbClr val="006633"/>
                </a:solidFill>
                <a:latin typeface="Cambria" pitchFamily="34" charset="0"/>
                <a:ea typeface="Cambria" pitchFamily="34" charset="-122"/>
                <a:cs typeface="Cambria" pitchFamily="34" charset="-120"/>
              </a:rPr>
              <a:t>Fairness</a:t>
            </a:r>
            <a:endParaRPr lang="en-US" sz="1400" dirty="0"/>
          </a:p>
        </p:txBody>
      </p:sp>
      <p:sp>
        <p:nvSpPr>
          <p:cNvPr id="18" name="Text 16"/>
          <p:cNvSpPr/>
          <p:nvPr/>
        </p:nvSpPr>
        <p:spPr>
          <a:xfrm>
            <a:off x="6339078"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Bersikap adil dan objektif dalam pengambilan keputusan.</a:t>
            </a:r>
            <a:endParaRPr lang="en-US" sz="1100" dirty="0"/>
          </a:p>
        </p:txBody>
      </p:sp>
      <p:sp>
        <p:nvSpPr>
          <p:cNvPr id="19" name="Shape 17"/>
          <p:cNvSpPr/>
          <p:nvPr/>
        </p:nvSpPr>
        <p:spPr>
          <a:xfrm>
            <a:off x="8771382" y="2139696"/>
            <a:ext cx="2475738" cy="3387852"/>
          </a:xfrm>
          <a:prstGeom prst="roundRect">
            <a:avLst>
              <a:gd name="adj" fmla="val 4211"/>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0" name="Shape 18"/>
          <p:cNvSpPr/>
          <p:nvPr/>
        </p:nvSpPr>
        <p:spPr>
          <a:xfrm>
            <a:off x="9640062" y="2443734"/>
            <a:ext cx="738378" cy="738378"/>
          </a:xfrm>
          <a:prstGeom prst="ellipse">
            <a:avLst/>
          </a:prstGeom>
          <a:solidFill>
            <a:srgbClr val="9FC41D"/>
          </a:solidFill>
          <a:ln/>
        </p:spPr>
        <p:txBody>
          <a:bodyPr/>
          <a:lstStyle/>
          <a:p>
            <a:endParaRPr/>
          </a:p>
        </p:txBody>
      </p:sp>
      <p:sp>
        <p:nvSpPr>
          <p:cNvPr id="21" name="Text 19"/>
          <p:cNvSpPr/>
          <p:nvPr/>
        </p:nvSpPr>
        <p:spPr>
          <a:xfrm>
            <a:off x="9640062" y="2443734"/>
            <a:ext cx="738378" cy="738378"/>
          </a:xfrm>
          <a:prstGeom prst="rect">
            <a:avLst/>
          </a:prstGeom>
          <a:noFill/>
          <a:ln/>
        </p:spPr>
        <p:txBody>
          <a:bodyPr wrap="square" lIns="0" tIns="0" rIns="0" bIns="0" rtlCol="0" anchor="ctr"/>
          <a:lstStyle/>
          <a:p>
            <a:pPr marL="0" indent="0" algn="ctr">
              <a:buNone/>
            </a:pPr>
            <a:r>
              <a:rPr lang="en-US" sz="2500" b="1" dirty="0">
                <a:solidFill>
                  <a:srgbClr val="FFFFFF"/>
                </a:solidFill>
                <a:latin typeface="Cambria" pitchFamily="34" charset="0"/>
                <a:ea typeface="Cambria" pitchFamily="34" charset="-122"/>
                <a:cs typeface="Cambria" pitchFamily="34" charset="-120"/>
              </a:rPr>
              <a:t>H</a:t>
            </a:r>
            <a:endParaRPr lang="en-US" sz="2500" dirty="0"/>
          </a:p>
        </p:txBody>
      </p:sp>
      <p:sp>
        <p:nvSpPr>
          <p:cNvPr id="22" name="Text 20"/>
          <p:cNvSpPr/>
          <p:nvPr/>
        </p:nvSpPr>
        <p:spPr>
          <a:xfrm>
            <a:off x="8901684" y="3355848"/>
            <a:ext cx="2215134" cy="434340"/>
          </a:xfrm>
          <a:prstGeom prst="rect">
            <a:avLst/>
          </a:prstGeom>
          <a:noFill/>
          <a:ln/>
        </p:spPr>
        <p:txBody>
          <a:bodyPr wrap="square" lIns="0" tIns="0" rIns="0" bIns="0" rtlCol="0" anchor="ctr"/>
          <a:lstStyle/>
          <a:p>
            <a:pPr marL="0" indent="0" algn="ctr">
              <a:buNone/>
            </a:pPr>
            <a:r>
              <a:rPr lang="en-US" sz="1400" b="1" dirty="0">
                <a:solidFill>
                  <a:srgbClr val="006633"/>
                </a:solidFill>
                <a:latin typeface="Cambria" pitchFamily="34" charset="0"/>
                <a:ea typeface="Cambria" pitchFamily="34" charset="-122"/>
                <a:cs typeface="Cambria" pitchFamily="34" charset="-120"/>
              </a:rPr>
              <a:t>Honesty</a:t>
            </a:r>
            <a:endParaRPr lang="en-US" sz="1400" dirty="0"/>
          </a:p>
        </p:txBody>
      </p:sp>
      <p:sp>
        <p:nvSpPr>
          <p:cNvPr id="23" name="Text 21"/>
          <p:cNvSpPr/>
          <p:nvPr/>
        </p:nvSpPr>
        <p:spPr>
          <a:xfrm>
            <a:off x="8988552" y="3877056"/>
            <a:ext cx="2041398" cy="1563624"/>
          </a:xfrm>
          <a:prstGeom prst="rect">
            <a:avLst/>
          </a:prstGeom>
          <a:noFill/>
          <a:ln/>
        </p:spPr>
        <p:txBody>
          <a:bodyPr wrap="square" lIns="0" tIns="0" rIns="0" bIns="0" rtlCol="0" anchor="ctr"/>
          <a:lstStyle/>
          <a:p>
            <a:pPr marL="0" indent="0" algn="ctr">
              <a:lnSpc>
                <a:spcPct val="125000"/>
              </a:lnSpc>
              <a:buNone/>
            </a:pPr>
            <a:r>
              <a:rPr lang="en-US" sz="1100" dirty="0">
                <a:solidFill>
                  <a:srgbClr val="1F7A34"/>
                </a:solidFill>
                <a:latin typeface="Calibri" pitchFamily="34" charset="0"/>
                <a:ea typeface="Calibri" pitchFamily="34" charset="-122"/>
                <a:cs typeface="Calibri" pitchFamily="34" charset="-120"/>
              </a:rPr>
              <a:t>Berkomunikasi secara jujur dan transparan dalam segala hal.</a:t>
            </a:r>
            <a:endParaRPr lang="en-US" sz="1100" dirty="0"/>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21/26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STUDI KASUS</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Konflik dalam Tim Proyek</a:t>
            </a:r>
            <a:endParaRPr lang="en-US" sz="3200" dirty="0"/>
          </a:p>
        </p:txBody>
      </p:sp>
      <p:sp>
        <p:nvSpPr>
          <p:cNvPr id="4" name="Shape 2"/>
          <p:cNvSpPr/>
          <p:nvPr/>
        </p:nvSpPr>
        <p:spPr>
          <a:xfrm>
            <a:off x="822960" y="2139696"/>
            <a:ext cx="10424160" cy="2584502"/>
          </a:xfrm>
          <a:prstGeom prst="roundRect">
            <a:avLst>
              <a:gd name="adj" fmla="val 4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55071"/>
            <a:ext cx="3446003" cy="258450"/>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STUDI KASUS</a:t>
            </a:r>
            <a:endParaRPr lang="en-US" sz="1000" dirty="0"/>
          </a:p>
        </p:txBody>
      </p:sp>
      <p:sp>
        <p:nvSpPr>
          <p:cNvPr id="6" name="Text 4"/>
          <p:cNvSpPr/>
          <p:nvPr/>
        </p:nvSpPr>
        <p:spPr>
          <a:xfrm>
            <a:off x="1167560" y="2699671"/>
            <a:ext cx="9734959" cy="1895301"/>
          </a:xfrm>
          <a:prstGeom prst="rect">
            <a:avLst/>
          </a:prstGeom>
          <a:noFill/>
          <a:ln/>
        </p:spPr>
        <p:txBody>
          <a:bodyPr wrap="square" lIns="0" tIns="0" rIns="0" bIns="0" rtlCol="0" anchor="ctr"/>
          <a:lstStyle/>
          <a:p>
            <a:pPr marL="0" indent="0">
              <a:lnSpc>
                <a:spcPct val="135000"/>
              </a:lnSpc>
              <a:buNone/>
            </a:pPr>
            <a:r>
              <a:rPr lang="en-US" sz="1500" dirty="0">
                <a:solidFill>
                  <a:srgbClr val="FFFFFF"/>
                </a:solidFill>
                <a:latin typeface="Calibri" pitchFamily="34" charset="0"/>
                <a:ea typeface="Calibri" pitchFamily="34" charset="-122"/>
                <a:cs typeface="Calibri" pitchFamily="34" charset="-120"/>
              </a:rPr>
              <a:t>Dalam sebuah proyek pengembangan aplikasi kampus, seorang developer senior sering mengabaikan estimasi waktu yang disepakati dan bekerja dengan caranya sendiri tanpa berkoordinasi dengan anggota tim lain. Hal ini menimbulkan ketegangan dengan anggota tim lain yang merasa pekerjaannya terhambat, dan tenggat waktu proyek mulai terancam.</a:t>
            </a:r>
            <a:endParaRPr lang="en-US" sz="1500" dirty="0"/>
          </a:p>
          <a:p>
            <a:pPr marL="0" indent="0">
              <a:lnSpc>
                <a:spcPct val="135000"/>
              </a:lnSpc>
              <a:buNone/>
            </a:pPr>
            <a:endParaRPr lang="en-US" sz="1500" dirty="0"/>
          </a:p>
          <a:p>
            <a:pPr marL="0" indent="0">
              <a:lnSpc>
                <a:spcPct val="135000"/>
              </a:lnSpc>
              <a:buNone/>
            </a:pPr>
            <a:r>
              <a:rPr lang="en-US" sz="1500" dirty="0">
                <a:solidFill>
                  <a:srgbClr val="FFFFFF"/>
                </a:solidFill>
                <a:latin typeface="Calibri" pitchFamily="34" charset="0"/>
                <a:ea typeface="Calibri" pitchFamily="34" charset="-122"/>
                <a:cs typeface="Calibri" pitchFamily="34" charset="-120"/>
              </a:rPr>
              <a:t>Sebagai project manager, bagaimana Anda akan menangani situasi ini?</a:t>
            </a:r>
            <a:endParaRPr lang="en-US" sz="15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22/26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STUDI KASUS</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Diskusi: Respons Kepemimpinan yang Tepat</a:t>
            </a:r>
            <a:endParaRPr lang="en-US" sz="3200" dirty="0"/>
          </a:p>
        </p:txBody>
      </p:sp>
      <p:sp>
        <p:nvSpPr>
          <p:cNvPr id="4" name="Shape 2"/>
          <p:cNvSpPr/>
          <p:nvPr/>
        </p:nvSpPr>
        <p:spPr>
          <a:xfrm>
            <a:off x="822960" y="2139696"/>
            <a:ext cx="10424160" cy="2326052"/>
          </a:xfrm>
          <a:prstGeom prst="roundRect">
            <a:avLst>
              <a:gd name="adj" fmla="val 444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55071"/>
            <a:ext cx="9734959" cy="775350"/>
          </a:xfrm>
          <a:prstGeom prst="rect">
            <a:avLst/>
          </a:prstGeom>
          <a:noFill/>
          <a:ln/>
        </p:spPr>
        <p:txBody>
          <a:bodyPr wrap="square" lIns="0" tIns="0" rIns="0" bIns="0" rtlCol="0" anchor="ctr"/>
          <a:lstStyle/>
          <a:p>
            <a:pPr marL="0" indent="0">
              <a:lnSpc>
                <a:spcPct val="130000"/>
              </a:lnSpc>
              <a:buNone/>
            </a:pPr>
            <a:r>
              <a:rPr lang="en-US" sz="1500" i="1" dirty="0">
                <a:solidFill>
                  <a:srgbClr val="006633"/>
                </a:solidFill>
                <a:latin typeface="Cambria" pitchFamily="34" charset="0"/>
                <a:ea typeface="Cambria" pitchFamily="34" charset="-122"/>
                <a:cs typeface="Cambria" pitchFamily="34" charset="-120"/>
              </a:rPr>
              <a:t>Diskusikan dalam kelompok kecil, kaitkan jawaban Anda dengan konsep gaya kepemimpinan, komunikasi, dan etika profesional yang telah dipelajari.</a:t>
            </a:r>
            <a:endParaRPr lang="en-US" sz="1500" dirty="0"/>
          </a:p>
        </p:txBody>
      </p:sp>
      <p:sp>
        <p:nvSpPr>
          <p:cNvPr id="6" name="Text 4"/>
          <p:cNvSpPr/>
          <p:nvPr/>
        </p:nvSpPr>
        <p:spPr>
          <a:xfrm>
            <a:off x="1167560" y="3130421"/>
            <a:ext cx="9734959" cy="1206101"/>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00" dirty="0">
                <a:solidFill>
                  <a:srgbClr val="1F7A34"/>
                </a:solidFill>
                <a:latin typeface="Calibri" pitchFamily="34" charset="0"/>
                <a:ea typeface="Calibri" pitchFamily="34" charset="-122"/>
                <a:cs typeface="Calibri" pitchFamily="34" charset="-120"/>
              </a:rPr>
              <a:t>Gaya kepemimpinan apa yang paling sesuai untuk situasi ini?</a:t>
            </a:r>
            <a:endParaRPr lang="en-US" sz="1300" dirty="0"/>
          </a:p>
          <a:p>
            <a:pPr marL="228600" indent="-228600">
              <a:lnSpc>
                <a:spcPct val="115000"/>
              </a:lnSpc>
              <a:spcAft>
                <a:spcPts val="1000"/>
              </a:spcAft>
              <a:buSzPct val="100000"/>
              <a:buChar char="▪"/>
            </a:pPr>
            <a:r>
              <a:rPr lang="en-US" sz="1300" dirty="0">
                <a:solidFill>
                  <a:srgbClr val="1F7A34"/>
                </a:solidFill>
                <a:latin typeface="Calibri" pitchFamily="34" charset="0"/>
                <a:ea typeface="Calibri" pitchFamily="34" charset="-122"/>
                <a:cs typeface="Calibri" pitchFamily="34" charset="-120"/>
              </a:rPr>
              <a:t>Bagaimana pendekatan komunikasi yang tepat untuk menyelesaikan konflik ini?</a:t>
            </a:r>
            <a:endParaRPr lang="en-US" sz="1300" dirty="0"/>
          </a:p>
          <a:p>
            <a:pPr marL="228600" indent="-228600">
              <a:lnSpc>
                <a:spcPct val="115000"/>
              </a:lnSpc>
              <a:spcAft>
                <a:spcPts val="1000"/>
              </a:spcAft>
              <a:buSzPct val="100000"/>
              <a:buChar char="▪"/>
            </a:pPr>
            <a:r>
              <a:rPr lang="en-US" sz="1300" dirty="0">
                <a:solidFill>
                  <a:srgbClr val="1F7A34"/>
                </a:solidFill>
                <a:latin typeface="Calibri" pitchFamily="34" charset="0"/>
                <a:ea typeface="Calibri" pitchFamily="34" charset="-122"/>
                <a:cs typeface="Calibri" pitchFamily="34" charset="-120"/>
              </a:rPr>
              <a:t>Prinsip etika profesional mana yang relevan diterapkan di sini?</a:t>
            </a:r>
            <a:endParaRPr lang="en-US" sz="13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23/26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RANGKUMAN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Poin-Poin Penting</a:t>
            </a:r>
            <a:endParaRPr lang="en-US" sz="3200" dirty="0"/>
          </a:p>
        </p:txBody>
      </p:sp>
      <p:sp>
        <p:nvSpPr>
          <p:cNvPr id="4" name="Shape 2"/>
          <p:cNvSpPr/>
          <p:nvPr/>
        </p:nvSpPr>
        <p:spPr>
          <a:xfrm>
            <a:off x="822960" y="2182771"/>
            <a:ext cx="516900" cy="516900"/>
          </a:xfrm>
          <a:prstGeom prst="ellipse">
            <a:avLst/>
          </a:prstGeom>
          <a:solidFill>
            <a:srgbClr val="9FC41D"/>
          </a:solidFill>
          <a:ln/>
        </p:spPr>
        <p:txBody>
          <a:bodyPr/>
          <a:lstStyle/>
          <a:p>
            <a:endParaRPr/>
          </a:p>
        </p:txBody>
      </p:sp>
      <p:sp>
        <p:nvSpPr>
          <p:cNvPr id="5" name="Text 3"/>
          <p:cNvSpPr/>
          <p:nvPr/>
        </p:nvSpPr>
        <p:spPr>
          <a:xfrm>
            <a:off x="822960" y="2182771"/>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6" name="Shape 4"/>
          <p:cNvSpPr/>
          <p:nvPr/>
        </p:nvSpPr>
        <p:spPr>
          <a:xfrm>
            <a:off x="1512160" y="2139696"/>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770610" y="2139696"/>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Struktur organisasi (Fungsional, Matriks, Projectized) menentukan seberapa besar otoritas project manager</a:t>
            </a:r>
            <a:endParaRPr lang="en-US" sz="1300" dirty="0"/>
          </a:p>
        </p:txBody>
      </p:sp>
      <p:sp>
        <p:nvSpPr>
          <p:cNvPr id="8" name="Shape 6"/>
          <p:cNvSpPr/>
          <p:nvPr/>
        </p:nvSpPr>
        <p:spPr>
          <a:xfrm>
            <a:off x="822960" y="3061501"/>
            <a:ext cx="516900" cy="516900"/>
          </a:xfrm>
          <a:prstGeom prst="ellipse">
            <a:avLst/>
          </a:prstGeom>
          <a:solidFill>
            <a:srgbClr val="9FC41D"/>
          </a:solidFill>
          <a:ln/>
        </p:spPr>
        <p:txBody>
          <a:bodyPr/>
          <a:lstStyle/>
          <a:p>
            <a:endParaRPr/>
          </a:p>
        </p:txBody>
      </p:sp>
      <p:sp>
        <p:nvSpPr>
          <p:cNvPr id="9" name="Text 7"/>
          <p:cNvSpPr/>
          <p:nvPr/>
        </p:nvSpPr>
        <p:spPr>
          <a:xfrm>
            <a:off x="822960" y="3061501"/>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0" name="Shape 8"/>
          <p:cNvSpPr/>
          <p:nvPr/>
        </p:nvSpPr>
        <p:spPr>
          <a:xfrm>
            <a:off x="1512160" y="3018426"/>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1" name="Text 9"/>
          <p:cNvSpPr/>
          <p:nvPr/>
        </p:nvSpPr>
        <p:spPr>
          <a:xfrm>
            <a:off x="1770610" y="3018426"/>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Tim proyek TI terdiri dari berbagai peran yang saling melengkapi, dari sponsor hingga developer</a:t>
            </a:r>
            <a:endParaRPr lang="en-US" sz="1300" dirty="0"/>
          </a:p>
        </p:txBody>
      </p:sp>
      <p:sp>
        <p:nvSpPr>
          <p:cNvPr id="12" name="Shape 10"/>
          <p:cNvSpPr/>
          <p:nvPr/>
        </p:nvSpPr>
        <p:spPr>
          <a:xfrm>
            <a:off x="822960" y="3940232"/>
            <a:ext cx="516900" cy="516900"/>
          </a:xfrm>
          <a:prstGeom prst="ellipse">
            <a:avLst/>
          </a:prstGeom>
          <a:solidFill>
            <a:srgbClr val="9FC41D"/>
          </a:solidFill>
          <a:ln/>
        </p:spPr>
        <p:txBody>
          <a:bodyPr/>
          <a:lstStyle/>
          <a:p>
            <a:endParaRPr/>
          </a:p>
        </p:txBody>
      </p:sp>
      <p:sp>
        <p:nvSpPr>
          <p:cNvPr id="13" name="Text 11"/>
          <p:cNvSpPr/>
          <p:nvPr/>
        </p:nvSpPr>
        <p:spPr>
          <a:xfrm>
            <a:off x="822960" y="3940232"/>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4" name="Shape 12"/>
          <p:cNvSpPr/>
          <p:nvPr/>
        </p:nvSpPr>
        <p:spPr>
          <a:xfrm>
            <a:off x="1512160" y="3897157"/>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Text 13"/>
          <p:cNvSpPr/>
          <p:nvPr/>
        </p:nvSpPr>
        <p:spPr>
          <a:xfrm>
            <a:off x="1770610" y="3897157"/>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Kepemimpinan efektif menggabungkan Ways of Working, Power Skills, dan Business Acumen</a:t>
            </a:r>
            <a:endParaRPr lang="en-US" sz="1300" dirty="0"/>
          </a:p>
        </p:txBody>
      </p:sp>
      <p:sp>
        <p:nvSpPr>
          <p:cNvPr id="16" name="Shape 14"/>
          <p:cNvSpPr/>
          <p:nvPr/>
        </p:nvSpPr>
        <p:spPr>
          <a:xfrm>
            <a:off x="822960" y="4818963"/>
            <a:ext cx="516900" cy="516900"/>
          </a:xfrm>
          <a:prstGeom prst="ellipse">
            <a:avLst/>
          </a:prstGeom>
          <a:solidFill>
            <a:srgbClr val="9FC41D"/>
          </a:solidFill>
          <a:ln/>
        </p:spPr>
        <p:txBody>
          <a:bodyPr/>
          <a:lstStyle/>
          <a:p>
            <a:endParaRPr/>
          </a:p>
        </p:txBody>
      </p:sp>
      <p:sp>
        <p:nvSpPr>
          <p:cNvPr id="17" name="Text 15"/>
          <p:cNvSpPr/>
          <p:nvPr/>
        </p:nvSpPr>
        <p:spPr>
          <a:xfrm>
            <a:off x="822960" y="4818963"/>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8" name="Shape 16"/>
          <p:cNvSpPr/>
          <p:nvPr/>
        </p:nvSpPr>
        <p:spPr>
          <a:xfrm>
            <a:off x="1512160" y="4775888"/>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9" name="Text 17"/>
          <p:cNvSpPr/>
          <p:nvPr/>
        </p:nvSpPr>
        <p:spPr>
          <a:xfrm>
            <a:off x="1770610" y="4775888"/>
            <a:ext cx="9304208" cy="732275"/>
          </a:xfrm>
          <a:prstGeom prst="rect">
            <a:avLst/>
          </a:prstGeom>
          <a:noFill/>
          <a:ln/>
        </p:spPr>
        <p:txBody>
          <a:bodyPr wrap="square" lIns="0" tIns="0" rIns="0" bIns="0" rtlCol="0" anchor="ctr"/>
          <a:lstStyle/>
          <a:p>
            <a:pPr marL="0" indent="0">
              <a:lnSpc>
                <a:spcPct val="115000"/>
              </a:lnSpc>
              <a:buNone/>
            </a:pPr>
            <a:r>
              <a:rPr lang="en-US" sz="1300" dirty="0">
                <a:solidFill>
                  <a:srgbClr val="1F7A34"/>
                </a:solidFill>
                <a:latin typeface="Calibri" pitchFamily="34" charset="0"/>
                <a:ea typeface="Calibri" pitchFamily="34" charset="-122"/>
                <a:cs typeface="Calibri" pitchFamily="34" charset="-120"/>
              </a:rPr>
              <a:t>Komunikasi yang terencana dan etika profesional (Responsibility, Respect, Fairness, Honesty) adalah kunci keberhasilan tim proyek</a:t>
            </a:r>
            <a:endParaRPr lang="en-US" sz="13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24/26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PENUTUP</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Referensi</a:t>
            </a:r>
            <a:endParaRPr lang="en-US" sz="3200" dirty="0"/>
          </a:p>
        </p:txBody>
      </p:sp>
      <p:sp>
        <p:nvSpPr>
          <p:cNvPr id="4" name="Shape 2"/>
          <p:cNvSpPr/>
          <p:nvPr/>
        </p:nvSpPr>
        <p:spPr>
          <a:xfrm>
            <a:off x="822960" y="2208902"/>
            <a:ext cx="432537" cy="432537"/>
          </a:xfrm>
          <a:prstGeom prst="ellipse">
            <a:avLst/>
          </a:prstGeom>
          <a:solidFill>
            <a:srgbClr val="006633"/>
          </a:solidFill>
          <a:ln/>
        </p:spPr>
        <p:txBody>
          <a:bodyPr/>
          <a:lstStyle/>
          <a:p>
            <a:endParaRPr/>
          </a:p>
        </p:txBody>
      </p:sp>
      <p:sp>
        <p:nvSpPr>
          <p:cNvPr id="5" name="Text 3"/>
          <p:cNvSpPr/>
          <p:nvPr/>
        </p:nvSpPr>
        <p:spPr>
          <a:xfrm>
            <a:off x="822960" y="2208902"/>
            <a:ext cx="432537" cy="432537"/>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471766" y="2139696"/>
            <a:ext cx="9775353" cy="778567"/>
          </a:xfrm>
          <a:prstGeom prst="rect">
            <a:avLst/>
          </a:prstGeom>
          <a:noFill/>
          <a:ln/>
        </p:spPr>
        <p:txBody>
          <a:bodyPr wrap="square" lIns="0" tIns="0" rIns="0" bIns="0" rtlCol="0" anchor="ctr"/>
          <a:lstStyle/>
          <a:p>
            <a:pPr marL="0" indent="0">
              <a:lnSpc>
                <a:spcPct val="120000"/>
              </a:lnSpc>
              <a:buNone/>
            </a:pPr>
            <a:r>
              <a:rPr lang="en-US" sz="1300" dirty="0">
                <a:solidFill>
                  <a:srgbClr val="1F7A34"/>
                </a:solidFill>
                <a:latin typeface="Calibri" pitchFamily="34" charset="0"/>
                <a:ea typeface="Calibri" pitchFamily="34" charset="-122"/>
                <a:cs typeface="Calibri" pitchFamily="34" charset="-120"/>
              </a:rPr>
              <a:t>Project Management Institute. A Guide to the Project Management Body of Knowledge (PMBOK® Guide), 7th Edition. PMI, 2021.</a:t>
            </a:r>
            <a:endParaRPr lang="en-US" sz="1300" dirty="0"/>
          </a:p>
        </p:txBody>
      </p:sp>
      <p:sp>
        <p:nvSpPr>
          <p:cNvPr id="7" name="Shape 5"/>
          <p:cNvSpPr/>
          <p:nvPr/>
        </p:nvSpPr>
        <p:spPr>
          <a:xfrm>
            <a:off x="822960" y="3117231"/>
            <a:ext cx="432537" cy="432537"/>
          </a:xfrm>
          <a:prstGeom prst="ellipse">
            <a:avLst/>
          </a:prstGeom>
          <a:solidFill>
            <a:srgbClr val="006633"/>
          </a:solidFill>
          <a:ln/>
        </p:spPr>
        <p:txBody>
          <a:bodyPr/>
          <a:lstStyle/>
          <a:p>
            <a:endParaRPr/>
          </a:p>
        </p:txBody>
      </p:sp>
      <p:sp>
        <p:nvSpPr>
          <p:cNvPr id="8" name="Text 6"/>
          <p:cNvSpPr/>
          <p:nvPr/>
        </p:nvSpPr>
        <p:spPr>
          <a:xfrm>
            <a:off x="822960" y="3117231"/>
            <a:ext cx="432537" cy="432537"/>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1471766" y="3048025"/>
            <a:ext cx="9775353" cy="778567"/>
          </a:xfrm>
          <a:prstGeom prst="rect">
            <a:avLst/>
          </a:prstGeom>
          <a:noFill/>
          <a:ln/>
        </p:spPr>
        <p:txBody>
          <a:bodyPr wrap="square" lIns="0" tIns="0" rIns="0" bIns="0" rtlCol="0" anchor="ctr"/>
          <a:lstStyle/>
          <a:p>
            <a:pPr marL="0" indent="0">
              <a:lnSpc>
                <a:spcPct val="120000"/>
              </a:lnSpc>
              <a:buNone/>
            </a:pPr>
            <a:r>
              <a:rPr lang="en-US" sz="1300" dirty="0">
                <a:solidFill>
                  <a:srgbClr val="1F7A34"/>
                </a:solidFill>
                <a:latin typeface="Calibri" pitchFamily="34" charset="0"/>
                <a:ea typeface="Calibri" pitchFamily="34" charset="-122"/>
                <a:cs typeface="Calibri" pitchFamily="34" charset="-120"/>
              </a:rPr>
              <a:t>Project Management Institute. PMI Code of Ethics and Professional Conduct. PMI.</a:t>
            </a:r>
            <a:endParaRPr lang="en-US" sz="1300" dirty="0"/>
          </a:p>
        </p:txBody>
      </p:sp>
      <p:sp>
        <p:nvSpPr>
          <p:cNvPr id="10" name="Shape 8"/>
          <p:cNvSpPr/>
          <p:nvPr/>
        </p:nvSpPr>
        <p:spPr>
          <a:xfrm>
            <a:off x="822960" y="4025560"/>
            <a:ext cx="432537" cy="432537"/>
          </a:xfrm>
          <a:prstGeom prst="ellipse">
            <a:avLst/>
          </a:prstGeom>
          <a:solidFill>
            <a:srgbClr val="006633"/>
          </a:solidFill>
          <a:ln/>
        </p:spPr>
        <p:txBody>
          <a:bodyPr/>
          <a:lstStyle/>
          <a:p>
            <a:endParaRPr/>
          </a:p>
        </p:txBody>
      </p:sp>
      <p:sp>
        <p:nvSpPr>
          <p:cNvPr id="11" name="Text 9"/>
          <p:cNvSpPr/>
          <p:nvPr/>
        </p:nvSpPr>
        <p:spPr>
          <a:xfrm>
            <a:off x="822960" y="4025560"/>
            <a:ext cx="432537" cy="432537"/>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1471766" y="3956354"/>
            <a:ext cx="9775353" cy="778567"/>
          </a:xfrm>
          <a:prstGeom prst="rect">
            <a:avLst/>
          </a:prstGeom>
          <a:noFill/>
          <a:ln/>
        </p:spPr>
        <p:txBody>
          <a:bodyPr wrap="square" lIns="0" tIns="0" rIns="0" bIns="0" rtlCol="0" anchor="ctr"/>
          <a:lstStyle/>
          <a:p>
            <a:pPr marL="0" indent="0">
              <a:lnSpc>
                <a:spcPct val="120000"/>
              </a:lnSpc>
              <a:buNone/>
            </a:pPr>
            <a:r>
              <a:rPr lang="en-US" sz="1300" dirty="0">
                <a:solidFill>
                  <a:srgbClr val="1F7A34"/>
                </a:solidFill>
                <a:latin typeface="Calibri" pitchFamily="34" charset="0"/>
                <a:ea typeface="Calibri" pitchFamily="34" charset="-122"/>
                <a:cs typeface="Calibri" pitchFamily="34" charset="-120"/>
              </a:rPr>
              <a:t>Schwalbe, K. Information Technology Project Management. Cengage Learning.</a:t>
            </a:r>
            <a:endParaRPr lang="en-US" sz="1300" dirty="0"/>
          </a:p>
        </p:txBody>
      </p:sp>
      <p:sp>
        <p:nvSpPr>
          <p:cNvPr id="13" name="TextBox 12"/>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3  •  25/26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874519" y="1691640"/>
            <a:ext cx="6446520" cy="822960"/>
          </a:xfrm>
          <a:prstGeom prst="rect">
            <a:avLst/>
          </a:prstGeom>
          <a:noFill/>
          <a:ln/>
        </p:spPr>
        <p:txBody>
          <a:bodyPr wrap="square" lIns="0" tIns="0" rIns="0" bIns="0" rtlCol="0" anchor="t"/>
          <a:lstStyle/>
          <a:p>
            <a:pPr marL="0" indent="0">
              <a:buNone/>
            </a:pPr>
            <a:r>
              <a:rPr lang="en-US" sz="2700" b="1" dirty="0">
                <a:latin typeface="Cambria" pitchFamily="34" charset="0"/>
                <a:ea typeface="Cambria" pitchFamily="34" charset="-122"/>
                <a:cs typeface="Cambria" pitchFamily="34" charset="-120"/>
              </a:rPr>
              <a:t>Terima Kasih</a:t>
            </a:r>
            <a:endParaRPr lang="en-US" sz="4800" dirty="0"/>
          </a:p>
        </p:txBody>
      </p:sp>
      <p:sp>
        <p:nvSpPr>
          <p:cNvPr id="5" name="Text 2"/>
          <p:cNvSpPr/>
          <p:nvPr/>
        </p:nvSpPr>
        <p:spPr>
          <a:xfrm>
            <a:off x="1874519" y="2560320"/>
            <a:ext cx="6446520" cy="386791"/>
          </a:xfrm>
          <a:prstGeom prst="rect">
            <a:avLst/>
          </a:prstGeom>
          <a:noFill/>
          <a:ln/>
        </p:spPr>
        <p:txBody>
          <a:bodyPr wrap="square" lIns="0" tIns="0" rIns="0" bIns="0" rtlCol="0" anchor="ctr"/>
          <a:lstStyle/>
          <a:p>
            <a:pPr marL="0" indent="0">
              <a:buNone/>
            </a:pPr>
            <a:r>
              <a:rPr lang="en-US" sz="1200" dirty="0">
                <a:solidFill>
                  <a:srgbClr val="9FC41D"/>
                </a:solidFill>
                <a:latin typeface="Calibri" pitchFamily="34" charset="0"/>
                <a:ea typeface="Calibri" pitchFamily="34" charset="-122"/>
                <a:cs typeface="Calibri" pitchFamily="34" charset="-120"/>
              </a:rPr>
              <a:t>Pertanyaan &amp; Diskusi</a:t>
            </a:r>
            <a:endParaRPr lang="en-US" sz="1200" dirty="0"/>
          </a:p>
        </p:txBody>
      </p:sp>
      <p:sp>
        <p:nvSpPr>
          <p:cNvPr id="6" name="Text 4"/>
          <p:cNvSpPr/>
          <p:nvPr/>
        </p:nvSpPr>
        <p:spPr>
          <a:xfrm>
            <a:off x="1874519" y="3301669"/>
            <a:ext cx="6253124" cy="322326"/>
          </a:xfrm>
          <a:prstGeom prst="rect">
            <a:avLst/>
          </a:prstGeom>
          <a:noFill/>
          <a:ln/>
        </p:spPr>
        <p:txBody>
          <a:bodyPr wrap="square" lIns="0" tIns="0" rIns="0" bIns="0" rtlCol="0" anchor="ctr"/>
          <a:lstStyle/>
          <a:p>
            <a:pPr marL="0" indent="0">
              <a:buNone/>
            </a:pPr>
            <a:r>
              <a:rPr lang="en-US" sz="1200" i="1" dirty="0">
                <a:solidFill>
                  <a:srgbClr val="DCE8D0"/>
                </a:solidFill>
                <a:latin typeface="Calibri" pitchFamily="34" charset="0"/>
                <a:ea typeface="Calibri" pitchFamily="34" charset="-122"/>
                <a:cs typeface="Calibri" pitchFamily="34" charset="-120"/>
              </a:rPr>
              <a:t>Pertemuan berikutnya: Ruang Lingkup Proyek dan Work Breakdown Structure (WBS)</a:t>
            </a:r>
            <a:endParaRPr lang="en-US" sz="12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FFFFFF"/>
                </a:solidFill>
              </a:rPr>
              <a:t>TIK2111 • Manajemen Proyek TI • Pertemuan 3  •  26/26</a:t>
            </a:r>
          </a:p>
        </p:txBody>
      </p:sp>
    </p:spTree>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TotalTime>
  <Words>1636</Words>
  <Application>Microsoft Macintosh PowerPoint</Application>
  <PresentationFormat>Widescreen</PresentationFormat>
  <Paragraphs>309</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6</cp:revision>
  <dcterms:created xsi:type="dcterms:W3CDTF">2021-10-17T13:14:05Z</dcterms:created>
  <dcterms:modified xsi:type="dcterms:W3CDTF">2026-09-08T06:49:33Z</dcterms:modified>
</cp:coreProperties>
</file>